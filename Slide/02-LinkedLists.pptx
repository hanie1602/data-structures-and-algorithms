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modernComment_135_0.xml" ContentType="application/vnd.ms-powerpoint.comments+xml"/>
  <Override PartName="/ppt/comments/modernComment_137_0.xml" ContentType="application/vnd.ms-powerpoint.comments+xml"/>
  <Override PartName="/ppt/comments/modernComment_13C_0.xml" ContentType="application/vnd.ms-powerpoint.comments+xml"/>
  <Override PartName="/ppt/comments/modernComment_157_0.xml" ContentType="application/vnd.ms-powerpoint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comments/modernComment_123_0.xml" ContentType="application/vnd.ms-powerpoint.comments+xml"/>
  <Override PartName="/ppt/comments/modernComment_129_0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8" r:id="rId10"/>
    <p:sldId id="265" r:id="rId11"/>
    <p:sldId id="299" r:id="rId12"/>
    <p:sldId id="266" r:id="rId13"/>
    <p:sldId id="300" r:id="rId14"/>
    <p:sldId id="301" r:id="rId15"/>
    <p:sldId id="302" r:id="rId16"/>
    <p:sldId id="267" r:id="rId17"/>
    <p:sldId id="268" r:id="rId18"/>
    <p:sldId id="269" r:id="rId19"/>
    <p:sldId id="270" r:id="rId20"/>
    <p:sldId id="271" r:id="rId21"/>
    <p:sldId id="272" r:id="rId22"/>
    <p:sldId id="303" r:id="rId23"/>
    <p:sldId id="307" r:id="rId24"/>
    <p:sldId id="304" r:id="rId25"/>
    <p:sldId id="308" r:id="rId26"/>
    <p:sldId id="345" r:id="rId27"/>
    <p:sldId id="309" r:id="rId28"/>
    <p:sldId id="341" r:id="rId29"/>
    <p:sldId id="310" r:id="rId30"/>
    <p:sldId id="311" r:id="rId31"/>
    <p:sldId id="312" r:id="rId32"/>
    <p:sldId id="316" r:id="rId33"/>
    <p:sldId id="317" r:id="rId34"/>
    <p:sldId id="318" r:id="rId35"/>
    <p:sldId id="342" r:id="rId36"/>
    <p:sldId id="313" r:id="rId37"/>
    <p:sldId id="343" r:id="rId38"/>
    <p:sldId id="346" r:id="rId39"/>
    <p:sldId id="347" r:id="rId40"/>
    <p:sldId id="348" r:id="rId41"/>
    <p:sldId id="349" r:id="rId42"/>
    <p:sldId id="350" r:id="rId43"/>
    <p:sldId id="314" r:id="rId44"/>
    <p:sldId id="320" r:id="rId45"/>
    <p:sldId id="339" r:id="rId46"/>
    <p:sldId id="321" r:id="rId47"/>
    <p:sldId id="322" r:id="rId48"/>
    <p:sldId id="330" r:id="rId49"/>
    <p:sldId id="331" r:id="rId50"/>
    <p:sldId id="332" r:id="rId51"/>
    <p:sldId id="323" r:id="rId52"/>
    <p:sldId id="333" r:id="rId53"/>
    <p:sldId id="334" r:id="rId54"/>
    <p:sldId id="335" r:id="rId55"/>
    <p:sldId id="336" r:id="rId56"/>
    <p:sldId id="324" r:id="rId57"/>
    <p:sldId id="337" r:id="rId58"/>
    <p:sldId id="338" r:id="rId59"/>
    <p:sldId id="290" r:id="rId60"/>
    <p:sldId id="291" r:id="rId61"/>
    <p:sldId id="305" r:id="rId62"/>
    <p:sldId id="293" r:id="rId63"/>
    <p:sldId id="294" r:id="rId64"/>
    <p:sldId id="295" r:id="rId65"/>
    <p:sldId id="296" r:id="rId66"/>
    <p:sldId id="297" r:id="rId6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82D3B21-E1C2-A1C1-E7C3-E83E69D8246C}" name="Thuy Duong Luong Ngoc" initials="TL" userId="7901c1c7ed4d1bc2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CC00"/>
    <a:srgbClr val="FF0066"/>
    <a:srgbClr val="FF9933"/>
    <a:srgbClr val="FFCC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427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theme" Target="theme/theme1.xml"/></Relationships>
</file>

<file path=ppt/comments/modernComment_13C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7EFD6FB-B788-4856-A133-0E2A8E55F1B0}" authorId="{382D3B21-E1C2-A1C1-E7C3-E83E69D8246C}" created="2023-09-14T06:31:16.121">
    <pc:sldMkLst xmlns:pc="http://schemas.microsoft.com/office/powerpoint/2013/main/command">
      <pc:docMk/>
      <pc:sldMk cId="0" sldId="316"/>
    </pc:sldMkLst>
    <p188:txBody>
      <a:bodyPr/>
      <a:lstStyle/>
      <a:p>
        <a:r>
          <a:rPr lang="en-US"/>
          <a:t>Exception chia ra thành 2 phần:
- Checked Exception: những câu lệnh có thể gây lỗi bắt buộc phải kiểm xoát (những câu lệnh truy xuất thiết bị ngoại vi: đĩa, card mạng,….)
- Runtime Exception</a:t>
        </a:r>
      </a:p>
    </p188:txBody>
  </p188:cm>
</p188:cmLst>
</file>

<file path=ppt/comments/modernComment_123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772B459-6860-468D-A3FC-3DCC5BCDAF35}" authorId="{382D3B21-E1C2-A1C1-E7C3-E83E69D8246C}" created="2023-09-14T07:15:23.732">
    <pc:sldMkLst xmlns:pc="http://schemas.microsoft.com/office/powerpoint/2013/main/command">
      <pc:docMk/>
      <pc:sldMk cId="0" sldId="291"/>
    </pc:sldMkLst>
    <p188:txBody>
      <a:bodyPr/>
      <a:lstStyle/>
      <a:p>
        <a:r>
          <a:rPr lang="en-US"/>
          <a:t>- 1 phần tử bao gồm cột số mấy, trị bao nhiêu (trị có ích).
</a:t>
        </a:r>
      </a:p>
    </p188:txBody>
  </p188:cm>
</p188:cmLst>
</file>

<file path=ppt/comments/modernComment_129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18AF98-E658-442B-AA80-2CFE3BD0F0F0}" authorId="{382D3B21-E1C2-A1C1-E7C3-E83E69D8246C}" created="2023-09-14T07:23:45.262">
    <pc:sldMkLst xmlns:pc="http://schemas.microsoft.com/office/powerpoint/2013/main/command">
      <pc:docMk/>
      <pc:sldMk cId="0" sldId="297"/>
    </pc:sldMkLst>
    <p188:txBody>
      <a:bodyPr/>
      <a:lstStyle/>
      <a:p>
        <a:r>
          <a:rPr lang="en-US"/>
          <a:t>12.  Bảng thưa thường là 1 ma trận có kích cỡ rất lớn, mà dữ liệu trên bảng này có ích rất ít.
- Với 1 bảng thưa 1 hàng được lưu trữ 1 danh sách liên kết</a:t>
        </a:r>
      </a:p>
    </p188:txBody>
  </p188:cm>
</p188:cmLst>
</file>

<file path=ppt/comments/modernComment_135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6ABCF7C-C7DE-41DB-AF7A-C1016DE4ECDC}" authorId="{382D3B21-E1C2-A1C1-E7C3-E83E69D8246C}" created="2023-09-14T06:13:12.656">
    <pc:sldMkLst xmlns:pc="http://schemas.microsoft.com/office/powerpoint/2013/main/command">
      <pc:docMk/>
      <pc:sldMk cId="0" sldId="309"/>
    </pc:sldMkLst>
    <p188:txBody>
      <a:bodyPr/>
      <a:lstStyle/>
      <a:p>
        <a:r>
          <a:rPr lang="en-US"/>
          <a:t>- Comparable: so sánh chuẩn (có sẵn)
</a:t>
        </a:r>
      </a:p>
    </p188:txBody>
  </p188:cm>
</p188:cmLst>
</file>

<file path=ppt/comments/modernComment_13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921184C-E16F-4D6F-9555-70CA4CDCA54A}" authorId="{382D3B21-E1C2-A1C1-E7C3-E83E69D8246C}" created="2023-09-14T06:32:29.558">
    <pc:sldMkLst xmlns:pc="http://schemas.microsoft.com/office/powerpoint/2013/main/command">
      <pc:docMk/>
      <pc:sldMk cId="0" sldId="311"/>
    </pc:sldMkLst>
    <p188:txBody>
      <a:bodyPr/>
      <a:lstStyle/>
      <a:p>
        <a:r>
          <a:rPr lang="en-US"/>
          <a:t>- FileReader: đọc 1 ký tự
- BufferedReader: đọc 1 dòng</a:t>
        </a:r>
      </a:p>
    </p188:txBody>
  </p188:cm>
</p188:cmLst>
</file>

<file path=ppt/comments/modernComment_157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55DA481-106B-417B-BAB8-EBC59906F26B}" authorId="{382D3B21-E1C2-A1C1-E7C3-E83E69D8246C}" created="2023-09-14T06:50:31.965">
    <pc:sldMkLst xmlns:pc="http://schemas.microsoft.com/office/powerpoint/2013/main/command">
      <pc:docMk/>
      <pc:sldMk cId="0" sldId="343"/>
    </pc:sldMkLst>
    <p188:txBody>
      <a:bodyPr/>
      <a:lstStyle/>
      <a:p>
        <a:r>
          <a:rPr lang="en-US"/>
          <a:t>\r:  0000 1101: mã hệ số 13
\n: 0000 1010: mã hệ số 10</a:t>
        </a:r>
      </a:p>
    </p188:txBody>
  </p188:cm>
</p188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16.494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0"/>
      <inkml:brushProperty name="anchorY" value="0"/>
      <inkml:brushProperty name="scaleFactor" value="0.5"/>
    </inkml:brush>
  </inkml:definitions>
  <inkml:trace contextRef="#ctx0" brushRef="#br0">1 0 24575,'0'0'0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19.240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-1016"/>
      <inkml:brushProperty name="anchorY" value="-1016"/>
      <inkml:brushProperty name="scaleFactor" value="0.5"/>
    </inkml:brush>
  </inkml:definitions>
  <inkml:trace contextRef="#ctx0" brushRef="#br0">1 0 24575,'0'0'0,"0"8"0,0 13 0,0 3 0,0 17 0,0 6 0,0 5 0,0 10 0,0 1 0,0-2 0,4-3 0,1 2 0,0-4 0,-1 3 0,-1 7 0,-2-1 0,0 6 0,0 6 0,-1 6 0,0 5 0,-1-1 0,1 1 0,0-2 0,0-9 0,0 5 0,0 3 0,0-2 0,0-7 0,0-7 0,0-8 0,0-11 0,0-9 0,0-7 0,0-11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22.050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-2055.33716"/>
      <inkml:brushProperty name="anchorY" value="-4035.75049"/>
      <inkml:brushProperty name="scaleFactor" value="0.5"/>
    </inkml:brush>
  </inkml:definitions>
  <inkml:trace contextRef="#ctx0" brushRef="#br0">92 1 24575,'0'0'0,"4"0"0,15 0 0,24 0 0,18 0 0,21 0 0,25 0 0,34 0 0,23 0 0,11 0 0,15 0 0,-5 0 0,-12 0 0,-25 0 0,-23 0 0,-27 0 0,-20 0 0,-21 0 0,-15 0 0,-11 0 0,-7 0 0,-3 0 0,-1 0 0,0 0 0,0 0 0,6 0 0,5 0 0,11 0 0,5 0 0,-3 0 0,-3 0 0,0 0 0,0 0 0,-3 0 0,-4 0 0,6 0 0,-3 0 0,-2 0 0,-3 0 0,-3 0 0,-2 0 0,-2 0 0,-1 0 0,-1 0 0,-1 0 0,1 4 0,-4 6 0,-1 9 0,-4 9 0,-4 3 0,-4 5 0,-2 9 0,-3 4 0,-1 1 0,0 6 0,-1 4 0,0-1 0,1-1 0,-1 1 0,1 3 0,0 7 0,0 3 0,0 6 0,4 10 0,1 0 0,5 3 0,-2-8 0,5-4 0,-3-9 0,-1-8 0,-3-10 0,3-6 0,-3-2 0,0-7 0,-2 1 0,-1 1 0,-2 2 0,-1 1 0,0-2 0,0 6 0,0 1 0,0-4 0,-1 1 0,1-1 0,0 1 0,-5-8 0,2-34 0,2 1 0,0-1 0,-1 0 0,1 0 0,-1 1 0,1-1 0,-1 0 0,0 0 0,0 0 0,-4 3 0,2-3 0,0 1 0,0-1 0,-1 1 0,1-1 0,-1-1 0,-7 3 0,-45 6 0,-33-5 0,-16-4 0,-36-2 0,-17 0-7914,-1-1 10175,4 0-3392,19 1 1131,24 0 0,27 1 0,23 0 0,19-1 0,13 1 0,7 1 7915,4-1-10176,-8 0 3391,-5 0-1130,-6 0 0,-4 0 0,-7 0 0,-3 0 0,0 0 0,-3 0 0,4 0 0,-2 0 0,1 0 0,2 0 0,5 0 0,6 0 0,7 0 0,-1 0 0,3 0 0,3 0 0,1 0 0,-3 0 0,-4 0 0,1 0 0,-4 0 0,3 0 0,1 0 0,3 0 0,2 0 0,-2 0 0,1 0 0,1 0 0,0 0 0,-2 0 0,0 0 0,1 0 0,2 0 0,0 0 0,2 0 0,1-5 0,0 0 0,1 1 0,0 0 0,-1 1 0,1 1 0,0 1 0,4 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25.064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-948.29102"/>
      <inkml:brushProperty name="anchorY" value="-5135.51367"/>
      <inkml:brushProperty name="scaleFactor" value="0.5"/>
    </inkml:brush>
  </inkml:definitions>
  <inkml:trace contextRef="#ctx0" brushRef="#br0">1 0 24575,'0'0'0,"0"8"0,0 8 0,0 7 0,0 4 0,0 7 0,0 0 0,0 3 0,0-2 0,0-1 0,0-4 0,0-2 0,0-2 0,0-2 0,0-10 0,0-13 0,0-2 0,4-10 0,6-7 0,0-6 0,-1-1 0,2 3 0,-1 0 0,2 6 0,3 4 0,-2 14 0,2 8 0,2 8 0,-3 4 0,-2 3 0,-5 1 0,-2 0 0,2-6 0,-1 1 0,-1-6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26.432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-2146.55908"/>
      <inkml:brushProperty name="anchorY" value="-6556.28906"/>
      <inkml:brushProperty name="scaleFactor" value="0.5"/>
    </inkml:brush>
  </inkml:definitions>
  <inkml:trace contextRef="#ctx0" brushRef="#br0">51 306 24575,'0'0'0,"4"-4"0,1-7 0,5 2 0,-2-5 0,5-2 0,-2-3 0,-3-3 0,-1 0 0,-3-2 0,-2 0 0,-1 0 0,-1 0 0,0 0 0,-6 5 0,-4 5 0,0 0 0,-4 4 0,-2 3 0,-3 3 0,2 6 0,4 11 0,4 6 0,4 5 0,2 2 0,2 0 0,1 0 0,0 0 0,6-6 0,-1 0 0,5-6 0,-1 1 0,4-4 0,2-3 0,-1 2 0,2-2 0,1-2 0,2-1 0,-2 2 0,0-1 0,1-1 0,2-1 0,1-1 0,1-2 0,-4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27.225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-3370.06836"/>
      <inkml:brushProperty name="anchorY" value="-7573.36816"/>
      <inkml:brushProperty name="scaleFactor" value="0.5"/>
    </inkml:brush>
  </inkml:definitions>
  <inkml:trace contextRef="#ctx0" brushRef="#br0">0 0 24575,'0'0'0,"0"4"0,0 11 0,0 9 0,0 9 0,0 1 0,5 1 0,0-2 0,4-8 0,0-2 0,-1-2 0,-3 0 0,-1-5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27.880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-4430.90576"/>
      <inkml:brushProperty name="anchorY" value="-8872.92383"/>
      <inkml:brushProperty name="scaleFactor" value="0.5"/>
    </inkml:brush>
  </inkml:definitions>
  <inkml:trace contextRef="#ctx0" brushRef="#br0">0 0 24575,'0'0'0,"0"8"0,0 8 0,0 8 0,0 8 0,0 6 0,5 1 0,0-2 0,-1-4 0,0-3 0,4-7 0,-2-3 0,0-5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28.797"/>
    </inkml:context>
    <inkml:brush xml:id="br0">
      <inkml:brushProperty name="width" value="0.05" units="cm"/>
      <inkml:brushProperty name="height" value="0.05" units="cm"/>
      <inkml:brushProperty name="color" value="#EEB3A6"/>
      <inkml:brushProperty name="inkEffects" value="rosegold"/>
      <inkml:brushProperty name="anchorX" value="-5484.96533"/>
      <inkml:brushProperty name="anchorY" value="-10203.74902"/>
      <inkml:brushProperty name="scaleFactor" value="0.5"/>
    </inkml:brush>
  </inkml:definitions>
  <inkml:trace contextRef="#ctx0" brushRef="#br0">74 27 24575,'0'0'0,"-4"0"0,-6 0 0,-5 0 0,2 5 0,1 4 0,3 6 0,3 3 0,3 3 0,1 2 0,2 1 0,0 1 0,6-5 0,-1-1 0,6-4 0,3-5 0,3-3 0,3-4 0,2-1 0,2-2 0,0-1 0,-4-4 0,-1-1 0,-4-9 0,-5-4 0,-3-3 0,-4-2 0,-1-1 0,-2-1 0,-5 6 0,-1 0 0,-4 5 0,-5 0 0,-2-1 0,1 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33.24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6576.77197"/>
      <inkml:brushProperty name="anchorY" value="-11193.75488"/>
      <inkml:brushProperty name="scaleFactor" value="0.5"/>
    </inkml:brush>
  </inkml:definitions>
  <inkml:trace contextRef="#ctx0" brushRef="#br0">1 0 24575,'0'0'0,"4"0"0,6 0 0,5 0 0,3 0 0,3 0 0,2 0 0,1 0 0,1 0 0,-1 0 0,1 0 0,-1 0 0,0 0 0,-1 0 0,1 0 0,-1 0 0,6 0 0,-1 0 0,0 0 0,0 0 0,-2 0 0,-1 0 0,0 0 0,-1 0 0,-5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59.604"/>
    </inkml:context>
    <inkml:brush xml:id="br0">
      <inkml:brushProperty name="width" value="0.05" units="cm"/>
      <inkml:brushProperty name="height" value="0.05" units="cm"/>
      <inkml:brushProperty name="color" value="#FF4E00"/>
      <inkml:brushProperty name="inkEffects" value="rainbow"/>
      <inkml:brushProperty name="anchorX" value="-21791.08398"/>
      <inkml:brushProperty name="anchorY" value="-24638.89258"/>
      <inkml:brushProperty name="scaleFactor" value="0.5"/>
    </inkml:brush>
  </inkml:definitions>
  <inkml:trace contextRef="#ctx0" brushRef="#br0">378 49 24575,'0'0'0,"-4"0"0,-6-5 0,-5 0 0,-3 0 0,1-3 0,-1 0 0,-1 1 0,-1 2 0,-2 1 0,-1 2 0,5 11 0,4 5 0,0 6 0,4 2 0,-2-2 0,2 0 0,3 1 0,-3-5 0,3 1 0,-4 1 0,1 1 0,-2-4 0,1 2 0,3 1 0,2 1 0,3 2 0,1 1 0,-4 1 0,2 0 0,-1 1 0,2 0 0,0-1 0,-3-3 0,1-2 0,0 1 0,1 5 0,1 2 0,2 1 0,0-1 0,0 0 0,1-1 0,1 0 0,-1-1 0,0 0 0,0-1 0,0 1 0,1-1 0,-1 0 0,4-4 0,1 0 0,0-1 0,-1 2 0,3-4 0,0 1 0,3-4 0,-1 1 0,-1 2 0,3 2 0,-3 2 0,4-3 0,-2 0 0,2-3 0,3 1 0,3-3 0,-3 1 0,2-3 0,2-2 0,0 2 0,-2 3 0,0-2 0,-3 3 0,0-2 0,2-3 0,2 2 0,2-2 0,-3 2 0,1-1 0,1-3 0,-4 3 0,1-2 0,1-1 0,2 2 0,1-1 0,2-2 0,-4 3 0,1-1 0,0-1 0,0-3 0,-2-1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3:00.705"/>
    </inkml:context>
    <inkml:brush xml:id="br0">
      <inkml:brushProperty name="width" value="0.05" units="cm"/>
      <inkml:brushProperty name="height" value="0.05" units="cm"/>
      <inkml:brushProperty name="color" value="#FF4E00"/>
      <inkml:brushProperty name="inkEffects" value="rainbow"/>
      <inkml:brushProperty name="anchorX" value="-23016.61523"/>
      <inkml:brushProperty name="anchorY" value="-26900.67578"/>
      <inkml:brushProperty name="scaleFactor" value="0.5"/>
    </inkml:brush>
  </inkml:definitions>
  <inkml:trace contextRef="#ctx0" brushRef="#br0">110 0 24575,'0'0'0,"0"4"0,5 7 0,0 3 0,5 5 0,-2 2 0,0 2 0,3-4 0,2 0 0,-1 1 0,2-4 0,3-4 0,-3 0 0,2-2 0,-3 1 0,1-1 0,2 1 0,-7-1 0,-8-2 0,-8 2 0,-7-2 0,-5 8 0,-3-1 0,-2-3 0,-1-2 0,5 1 0,-1-3 0,2 4 0,-2 1 0,0 4 0,4 3 0,-1-4 0,5 3 0,-2-5 0,4 1 0,3-3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3:02.160"/>
    </inkml:context>
    <inkml:brush xml:id="br0">
      <inkml:brushProperty name="width" value="0.05" units="cm"/>
      <inkml:brushProperty name="height" value="0.05" units="cm"/>
      <inkml:brushProperty name="color" value="#FF4E00"/>
      <inkml:brushProperty name="inkEffects" value="rainbow"/>
      <inkml:brushProperty name="anchorX" value="-21891.47461"/>
      <inkml:brushProperty name="anchorY" value="-26362.28125"/>
      <inkml:brushProperty name="scaleFactor" value="0.5"/>
    </inkml:brush>
  </inkml:definitions>
  <inkml:trace contextRef="#ctx0" brushRef="#br0">0 49 24575,'0'0'0,"4"0"0,7 0 0,3-5 0,5 0 0,2 0 0,2 1 0,1 2 0,0-5 0,1 1 0,-1 1 0,0 1 0,0 1 0,0 2 0,-1 0 0,1 1 0,0 0 0,-1 0 0,0 0 0,1 1 0,-1-1 0,1 0 0,-5 5 0,-1-1 0,-4 1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3:05.724"/>
    </inkml:context>
    <inkml:brush xml:id="br0">
      <inkml:brushProperty name="width" value="0.05" units="cm"/>
      <inkml:brushProperty name="height" value="0.05" units="cm"/>
      <inkml:brushProperty name="color" value="#FF4E00"/>
      <inkml:brushProperty name="inkEffects" value="rainbow"/>
      <inkml:brushProperty name="anchorX" value="-23407.74805"/>
      <inkml:brushProperty name="anchorY" value="-27345.89648"/>
      <inkml:brushProperty name="scaleFactor" value="0.5"/>
    </inkml:brush>
  </inkml:definitions>
  <inkml:trace contextRef="#ctx0" brushRef="#br0">1 366 24575,'0'0'0,"0"-4"0,0-11 0,4-4 0,6-4 0,0-7 0,3-1 0,-1-4 0,2 1 0,-2 1 0,-3 3 0,-3 2 0,-2 2 0,-2 2 0,-2 0 0,0 15 0,0 14 0,-1 25 0,1 11 0,-1 9 0,-3 8 0,-1 1 0,0-5 0,1-3 0,1-7 0,1-7 0,-4-10 0,1-4 0,0-3 0,2-1 0,0 1 0,6-14 0,1-3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3:06.923"/>
    </inkml:context>
    <inkml:brush xml:id="br0">
      <inkml:brushProperty name="width" value="0.05" units="cm"/>
      <inkml:brushProperty name="height" value="0.05" units="cm"/>
      <inkml:brushProperty name="color" value="#FF4E00"/>
      <inkml:brushProperty name="inkEffects" value="rainbow"/>
      <inkml:brushProperty name="anchorX" value="-24480.27148"/>
      <inkml:brushProperty name="anchorY" value="-28543.77148"/>
      <inkml:brushProperty name="scaleFactor" value="0.5"/>
    </inkml:brush>
  </inkml:definitions>
  <inkml:trace contextRef="#ctx0" brushRef="#br0">97 3 24575,'0'0'0,"-5"0"0,0 5 0,-5 9 0,1 5 0,-3 4 0,1 6 0,2 7 0,-1-5 0,1-2 0,2-2 0,2-2 0,2-1 0,2-1 0,0 0 0,1 0 0,5 0 0,0 1 0,5-6 0,4-4 0,3-5 0,4-3 0,1-4 0,2-1 0,0-2 0,0 0 0,0-5 0,0 1 0,-4-6 0,-6-3 0,0 2 0,1 1 0,-3-2 0,2 3 0,-3-2 0,-3-2 0,2-4 0,-1-2 0,-3-2 0,-1 0 0,-3-2 0,0 0 0,-2 0 0,0 0 0,-5 0 0,-5 5 0,-4 0 0,0 0 0,-3 5 0,-1 3 0,3-1 0,-2 3 0,-1 2 0,-1 3 0,-2 1 0,-1 2 0,4 1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37.425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8131.58154"/>
      <inkml:brushProperty name="anchorY" value="-12209.75488"/>
      <inkml:brushProperty name="scaleFactor" value="0.5"/>
    </inkml:brush>
  </inkml:definitions>
  <inkml:trace contextRef="#ctx0" brushRef="#br0">0 0 24575,'0'0'0,"4"0"0,6 0 0,5 0 0,3 0 0,3 0 0,2 0 0,1 0 0,1 0 0,-1 0 0,1 0 0,-1 0 0,0 0 0,-1 0 0,1 0 0,-5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38.24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9450.10547"/>
      <inkml:brushProperty name="anchorY" value="-13225.75488"/>
      <inkml:brushProperty name="scaleFactor" value="0.5"/>
    </inkml:brush>
  </inkml:definitions>
  <inkml:trace contextRef="#ctx0" brushRef="#br0">0 0 24575,'0'0'0,"4"4"0,2 6 0,3 5 0,0 3 0,3-1 0,-1 1 0,-2 1 0,2-3 0,-2-4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39.0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0545.69531"/>
      <inkml:brushProperty name="anchorY" value="-14370.47852"/>
      <inkml:brushProperty name="scaleFactor" value="0.5"/>
    </inkml:brush>
  </inkml:definitions>
  <inkml:trace contextRef="#ctx0" brushRef="#br0">0 1 24575,'0'0'0,"4"0"0,6 0 0,0 5 0,3-1 0,4 6 0,-3 4 0,3-2 0,-4-1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39.42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1659.26855"/>
      <inkml:brushProperty name="anchorY" value="-15442.57813"/>
      <inkml:brushProperty name="scaleFactor" value="0.5"/>
    </inkml:brush>
  </inkml:definitions>
  <inkml:trace contextRef="#ctx0" brushRef="#br0">1 0 24575,'0'0'0,"4"4"0,6 1 0,-1 5 0,5-1 0,2-2 0,3-1 0,7-2 0,2 3 0,-5-1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39.77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2824.83008"/>
      <inkml:brushProperty name="anchorY" value="-16516.1543"/>
      <inkml:brushProperty name="scaleFactor" value="0.5"/>
    </inkml:brush>
  </inkml:definitions>
  <inkml:trace contextRef="#ctx0" brushRef="#br0">1 0 24575,'0'0'0,"3"4"0,8 6 0,8 0 0,9-1 0,2-2 0,7-2 0,-1 2 0,-7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40.176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4034.22168"/>
      <inkml:brushProperty name="anchorY" value="-17590.8125"/>
      <inkml:brushProperty name="scaleFactor" value="0.5"/>
    </inkml:brush>
  </inkml:definitions>
  <inkml:trace contextRef="#ctx0" brushRef="#br0">0 1 24575,'0'0'0,"4"0"0,6 0 0,5 0 0,3 0 0,3 4 0,2 1 0,1 0 0,0-1 0,5-1 0,-4-1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40.62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5242.89746"/>
      <inkml:brushProperty name="anchorY" value="-18629.64453"/>
      <inkml:brushProperty name="scaleFactor" value="0.5"/>
    </inkml:brush>
  </inkml:definitions>
  <inkml:trace contextRef="#ctx0" brushRef="#br0">1 0 24575,'0'0'0,"4"0"0,6 0 0,4 0 0,4 0 0,3 0 0,3 0 0,0 0 0,0 0 0,-4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41.05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6417.95898"/>
      <inkml:brushProperty name="anchorY" value="-19645.64453"/>
      <inkml:brushProperty name="scaleFactor" value="0.5"/>
    </inkml:brush>
  </inkml:definitions>
  <inkml:trace contextRef="#ctx0" brushRef="#br0">0 29 24575,'0'0'0,"0"-4"0,5-2 0,0-4 0,0 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41.502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7448.19336"/>
      <inkml:brushProperty name="anchorY" value="-20633.15039"/>
      <inkml:brushProperty name="scaleFactor" value="0.5"/>
    </inkml:brush>
  </inkml:definitions>
  <inkml:trace contextRef="#ctx0" brushRef="#br0">0 165 24575,'0'0'0,"0"-4"0,0-6 0,0-10 0,5-7 0,9-9 0,5 0 0,0 5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42.81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8520.97461"/>
      <inkml:brushProperty name="anchorY" value="-21485.19531"/>
      <inkml:brushProperty name="scaleFactor" value="0.5"/>
    </inkml:brush>
  </inkml:definitions>
  <inkml:trace contextRef="#ctx0" brushRef="#br0">0 0 24575,'0'0'0,"0"4"0,0 6 0,0 10 0,0 3 0,0 3 0,0 1 0,0 0 0,0-1 0,0-1 0,0 0 0,0-5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43.498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19536.97461"/>
      <inkml:brushProperty name="anchorY" value="-22733.67188"/>
      <inkml:brushProperty name="scaleFactor" value="0.5"/>
    </inkml:brush>
  </inkml:definitions>
  <inkml:trace contextRef="#ctx0" brushRef="#br0">0 1 24575,'0'0'0,"4"0"0,6 0 0,5 0 0,8 0 0,3 4 0,2 1 0,0 0 0,-1-1 0,-5 4 0,-6-2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2:46.254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0751.38867"/>
      <inkml:brushProperty name="anchorY" value="-23782.41406"/>
      <inkml:brushProperty name="scaleFactor" value="0.5"/>
    </inkml:brush>
  </inkml:definitions>
  <inkml:trace contextRef="#ctx0" brushRef="#br0">1 160 24575,'0'0'0,"0"-4"0,0-6 0,0-4 0,0-4 0,0-3 0,0-2 0,0-1 0,4 4 0,6 5 0,-1 5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3:12.729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5547.45703"/>
      <inkml:brushProperty name="anchorY" value="-29557.67578"/>
      <inkml:brushProperty name="scaleFactor" value="0.5"/>
    </inkml:brush>
  </inkml:definitions>
  <inkml:trace contextRef="#ctx0" brushRef="#br0">0 157 24575,'0'0'0,"0"-4"0,0-6 0,5-4 0,5-4 0,4-4 0,5 4 0,-3-1 0,2-1 0,1 4 0,2 4 0,-4 9 0,1 3 0,-4 7 0,-4 6 0,-4 5 0,-2 8 0,-3 6 0,0 7 0,-2-1 0,0-2 0,1-3 0,-1-3 0,1-3 0,-1-1 0,1-2 0,0-6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9-14T06:53:14.137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26752.21875"/>
      <inkml:brushProperty name="anchorY" value="-30785.06836"/>
      <inkml:brushProperty name="scaleFactor" value="0.5"/>
    </inkml:brush>
  </inkml:definitions>
  <inkml:trace contextRef="#ctx0" brushRef="#br0">0 72 24575,'0'0'0,"0"-4"0,5-6 0,4 1 0,6 0 0,-2-3 0,4 3 0,1 1 0,2 3 0,2 2 0,0 1 0,-3 6 0,-5 5 0,0 6 0,-3 4 0,-4 2 0,-2 3 0,-7-5 0,-2 1 0,-6 0 0,-4-4 0,-3-5 0,-4 1 0,12-2 0,5 1 0,8-1 0,7-3 0,6-2 0,4-1 0,3-3 0,-4 4 0,0 5 0,0-1 0,-4 4 0,-4 3 0,-5 2 0,-7-2 0,-3 2 0,-6-4 0,-4-3 0,-5-4 0,-3-3 0,-2-2 0,-1-2 0,-1 0 0,6-1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14T06:54:44.52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1,'8'0,"15"4,23 9,16 3,5 2,12 3,8 1,1 1,-2-4,-12 0,-14-4,-14-5,-11 1,-6-2,-6-3,-1-1,-1-3,0-1,0-1,1 4,0 1,1-1,1 4,-1 0,1-2,-1-1,-3 2,-2 1,1 1,0 1,2-2,1-3,0 3,1-1,1-2,0 0,3-3,-2 4,7 0,1-1,4 3,7 4,4 0,2-2,0 1,4-1,-3-3,-2 2,-6 0,-6-3,-6-1,-3-3,-3 0,-2-2,0 0,-1 0,5-1,1 5,0 1,-1 0,-1-1,0-1,-2-2,0 0,-1 0,1-1,-1 0,1-1,-1 1,0 0,5 0,4 0,2 0,-1 0,-2 0,1 0,3 0,1 0,-3 0,-3 0,-2 0,-2 0,-2 0,0 0,-1 0,4 0,1 0,0 0,4 0,-1 0,0 0,-3 0,-1 0,-2 0,0 0,-2 0,5 0,0 0,4 0,5 0,0 0,5 0,0 0,1 0,-4 0,-3 0,0 0,-3 0,-3 0,-2 0,-2 0,3 0,0 0,-1 0,3 0,1 0,2 0,7 0,2 0,4 0,3 0,-3 0,-6 0,-6 0,-4 0,-5 0,-1 0,2 0,5 0,0 0,8 0,0 0,2 0,-2 0,-1 0,-2 0,1 0,-3 0,-3 0,-3 0,-2 0,-2 0,-2 0,0 0,4 0,2 0,3 0,8 0,2 0,1 0,2 0,5 0,2 0,-4 0,-5 0,-4 0,5 0,11 0,11 4,12 1,-1 5,-1-1,-5-1,-11 2,-11-1,-11-1,-7-3,-9 2,-4 3,-2 1,1-2,2 2,1-2,1 3,6 3,1 2,1-1,-6 1,-1-3,-6 0,0-2,-4 1,0-2,-1 1,1 3,-2 3,2-2,-2 0,3 2,1 2,4-3,-2 0,-3 1,0-3,1 1,-1 1,-3 1,1-1,3-5,2 5,-1 2,1-1,-3 0,2-3,-3 0,-3 1,1 3,-2 1,3-3,-2 1,3 0,-2 2,-1-3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14T06:54:49.53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275 463,'-4'0,"-5"0,-5 0,-1-8,-1-3,2-7,4-4,-2-4,3 0,-2 0,-3 0,0 1,4 1,-1-1,1 2,-1 3,0 2,3-1,-1 0,5 3,6 4,12 0,11 2,5 3,6-2,5 1,3 2,-2-3,0 1,-3 2,-4 1,-1 3,-1 0,-3 1,-2 1,2 1,0-1,-1 0,-2 1,-1-1,-1 0,-1 0,-8 0,-12 0,-9 0,-9 0,-5 0,-5 0,0 0,2 4,-2 1,-2 0,0-1,1-1,0-1,0-1,1-1,0 0,1 0,3 4,2 1,0 1,-1-2,-2-1,3 2,1 2,-1-2,-2-1,0-1,-2-2,-1 0,0-1,-1 0,0 0,1 0,3 3,6 11,4 5,5 4,7 3,3 0,1 0,-1-1,-1 0,-2 0,0-1,-1 0,-1-1,0 0,0 1,0-1,-1 1,1-1,0 1,4-1,5-3,5-6,1-1,1-3,2-3,-2-6,-7-12,-10-12,-5-6,-5-2,0 0,1 2,2 1,3 2,-2 1,-4 5,1-3,-3-4,1-2,-1-1,1 2,-1 4,2 12,2 15,7 11,4 15,6 11,1 3,-1 1,2 2,0-3,-2-5,-3-5,-1-12,-3-17,0-14,-1-13,0-7,-1-1,1-5,-1 1,1 1,0 4,0 2,0 2,0 1,0 2,4 3,5 3,5 3,5 4,2 4,3-1,0 1,0 1,1 2,-1 0,0-1,4-2,5-3,1 0,7-3,8 1,0 2,4 3,-4-2,-5 1,-7 1,-10-2,-4 0,-8 2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14T07:06:25.95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14T07:06:26.713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0 1,'0'0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14T07:06:28.741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3-09-14T07:06:44.616"/>
    </inkml:context>
    <inkml:brush xml:id="br0">
      <inkml:brushProperty name="width" value="0.1" units="cm"/>
      <inkml:brushProperty name="height" value="0.6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1 1,'0'0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4E681-E562-4B71-8774-FBA064E61050}" type="datetimeFigureOut">
              <a:rPr lang="en-US" smtClean="0"/>
              <a:pPr/>
              <a:t>9/14/2023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DB2C134-8128-423C-A784-5100D3BD5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0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Times New Roman" pitchFamily="18" charset="0"/>
                <a:ea typeface="+mj-ea"/>
                <a:cs typeface="Times New Roman" pitchFamily="18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7A53D4-1005-425D-A316-AEBFC456F23D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>
          <a:xfrm>
            <a:off x="3962400" y="6553200"/>
            <a:ext cx="2209800" cy="244475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Linked Lists</a:t>
            </a:r>
            <a:endParaRPr lang="en-US" dirty="0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42AED99-7FB4-404E-8A97-64753DCE42EC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B108E0-34D5-4EFA-9A64-84D1DF660335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581400" y="6553200"/>
            <a:ext cx="2819400" cy="24447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Linked Lists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F42EC9-A0C6-4458-8D10-12D8D8B8F824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CC1AD1-8F65-4329-BEEA-844D2035C320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B8023-A4EE-4076-857C-E451FFF86521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  <a:endParaRPr kumimoji="0"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E3FD1C-7032-4FE5-8224-54D064BE240F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1939B-28D6-4B60-8ABF-165555AA8596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4394D9-A9BE-498A-ABC0-3AFFB3A020D9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93F5D-1CB3-439B-9183-85B438D5AE87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84B25F-5CEF-4641-9F25-499BE333544E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73EB7-24E3-41E0-B28C-AF8930FB770D}" type="datetime1">
              <a:rPr lang="en-US" smtClean="0"/>
              <a:pPr/>
              <a:t>9/14/2023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6200"/>
            <a:ext cx="8534400" cy="667512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dirty="0"/>
              <a:t>Click to edit Master title style</a:t>
            </a:r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dirty="0"/>
              <a:t>Click to edit Master text styles</a:t>
            </a:r>
          </a:p>
          <a:p>
            <a:pPr lvl="1" eaLnBrk="1" latinLnBrk="0" hangingPunct="1"/>
            <a:r>
              <a:rPr kumimoji="0" lang="en-US" dirty="0"/>
              <a:t>Second level</a:t>
            </a:r>
          </a:p>
          <a:p>
            <a:pPr lvl="2" eaLnBrk="1" latinLnBrk="0" hangingPunct="1"/>
            <a:r>
              <a:rPr kumimoji="0" lang="en-US" dirty="0"/>
              <a:t>Third level</a:t>
            </a:r>
          </a:p>
          <a:p>
            <a:pPr lvl="3" eaLnBrk="1" latinLnBrk="0" hangingPunct="1"/>
            <a:r>
              <a:rPr kumimoji="0" lang="en-US" dirty="0"/>
              <a:t>Fourth level</a:t>
            </a:r>
          </a:p>
          <a:p>
            <a:pPr lvl="4" eaLnBrk="1" latinLnBrk="0" hangingPunct="1"/>
            <a:r>
              <a:rPr kumimoji="0" lang="en-US" dirty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553200"/>
            <a:ext cx="914400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67ADBD38-79DB-4DFD-B308-03D133320915}" type="datetime1">
              <a:rPr lang="en-US" smtClean="0"/>
              <a:pPr/>
              <a:t>9/14/2023</a:t>
            </a:fld>
            <a:endParaRPr lang="en-US" dirty="0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553200"/>
            <a:ext cx="4495800" cy="244475"/>
          </a:xfrm>
          <a:prstGeom prst="rect">
            <a:avLst/>
          </a:prstGeom>
        </p:spPr>
        <p:txBody>
          <a:bodyPr vert="horz" lIns="0" tIns="0" rIns="0" bIns="0" anchor="b"/>
          <a:lstStyle>
            <a:lvl1pPr algn="ctr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r>
              <a:rPr lang="en-US"/>
              <a:t>Linked Lists</a:t>
            </a:r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458200" y="6553200"/>
            <a:ext cx="533400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1pPr>
          </a:lstStyle>
          <a:p>
            <a:fld id="{042AED99-7FB4-404E-8A97-64753DCE42EC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b="1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 b="1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r" rtl="0" eaLnBrk="1" latinLnBrk="0" hangingPunct="1">
        <a:spcBef>
          <a:spcPct val="0"/>
        </a:spcBef>
        <a:buNone/>
        <a:defRPr kumimoji="0" sz="3600" b="1" kern="1200">
          <a:ln>
            <a:noFill/>
          </a:ln>
          <a:solidFill>
            <a:schemeClr val="bg1"/>
          </a:solidFill>
          <a:effectLst/>
          <a:latin typeface="Times New Roman" pitchFamily="18" charset="0"/>
          <a:ea typeface="+mj-ea"/>
          <a:cs typeface="Times New Roman" pitchFamily="18" charset="0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400" kern="1200">
          <a:solidFill>
            <a:schemeClr val="bg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7" Type="http://schemas.openxmlformats.org/officeDocument/2006/relationships/image" Target="../media/image8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jpeg"/><Relationship Id="rId5" Type="http://schemas.openxmlformats.org/officeDocument/2006/relationships/image" Target="../media/image6.gif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microsoft.com/office/2018/10/relationships/comments" Target="../comments/modernComment_135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8/10/relationships/comments" Target="../comments/modernComment_137_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microsoft.com/office/2018/10/relationships/comments" Target="../comments/modernComment_13C_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35.png"/><Relationship Id="rId26" Type="http://schemas.openxmlformats.org/officeDocument/2006/relationships/image" Target="../media/image39.png"/><Relationship Id="rId39" Type="http://schemas.openxmlformats.org/officeDocument/2006/relationships/customXml" Target="../ink/ink18.xml"/><Relationship Id="rId21" Type="http://schemas.openxmlformats.org/officeDocument/2006/relationships/customXml" Target="../ink/ink9.xml"/><Relationship Id="rId34" Type="http://schemas.openxmlformats.org/officeDocument/2006/relationships/image" Target="../media/image43.png"/><Relationship Id="rId42" Type="http://schemas.openxmlformats.org/officeDocument/2006/relationships/image" Target="../media/image47.png"/><Relationship Id="rId47" Type="http://schemas.openxmlformats.org/officeDocument/2006/relationships/customXml" Target="../ink/ink22.xml"/><Relationship Id="rId50" Type="http://schemas.openxmlformats.org/officeDocument/2006/relationships/image" Target="../media/image51.png"/><Relationship Id="rId55" Type="http://schemas.openxmlformats.org/officeDocument/2006/relationships/customXml" Target="../ink/ink26.xml"/><Relationship Id="rId63" Type="http://schemas.openxmlformats.org/officeDocument/2006/relationships/customXml" Target="../ink/ink30.xml"/><Relationship Id="rId7" Type="http://schemas.openxmlformats.org/officeDocument/2006/relationships/customXml" Target="../ink/ink2.xml"/><Relationship Id="rId2" Type="http://schemas.microsoft.com/office/2018/10/relationships/comments" Target="../comments/modernComment_157_0.xml"/><Relationship Id="rId16" Type="http://schemas.openxmlformats.org/officeDocument/2006/relationships/image" Target="../media/image34.png"/><Relationship Id="rId29" Type="http://schemas.openxmlformats.org/officeDocument/2006/relationships/customXml" Target="../ink/ink13.xml"/><Relationship Id="rId11" Type="http://schemas.openxmlformats.org/officeDocument/2006/relationships/customXml" Target="../ink/ink4.xml"/><Relationship Id="rId24" Type="http://schemas.openxmlformats.org/officeDocument/2006/relationships/image" Target="../media/image38.png"/><Relationship Id="rId32" Type="http://schemas.openxmlformats.org/officeDocument/2006/relationships/image" Target="../media/image42.png"/><Relationship Id="rId37" Type="http://schemas.openxmlformats.org/officeDocument/2006/relationships/customXml" Target="../ink/ink17.xml"/><Relationship Id="rId40" Type="http://schemas.openxmlformats.org/officeDocument/2006/relationships/image" Target="../media/image46.png"/><Relationship Id="rId45" Type="http://schemas.openxmlformats.org/officeDocument/2006/relationships/customXml" Target="../ink/ink21.xml"/><Relationship Id="rId53" Type="http://schemas.openxmlformats.org/officeDocument/2006/relationships/customXml" Target="../ink/ink25.xml"/><Relationship Id="rId58" Type="http://schemas.openxmlformats.org/officeDocument/2006/relationships/image" Target="../media/image55.png"/><Relationship Id="rId5" Type="http://schemas.openxmlformats.org/officeDocument/2006/relationships/customXml" Target="../ink/ink1.xml"/><Relationship Id="rId61" Type="http://schemas.openxmlformats.org/officeDocument/2006/relationships/customXml" Target="../ink/ink29.xml"/><Relationship Id="rId19" Type="http://schemas.openxmlformats.org/officeDocument/2006/relationships/customXml" Target="../ink/ink8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Relationship Id="rId27" Type="http://schemas.openxmlformats.org/officeDocument/2006/relationships/customXml" Target="../ink/ink12.xml"/><Relationship Id="rId30" Type="http://schemas.openxmlformats.org/officeDocument/2006/relationships/image" Target="../media/image41.png"/><Relationship Id="rId35" Type="http://schemas.openxmlformats.org/officeDocument/2006/relationships/customXml" Target="../ink/ink16.xml"/><Relationship Id="rId43" Type="http://schemas.openxmlformats.org/officeDocument/2006/relationships/customXml" Target="../ink/ink20.xml"/><Relationship Id="rId48" Type="http://schemas.openxmlformats.org/officeDocument/2006/relationships/image" Target="../media/image50.png"/><Relationship Id="rId56" Type="http://schemas.openxmlformats.org/officeDocument/2006/relationships/image" Target="../media/image54.png"/><Relationship Id="rId64" Type="http://schemas.openxmlformats.org/officeDocument/2006/relationships/image" Target="../media/image58.png"/><Relationship Id="rId8" Type="http://schemas.openxmlformats.org/officeDocument/2006/relationships/image" Target="../media/image30.png"/><Relationship Id="rId51" Type="http://schemas.openxmlformats.org/officeDocument/2006/relationships/customXml" Target="../ink/ink24.xml"/><Relationship Id="rId3" Type="http://schemas.openxmlformats.org/officeDocument/2006/relationships/image" Target="../media/image26.png"/><Relationship Id="rId12" Type="http://schemas.openxmlformats.org/officeDocument/2006/relationships/image" Target="../media/image32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45.png"/><Relationship Id="rId46" Type="http://schemas.openxmlformats.org/officeDocument/2006/relationships/image" Target="../media/image49.png"/><Relationship Id="rId59" Type="http://schemas.openxmlformats.org/officeDocument/2006/relationships/customXml" Target="../ink/ink28.xml"/><Relationship Id="rId20" Type="http://schemas.openxmlformats.org/officeDocument/2006/relationships/image" Target="../media/image36.png"/><Relationship Id="rId41" Type="http://schemas.openxmlformats.org/officeDocument/2006/relationships/customXml" Target="../ink/ink19.xml"/><Relationship Id="rId54" Type="http://schemas.openxmlformats.org/officeDocument/2006/relationships/image" Target="../media/image53.png"/><Relationship Id="rId6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40.png"/><Relationship Id="rId36" Type="http://schemas.openxmlformats.org/officeDocument/2006/relationships/image" Target="../media/image44.png"/><Relationship Id="rId49" Type="http://schemas.openxmlformats.org/officeDocument/2006/relationships/customXml" Target="../ink/ink23.xml"/><Relationship Id="rId57" Type="http://schemas.openxmlformats.org/officeDocument/2006/relationships/customXml" Target="../ink/ink27.xml"/><Relationship Id="rId10" Type="http://schemas.openxmlformats.org/officeDocument/2006/relationships/image" Target="../media/image31.png"/><Relationship Id="rId31" Type="http://schemas.openxmlformats.org/officeDocument/2006/relationships/customXml" Target="../ink/ink14.xml"/><Relationship Id="rId44" Type="http://schemas.openxmlformats.org/officeDocument/2006/relationships/image" Target="../media/image48.png"/><Relationship Id="rId52" Type="http://schemas.openxmlformats.org/officeDocument/2006/relationships/image" Target="../media/image52.png"/><Relationship Id="rId60" Type="http://schemas.openxmlformats.org/officeDocument/2006/relationships/image" Target="../media/image56.png"/><Relationship Id="rId4" Type="http://schemas.openxmlformats.org/officeDocument/2006/relationships/image" Target="../media/image28.png"/><Relationship Id="rId9" Type="http://schemas.openxmlformats.org/officeDocument/2006/relationships/customXml" Target="../ink/ink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6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6.png"/><Relationship Id="rId4" Type="http://schemas.openxmlformats.org/officeDocument/2006/relationships/image" Target="../media/image6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8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customXml" Target="../ink/ink33.xml"/><Relationship Id="rId3" Type="http://schemas.openxmlformats.org/officeDocument/2006/relationships/image" Target="../media/image76.png"/><Relationship Id="rId7" Type="http://schemas.openxmlformats.org/officeDocument/2006/relationships/image" Target="../media/image78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2.xml"/><Relationship Id="rId5" Type="http://schemas.openxmlformats.org/officeDocument/2006/relationships/image" Target="../media/image77.png"/><Relationship Id="rId4" Type="http://schemas.openxmlformats.org/officeDocument/2006/relationships/customXml" Target="../ink/ink31.xml"/><Relationship Id="rId9" Type="http://schemas.openxmlformats.org/officeDocument/2006/relationships/image" Target="../media/image79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9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1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5.png"/><Relationship Id="rId5" Type="http://schemas.openxmlformats.org/officeDocument/2006/relationships/image" Target="../media/image94.png"/><Relationship Id="rId4" Type="http://schemas.openxmlformats.org/officeDocument/2006/relationships/image" Target="../media/image93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customXml" Target="../ink/ink34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3_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129_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Slot 2&amp;3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Linked Lists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Deadline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bài</a:t>
            </a:r>
            <a:r>
              <a:rPr lang="en-US" dirty="0"/>
              <a:t> </a:t>
            </a:r>
            <a:r>
              <a:rPr lang="en-US" dirty="0" err="1"/>
              <a:t>tập</a:t>
            </a:r>
            <a:r>
              <a:rPr lang="en-US" dirty="0"/>
              <a:t> </a:t>
            </a:r>
            <a:r>
              <a:rPr lang="en-US" dirty="0" err="1"/>
              <a:t>chương</a:t>
            </a:r>
            <a:r>
              <a:rPr lang="en-US" dirty="0"/>
              <a:t> </a:t>
            </a:r>
            <a:r>
              <a:rPr lang="en-US" dirty="0" err="1"/>
              <a:t>này</a:t>
            </a:r>
            <a:r>
              <a:rPr lang="en-US" dirty="0"/>
              <a:t>:</a:t>
            </a:r>
          </a:p>
          <a:p>
            <a:r>
              <a:rPr lang="en-US" dirty="0"/>
              <a:t>XEM TRONG LMS NHÉ</a:t>
            </a:r>
          </a:p>
          <a:p>
            <a:r>
              <a:rPr lang="en-US" dirty="0"/>
              <a:t>ĐỪNG ĐỂ TRỄ</a:t>
            </a:r>
          </a:p>
          <a:p>
            <a:r>
              <a:rPr lang="en-US" dirty="0"/>
              <a:t>ĐÂY LÀ CHƯƠNG THI PRACTICAL 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Learning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066800"/>
            <a:ext cx="8686800" cy="541020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dirty="0">
                <a:solidFill>
                  <a:srgbClr val="FFCC00"/>
                </a:solidFill>
                <a:latin typeface="Arial"/>
              </a:rPr>
              <a:t>LO1:  Describe the list data structure and its’ different way of implementations. Implement the singly linked list.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LO1.1  Demonstrate the list data structure with basic operations: insert, remove, edit, search, sort,...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LO1.2  Explain two ways of implementing a list: using arrays and using linked lists.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LO1.3  Write programs to implement the singly linked list with basic operations: add (last, first, before, after, at position), search, edit, remove, reverse, sort... ) 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LO1.4  Understand the doubly linked-list data structure with basic operations.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LO1.5  Write code snippets which manipulate operations on doubly linked list, and use diagrams to illustrate the effect.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LO1.6  Describe the circularly linked-list data structure with some basic operations like add, remove. </a:t>
            </a:r>
          </a:p>
          <a:p>
            <a:pPr>
              <a:buNone/>
            </a:pPr>
            <a:r>
              <a:rPr lang="en-US" dirty="0">
                <a:latin typeface="Times New Roman" pitchFamily="18" charset="0"/>
                <a:cs typeface="Times New Roman" pitchFamily="18" charset="0"/>
              </a:rPr>
              <a:t>LO1.7  Explain why the Java code library provides the ArrayList and LinkedList classes.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Contents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85800"/>
            <a:ext cx="8229600" cy="5562600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dirty="0"/>
              <a:t>1- Basic operations on a group</a:t>
            </a:r>
          </a:p>
          <a:p>
            <a:pPr>
              <a:buNone/>
            </a:pPr>
            <a:r>
              <a:rPr lang="en-US" dirty="0"/>
              <a:t>2- Drawbacks of arrays</a:t>
            </a:r>
          </a:p>
          <a:p>
            <a:pPr>
              <a:buNone/>
            </a:pPr>
            <a:r>
              <a:rPr lang="en-US" dirty="0"/>
              <a:t>3- Introduction to Linked Data Structures</a:t>
            </a:r>
          </a:p>
          <a:p>
            <a:pPr>
              <a:buNone/>
            </a:pPr>
            <a:r>
              <a:rPr lang="en-US" dirty="0"/>
              <a:t>4- Linked Lists (LLs):</a:t>
            </a:r>
          </a:p>
          <a:p>
            <a:pPr lvl="1"/>
            <a:r>
              <a:rPr lang="en-US" sz="2000" dirty="0"/>
              <a:t>Definition</a:t>
            </a:r>
          </a:p>
          <a:p>
            <a:pPr lvl="1"/>
            <a:r>
              <a:rPr lang="en-US" sz="2000" dirty="0"/>
              <a:t>Common used LLs:  Singly / Doubly/ Circular Linked Lists</a:t>
            </a:r>
          </a:p>
          <a:p>
            <a:pPr lvl="1"/>
            <a:r>
              <a:rPr lang="en-US" sz="2000" dirty="0"/>
              <a:t>Representing an item/ a LL.</a:t>
            </a:r>
          </a:p>
          <a:p>
            <a:pPr lvl="1"/>
            <a:r>
              <a:rPr lang="en-US" sz="2000" dirty="0"/>
              <a:t>Comparing</a:t>
            </a:r>
          </a:p>
          <a:p>
            <a:pPr lvl="1"/>
            <a:r>
              <a:rPr lang="en-US" sz="2000" dirty="0"/>
              <a:t>Common operations on SLLs</a:t>
            </a:r>
          </a:p>
          <a:p>
            <a:pPr>
              <a:buNone/>
            </a:pPr>
            <a:r>
              <a:rPr lang="en-US" dirty="0"/>
              <a:t>5- Demo 1: Singly Linked List </a:t>
            </a:r>
            <a:r>
              <a:rPr lang="en-US" dirty="0">
                <a:solidFill>
                  <a:srgbClr val="FFFF00"/>
                </a:solidFill>
                <a:sym typeface="Wingdings" pitchFamily="2" charset="2"/>
              </a:rPr>
              <a:t> Your work</a:t>
            </a:r>
          </a:p>
          <a:p>
            <a:pPr>
              <a:buNone/>
            </a:pPr>
            <a:r>
              <a:rPr lang="en-US" dirty="0"/>
              <a:t>6- Demo 2: Doubly Linked List </a:t>
            </a:r>
            <a:r>
              <a:rPr lang="en-US" dirty="0">
                <a:solidFill>
                  <a:srgbClr val="FFFF00"/>
                </a:solidFill>
                <a:sym typeface="Wingdings" pitchFamily="2" charset="2"/>
              </a:rPr>
              <a:t> Your work</a:t>
            </a:r>
          </a:p>
          <a:p>
            <a:pPr>
              <a:buNone/>
            </a:pPr>
            <a:r>
              <a:rPr lang="en-US" dirty="0"/>
              <a:t>7- When linked Lists are used?</a:t>
            </a:r>
          </a:p>
          <a:p>
            <a:pPr>
              <a:buNone/>
            </a:pPr>
            <a:r>
              <a:rPr lang="en-US" dirty="0"/>
              <a:t>8- Managing groups using the Java API</a:t>
            </a:r>
          </a:p>
          <a:p>
            <a:pPr>
              <a:buNone/>
            </a:pPr>
            <a:r>
              <a:rPr lang="en-US" dirty="0"/>
              <a:t>9- Two Advanced demo. </a:t>
            </a:r>
            <a:r>
              <a:rPr lang="en-US" sz="1800" dirty="0">
                <a:solidFill>
                  <a:srgbClr val="FFFF00"/>
                </a:solidFill>
                <a:sym typeface="Wingdings" pitchFamily="2" charset="2"/>
              </a:rPr>
              <a:t> Bonus, you are not required to implement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1- Basic operations on a group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838200"/>
            <a:ext cx="8763000" cy="57912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Group is a collection of data objects which usually have the same structure. In a group, there may exist  relations between elements such as ordering relations or connections between elements. Relations must be described in data. </a:t>
            </a:r>
          </a:p>
          <a:p>
            <a:pPr marL="0" indent="0">
              <a:buNone/>
            </a:pPr>
            <a:r>
              <a:rPr lang="en-US" dirty="0"/>
              <a:t>- Physically, there are some ways to store a groups (list/ tree/…). So, a group is an </a:t>
            </a:r>
            <a:r>
              <a:rPr lang="en-US" b="1" i="1" u="sng" dirty="0"/>
              <a:t>abstract data type</a:t>
            </a:r>
            <a:r>
              <a:rPr lang="en-US" dirty="0"/>
              <a:t> and they are declared as interfaces in languages (interface Collection, List,… in Java).</a:t>
            </a:r>
          </a:p>
          <a:p>
            <a:pPr marL="0" indent="0">
              <a:buNone/>
            </a:pPr>
            <a:r>
              <a:rPr lang="en-US" dirty="0"/>
              <a:t>Basic operations on group include:  </a:t>
            </a:r>
          </a:p>
          <a:p>
            <a:r>
              <a:rPr lang="en-US" dirty="0"/>
              <a:t>Adding new element</a:t>
            </a:r>
          </a:p>
          <a:p>
            <a:r>
              <a:rPr lang="en-US" dirty="0"/>
              <a:t>Searching an element</a:t>
            </a:r>
          </a:p>
          <a:p>
            <a:r>
              <a:rPr lang="en-US" dirty="0"/>
              <a:t>Removing an element</a:t>
            </a:r>
          </a:p>
          <a:p>
            <a:r>
              <a:rPr lang="en-US" dirty="0"/>
              <a:t>Updating an element </a:t>
            </a:r>
            <a:r>
              <a:rPr lang="en-US" dirty="0">
                <a:sym typeface="Wingdings" pitchFamily="2" charset="2"/>
              </a:rPr>
              <a:t> Search + re-assign new value</a:t>
            </a:r>
          </a:p>
          <a:p>
            <a:r>
              <a:rPr lang="en-US" dirty="0"/>
              <a:t>Traversing all elements</a:t>
            </a:r>
            <a:endParaRPr lang="en-US" dirty="0">
              <a:sym typeface="Wingdings" pitchFamily="2" charset="2"/>
            </a:endParaRPr>
          </a:p>
          <a:p>
            <a:r>
              <a:rPr lang="en-US" dirty="0">
                <a:sym typeface="Wingdings" pitchFamily="2" charset="2"/>
              </a:rPr>
              <a:t>Sorting elements using a pre-defined order.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563562"/>
          </a:xfrm>
        </p:spPr>
        <p:txBody>
          <a:bodyPr>
            <a:noAutofit/>
          </a:bodyPr>
          <a:lstStyle/>
          <a:p>
            <a:r>
              <a:rPr lang="en-US" dirty="0"/>
              <a:t>2: Drawbacks of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2590800"/>
          </a:xfrm>
        </p:spPr>
        <p:txBody>
          <a:bodyPr>
            <a:normAutofit/>
          </a:bodyPr>
          <a:lstStyle/>
          <a:p>
            <a:r>
              <a:rPr lang="en-US" b="1" dirty="0"/>
              <a:t>Array is a group of elements (nodes) </a:t>
            </a:r>
          </a:p>
          <a:p>
            <a:pPr lvl="1"/>
            <a:r>
              <a:rPr lang="en-US" dirty="0"/>
              <a:t>which belong to the </a:t>
            </a:r>
            <a:r>
              <a:rPr lang="en-US" u="sng" dirty="0"/>
              <a:t>same data type</a:t>
            </a:r>
          </a:p>
          <a:p>
            <a:pPr lvl="1"/>
            <a:r>
              <a:rPr lang="en-US" dirty="0"/>
              <a:t>They are stored in </a:t>
            </a:r>
            <a:r>
              <a:rPr lang="en-US" u="sng" dirty="0"/>
              <a:t>contiguous memory cells</a:t>
            </a:r>
          </a:p>
          <a:p>
            <a:pPr lvl="1"/>
            <a:r>
              <a:rPr lang="en-US" dirty="0"/>
              <a:t>Each element can be accessed using its </a:t>
            </a:r>
            <a:r>
              <a:rPr lang="en-US" u="sng" dirty="0"/>
              <a:t>positional index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>
                <a:sym typeface="Wingdings" pitchFamily="2" charset="2"/>
              </a:rPr>
              <a:t> Array is the simplest data structure for a group. Positional indices describe an ordering relations between elements.  </a:t>
            </a:r>
            <a:endParaRPr lang="en-US" dirty="0"/>
          </a:p>
        </p:txBody>
      </p:sp>
      <p:sp>
        <p:nvSpPr>
          <p:cNvPr id="19" name="Rectangle 18"/>
          <p:cNvSpPr/>
          <p:nvPr/>
        </p:nvSpPr>
        <p:spPr>
          <a:xfrm>
            <a:off x="609600" y="5562600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MAXN=15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9600" y="5943600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Times New Roman" pitchFamily="18" charset="0"/>
                <a:cs typeface="Times New Roman" pitchFamily="18" charset="0"/>
              </a:rPr>
              <a:t>n = 10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447800" y="3982720"/>
          <a:ext cx="75438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609600" y="5181600"/>
            <a:ext cx="16002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Times New Roman" pitchFamily="18" charset="0"/>
                <a:cs typeface="Times New Roman" pitchFamily="18" charset="0"/>
              </a:rPr>
              <a:t>a</a:t>
            </a:r>
          </a:p>
        </p:txBody>
      </p:sp>
      <p:cxnSp>
        <p:nvCxnSpPr>
          <p:cNvPr id="24" name="Straight Arrow Connector 23"/>
          <p:cNvCxnSpPr>
            <a:stCxn id="22" idx="0"/>
          </p:cNvCxnSpPr>
          <p:nvPr/>
        </p:nvCxnSpPr>
        <p:spPr>
          <a:xfrm flipV="1">
            <a:off x="1409700" y="4953000"/>
            <a:ext cx="38100" cy="228600"/>
          </a:xfrm>
          <a:prstGeom prst="straightConnector1">
            <a:avLst/>
          </a:prstGeom>
          <a:ln>
            <a:solidFill>
              <a:schemeClr val="bg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133600" y="5117068"/>
            <a:ext cx="3733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No empty cell is allowed!!!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sp>
        <p:nvSpPr>
          <p:cNvPr id="14" name="Left Brace 13"/>
          <p:cNvSpPr/>
          <p:nvPr/>
        </p:nvSpPr>
        <p:spPr>
          <a:xfrm rot="16200000">
            <a:off x="7467600" y="3733798"/>
            <a:ext cx="457200" cy="2438401"/>
          </a:xfrm>
          <a:prstGeom prst="lef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TextBox 14"/>
          <p:cNvSpPr txBox="1"/>
          <p:nvPr/>
        </p:nvSpPr>
        <p:spPr>
          <a:xfrm>
            <a:off x="6857999" y="5117068"/>
            <a:ext cx="19050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FFC000"/>
                </a:solidFill>
              </a:rPr>
              <a:t>Empty cells</a:t>
            </a:r>
          </a:p>
        </p:txBody>
      </p:sp>
      <p:sp>
        <p:nvSpPr>
          <p:cNvPr id="16" name="Left Brace 15"/>
          <p:cNvSpPr/>
          <p:nvPr/>
        </p:nvSpPr>
        <p:spPr>
          <a:xfrm rot="16200000">
            <a:off x="3733801" y="2438400"/>
            <a:ext cx="457199" cy="5029200"/>
          </a:xfrm>
          <a:prstGeom prst="leftBrac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2667000" cy="1905000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Drawbacks of Arrays…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lum bright="-17000" contrast="8000"/>
          </a:blip>
          <a:srcRect/>
          <a:stretch>
            <a:fillRect/>
          </a:stretch>
        </p:blipFill>
        <p:spPr bwMode="auto">
          <a:xfrm>
            <a:off x="3429000" y="0"/>
            <a:ext cx="5334000" cy="66790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Rectangle 12"/>
          <p:cNvSpPr/>
          <p:nvPr/>
        </p:nvSpPr>
        <p:spPr>
          <a:xfrm>
            <a:off x="6324600" y="0"/>
            <a:ext cx="2438400" cy="609600"/>
          </a:xfrm>
          <a:prstGeom prst="rect">
            <a:avLst/>
          </a:prstGeom>
          <a:solidFill>
            <a:srgbClr val="0000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Memory for elements must be allocated in advance.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563562"/>
          </a:xfrm>
        </p:spPr>
        <p:txBody>
          <a:bodyPr>
            <a:noAutofit/>
          </a:bodyPr>
          <a:lstStyle/>
          <a:p>
            <a:r>
              <a:rPr lang="en-US" dirty="0"/>
              <a:t>Drawbacks of Arrays 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533399"/>
          </a:xfrm>
        </p:spPr>
        <p:txBody>
          <a:bodyPr>
            <a:normAutofit/>
          </a:bodyPr>
          <a:lstStyle/>
          <a:p>
            <a:r>
              <a:rPr lang="en-US" sz="2400" dirty="0"/>
              <a:t>Summary of Arrays and Expectations</a:t>
            </a:r>
            <a:r>
              <a:rPr lang="en-US" dirty="0"/>
              <a:t>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81001" y="1752246"/>
          <a:ext cx="8381999" cy="37341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5140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7918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514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0166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Complexity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Expectation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0497">
                <a:tc>
                  <a:txBody>
                    <a:bodyPr/>
                    <a:lstStyle/>
                    <a:p>
                      <a:r>
                        <a:rPr lang="en-US" dirty="0"/>
                        <a:t>Memory allocation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Allocated memory size can be redundant/ lack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</a:t>
                      </a:r>
                      <a:r>
                        <a:rPr lang="en-US" baseline="0" dirty="0"/>
                        <a:t> optimize memory use, memory for storing elements will be allocated when needed.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166">
                <a:tc>
                  <a:txBody>
                    <a:bodyPr/>
                    <a:lstStyle/>
                    <a:p>
                      <a:r>
                        <a:rPr lang="en-US" dirty="0"/>
                        <a:t>Add</a:t>
                      </a:r>
                      <a:r>
                        <a:rPr lang="en-US" baseline="0" dirty="0"/>
                        <a:t> x to the end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 </a:t>
                      </a:r>
                      <a:r>
                        <a:rPr lang="en-US" dirty="0">
                          <a:sym typeface="Wingdings" pitchFamily="2" charset="2"/>
                        </a:rPr>
                        <a:t> Good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0166">
                <a:tc>
                  <a:txBody>
                    <a:bodyPr/>
                    <a:lstStyle/>
                    <a:p>
                      <a:r>
                        <a:rPr lang="en-US" dirty="0"/>
                        <a:t>Add x to the position pos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5652">
                <a:tc>
                  <a:txBody>
                    <a:bodyPr/>
                    <a:lstStyle/>
                    <a:p>
                      <a:r>
                        <a:rPr lang="en-US" dirty="0"/>
                        <a:t>Search 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O(n)</a:t>
                      </a:r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&lt; O(n)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8074">
                <a:tc>
                  <a:txBody>
                    <a:bodyPr/>
                    <a:lstStyle/>
                    <a:p>
                      <a:r>
                        <a:rPr lang="en-US" dirty="0"/>
                        <a:t>Remove</a:t>
                      </a:r>
                      <a:r>
                        <a:rPr lang="en-US" baseline="0" dirty="0"/>
                        <a:t> element at the position pos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&lt; O(n)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781801" y="3885846"/>
            <a:ext cx="1676400" cy="8382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Linked Data Structures are introduced.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5791200"/>
            <a:ext cx="5715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Question: Why linked data structures are needed? </a:t>
            </a:r>
            <a:r>
              <a:rPr lang="en-US" b="1" dirty="0">
                <a:solidFill>
                  <a:srgbClr val="FFC000"/>
                </a:solidFill>
                <a:sym typeface="Wingdings" pitchFamily="2" charset="2"/>
              </a:rPr>
              <a:t> Answer.</a:t>
            </a:r>
            <a:endParaRPr lang="en-US" b="1" dirty="0">
              <a:solidFill>
                <a:srgbClr val="FFC000"/>
              </a:solidFill>
            </a:endParaRPr>
          </a:p>
        </p:txBody>
      </p:sp>
      <p:cxnSp>
        <p:nvCxnSpPr>
          <p:cNvPr id="10" name="Straight Arrow Connector 9"/>
          <p:cNvCxnSpPr/>
          <p:nvPr/>
        </p:nvCxnSpPr>
        <p:spPr>
          <a:xfrm flipV="1">
            <a:off x="2057400" y="838200"/>
            <a:ext cx="3124200" cy="53340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563562"/>
          </a:xfrm>
        </p:spPr>
        <p:txBody>
          <a:bodyPr>
            <a:noAutofit/>
          </a:bodyPr>
          <a:lstStyle/>
          <a:p>
            <a:r>
              <a:rPr lang="en-US" dirty="0"/>
              <a:t>3: Introduction to Linked Data Structures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1447799"/>
          </a:xfrm>
        </p:spPr>
        <p:txBody>
          <a:bodyPr>
            <a:normAutofit fontScale="92500"/>
          </a:bodyPr>
          <a:lstStyle/>
          <a:p>
            <a:r>
              <a:rPr lang="en-US" sz="2400" b="1" dirty="0">
                <a:solidFill>
                  <a:srgbClr val="FFC000"/>
                </a:solidFill>
              </a:rPr>
              <a:t>Linked Data structure</a:t>
            </a:r>
            <a:r>
              <a:rPr lang="en-US" sz="2400" dirty="0"/>
              <a:t>: A data organization in which each node includes itself data and links to others.</a:t>
            </a:r>
          </a:p>
          <a:p>
            <a:r>
              <a:rPr lang="en-US" dirty="0"/>
              <a:t>An example depict memory figure of a linked data structure:</a:t>
            </a:r>
            <a:endParaRPr lang="en-US" sz="2400" dirty="0"/>
          </a:p>
        </p:txBody>
      </p:sp>
      <p:sp>
        <p:nvSpPr>
          <p:cNvPr id="68" name="Slide Number Placeholder 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73" name="Footer Placeholder 7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grpSp>
        <p:nvGrpSpPr>
          <p:cNvPr id="84" name="Group 83"/>
          <p:cNvGrpSpPr/>
          <p:nvPr/>
        </p:nvGrpSpPr>
        <p:grpSpPr>
          <a:xfrm>
            <a:off x="457200" y="2382378"/>
            <a:ext cx="8229600" cy="3485022"/>
            <a:chOff x="762000" y="2687177"/>
            <a:chExt cx="8229600" cy="3485022"/>
          </a:xfrm>
        </p:grpSpPr>
        <p:grpSp>
          <p:nvGrpSpPr>
            <p:cNvPr id="74" name="Group 73"/>
            <p:cNvGrpSpPr/>
            <p:nvPr/>
          </p:nvGrpSpPr>
          <p:grpSpPr>
            <a:xfrm>
              <a:off x="775767" y="2687177"/>
              <a:ext cx="8215833" cy="3485022"/>
              <a:chOff x="914400" y="3116119"/>
              <a:chExt cx="7328967" cy="3181977"/>
            </a:xfrm>
          </p:grpSpPr>
          <p:pic>
            <p:nvPicPr>
              <p:cNvPr id="12" name="Picture 4" descr="J0101857"/>
              <p:cNvPicPr>
                <a:picLocks noChangeAspect="1" noChangeArrowheads="1"/>
              </p:cNvPicPr>
              <p:nvPr/>
            </p:nvPicPr>
            <p:blipFill>
              <a:blip r:embed="rId2" cstate="print"/>
              <a:srcRect/>
              <a:stretch>
                <a:fillRect/>
              </a:stretch>
            </p:blipFill>
            <p:spPr bwMode="auto">
              <a:xfrm>
                <a:off x="2208460" y="3169072"/>
                <a:ext cx="754946" cy="1080047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</p:pic>
          <p:pic>
            <p:nvPicPr>
              <p:cNvPr id="13" name="Picture 5" descr="J0341634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/>
              <a:stretch>
                <a:fillRect/>
              </a:stretch>
            </p:blipFill>
            <p:spPr bwMode="auto">
              <a:xfrm>
                <a:off x="1025079" y="3116119"/>
                <a:ext cx="760709" cy="1080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4" name="Picture 6" descr="J0101863"/>
              <p:cNvPicPr>
                <a:picLocks noChangeAspect="1" noChangeArrowheads="1"/>
              </p:cNvPicPr>
              <p:nvPr/>
            </p:nvPicPr>
            <p:blipFill>
              <a:blip r:embed="rId4" cstate="print"/>
              <a:srcRect/>
              <a:stretch>
                <a:fillRect/>
              </a:stretch>
            </p:blipFill>
            <p:spPr bwMode="auto">
              <a:xfrm>
                <a:off x="3423407" y="3169072"/>
                <a:ext cx="760709" cy="1080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5" name="Picture 8" descr="BD19563_"/>
              <p:cNvPicPr>
                <a:picLocks noChangeAspect="1" noChangeArrowheads="1" noCrop="1"/>
              </p:cNvPicPr>
              <p:nvPr/>
            </p:nvPicPr>
            <p:blipFill>
              <a:blip r:embed="rId5" cstate="print"/>
              <a:srcRect/>
              <a:stretch>
                <a:fillRect/>
              </a:stretch>
            </p:blipFill>
            <p:spPr bwMode="auto">
              <a:xfrm>
                <a:off x="7085202" y="3116383"/>
                <a:ext cx="760709" cy="1066546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6" name="Picture 9" descr="J0321179"/>
              <p:cNvPicPr>
                <a:picLocks noChangeAspect="1" noChangeArrowheads="1"/>
              </p:cNvPicPr>
              <p:nvPr/>
            </p:nvPicPr>
            <p:blipFill>
              <a:blip r:embed="rId6" cstate="print"/>
              <a:srcRect/>
              <a:stretch>
                <a:fillRect/>
              </a:stretch>
            </p:blipFill>
            <p:spPr bwMode="auto">
              <a:xfrm>
                <a:off x="4644006" y="3170122"/>
                <a:ext cx="760709" cy="102604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pic>
            <p:nvPicPr>
              <p:cNvPr id="17" name="Picture 10" descr="J0341328"/>
              <p:cNvPicPr>
                <a:picLocks noChangeAspect="1" noChangeArrowheads="1"/>
              </p:cNvPicPr>
              <p:nvPr/>
            </p:nvPicPr>
            <p:blipFill>
              <a:blip r:embed="rId7" cstate="print"/>
              <a:srcRect/>
              <a:stretch>
                <a:fillRect/>
              </a:stretch>
            </p:blipFill>
            <p:spPr bwMode="auto">
              <a:xfrm>
                <a:off x="5843413" y="3116119"/>
                <a:ext cx="782320" cy="108004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</p:pic>
          <p:sp>
            <p:nvSpPr>
              <p:cNvPr id="18" name="Rectangle 11"/>
              <p:cNvSpPr>
                <a:spLocks noChangeArrowheads="1"/>
              </p:cNvSpPr>
              <p:nvPr/>
            </p:nvSpPr>
            <p:spPr bwMode="auto">
              <a:xfrm>
                <a:off x="914400" y="4355024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James</a:t>
                </a:r>
              </a:p>
            </p:txBody>
          </p:sp>
          <p:sp>
            <p:nvSpPr>
              <p:cNvPr id="19" name="Rectangle 12"/>
              <p:cNvSpPr>
                <a:spLocks noChangeArrowheads="1"/>
              </p:cNvSpPr>
              <p:nvPr/>
            </p:nvSpPr>
            <p:spPr bwMode="auto">
              <a:xfrm>
                <a:off x="914400" y="4513881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42</a:t>
                </a:r>
              </a:p>
            </p:txBody>
          </p:sp>
          <p:sp>
            <p:nvSpPr>
              <p:cNvPr id="20" name="Rectangle 13"/>
              <p:cNvSpPr>
                <a:spLocks noChangeArrowheads="1"/>
              </p:cNvSpPr>
              <p:nvPr/>
            </p:nvSpPr>
            <p:spPr bwMode="auto">
              <a:xfrm>
                <a:off x="914400" y="4672739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Manager</a:t>
                </a:r>
              </a:p>
            </p:txBody>
          </p:sp>
          <p:sp>
            <p:nvSpPr>
              <p:cNvPr id="21" name="Rectangle 14"/>
              <p:cNvSpPr>
                <a:spLocks noChangeArrowheads="1"/>
              </p:cNvSpPr>
              <p:nvPr/>
            </p:nvSpPr>
            <p:spPr bwMode="auto">
              <a:xfrm>
                <a:off x="914400" y="4831597"/>
                <a:ext cx="899020" cy="158858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22" name="Rectangle 15"/>
              <p:cNvSpPr>
                <a:spLocks noChangeArrowheads="1"/>
              </p:cNvSpPr>
              <p:nvPr/>
            </p:nvSpPr>
            <p:spPr bwMode="auto">
              <a:xfrm>
                <a:off x="1022717" y="5115339"/>
                <a:ext cx="627122" cy="208722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400</a:t>
                </a:r>
              </a:p>
            </p:txBody>
          </p:sp>
          <p:sp>
            <p:nvSpPr>
              <p:cNvPr id="23" name="Rectangle 16"/>
              <p:cNvSpPr>
                <a:spLocks noChangeArrowheads="1"/>
              </p:cNvSpPr>
              <p:nvPr/>
            </p:nvSpPr>
            <p:spPr bwMode="auto">
              <a:xfrm>
                <a:off x="2134998" y="5115340"/>
                <a:ext cx="899020" cy="1588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24" name="Rectangle 17"/>
              <p:cNvSpPr>
                <a:spLocks noChangeArrowheads="1"/>
              </p:cNvSpPr>
              <p:nvPr/>
            </p:nvSpPr>
            <p:spPr bwMode="auto">
              <a:xfrm>
                <a:off x="3355595" y="5115340"/>
                <a:ext cx="899020" cy="1588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3000</a:t>
                </a:r>
              </a:p>
            </p:txBody>
          </p:sp>
          <p:sp>
            <p:nvSpPr>
              <p:cNvPr id="25" name="Rectangle 18"/>
              <p:cNvSpPr>
                <a:spLocks noChangeArrowheads="1"/>
              </p:cNvSpPr>
              <p:nvPr/>
            </p:nvSpPr>
            <p:spPr bwMode="auto">
              <a:xfrm>
                <a:off x="4576194" y="5115340"/>
                <a:ext cx="899020" cy="1588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8000</a:t>
                </a:r>
              </a:p>
            </p:txBody>
          </p:sp>
          <p:sp>
            <p:nvSpPr>
              <p:cNvPr id="26" name="Rectangle 19"/>
              <p:cNvSpPr>
                <a:spLocks noChangeArrowheads="1"/>
              </p:cNvSpPr>
              <p:nvPr/>
            </p:nvSpPr>
            <p:spPr bwMode="auto">
              <a:xfrm>
                <a:off x="5796793" y="5115340"/>
                <a:ext cx="899020" cy="1588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200</a:t>
                </a:r>
              </a:p>
            </p:txBody>
          </p:sp>
          <p:sp>
            <p:nvSpPr>
              <p:cNvPr id="27" name="Rectangle 20"/>
              <p:cNvSpPr>
                <a:spLocks noChangeArrowheads="1"/>
              </p:cNvSpPr>
              <p:nvPr/>
            </p:nvSpPr>
            <p:spPr bwMode="auto">
              <a:xfrm>
                <a:off x="6949580" y="5115340"/>
                <a:ext cx="899020" cy="15885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10000</a:t>
                </a:r>
              </a:p>
            </p:txBody>
          </p:sp>
          <p:sp>
            <p:nvSpPr>
              <p:cNvPr id="28" name="Rectangle 21"/>
              <p:cNvSpPr>
                <a:spLocks noChangeArrowheads="1"/>
              </p:cNvSpPr>
              <p:nvPr/>
            </p:nvSpPr>
            <p:spPr bwMode="auto">
              <a:xfrm>
                <a:off x="2134998" y="4355024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Linda</a:t>
                </a:r>
              </a:p>
            </p:txBody>
          </p:sp>
          <p:sp>
            <p:nvSpPr>
              <p:cNvPr id="29" name="Rectangle 22"/>
              <p:cNvSpPr>
                <a:spLocks noChangeArrowheads="1"/>
              </p:cNvSpPr>
              <p:nvPr/>
            </p:nvSpPr>
            <p:spPr bwMode="auto">
              <a:xfrm>
                <a:off x="2134998" y="4513881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25</a:t>
                </a:r>
              </a:p>
            </p:txBody>
          </p:sp>
          <p:sp>
            <p:nvSpPr>
              <p:cNvPr id="30" name="Rectangle 23"/>
              <p:cNvSpPr>
                <a:spLocks noChangeArrowheads="1"/>
              </p:cNvSpPr>
              <p:nvPr/>
            </p:nvSpPr>
            <p:spPr bwMode="auto">
              <a:xfrm>
                <a:off x="2134998" y="4672739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Officer</a:t>
                </a:r>
              </a:p>
            </p:txBody>
          </p:sp>
          <p:sp>
            <p:nvSpPr>
              <p:cNvPr id="31" name="Rectangle 24"/>
              <p:cNvSpPr>
                <a:spLocks noChangeArrowheads="1"/>
              </p:cNvSpPr>
              <p:nvPr/>
            </p:nvSpPr>
            <p:spPr bwMode="auto">
              <a:xfrm>
                <a:off x="2134998" y="4831597"/>
                <a:ext cx="899020" cy="158858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3000</a:t>
                </a:r>
              </a:p>
            </p:txBody>
          </p:sp>
          <p:sp>
            <p:nvSpPr>
              <p:cNvPr id="32" name="Rectangle 25"/>
              <p:cNvSpPr>
                <a:spLocks noChangeArrowheads="1"/>
              </p:cNvSpPr>
              <p:nvPr/>
            </p:nvSpPr>
            <p:spPr bwMode="auto">
              <a:xfrm>
                <a:off x="3355596" y="4355024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Jane</a:t>
                </a:r>
              </a:p>
            </p:txBody>
          </p:sp>
          <p:sp>
            <p:nvSpPr>
              <p:cNvPr id="33" name="Rectangle 26"/>
              <p:cNvSpPr>
                <a:spLocks noChangeArrowheads="1"/>
              </p:cNvSpPr>
              <p:nvPr/>
            </p:nvSpPr>
            <p:spPr bwMode="auto">
              <a:xfrm>
                <a:off x="3355596" y="4513881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10</a:t>
                </a:r>
              </a:p>
            </p:txBody>
          </p:sp>
          <p:sp>
            <p:nvSpPr>
              <p:cNvPr id="34" name="Rectangle 27"/>
              <p:cNvSpPr>
                <a:spLocks noChangeArrowheads="1"/>
              </p:cNvSpPr>
              <p:nvPr/>
            </p:nvSpPr>
            <p:spPr bwMode="auto">
              <a:xfrm>
                <a:off x="3355596" y="4672739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student</a:t>
                </a:r>
              </a:p>
            </p:txBody>
          </p:sp>
          <p:sp>
            <p:nvSpPr>
              <p:cNvPr id="35" name="Rectangle 28"/>
              <p:cNvSpPr>
                <a:spLocks noChangeArrowheads="1"/>
              </p:cNvSpPr>
              <p:nvPr/>
            </p:nvSpPr>
            <p:spPr bwMode="auto">
              <a:xfrm>
                <a:off x="3355596" y="4831597"/>
                <a:ext cx="899020" cy="158858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8000</a:t>
                </a:r>
              </a:p>
            </p:txBody>
          </p:sp>
          <p:sp>
            <p:nvSpPr>
              <p:cNvPr id="36" name="Rectangle 29"/>
              <p:cNvSpPr>
                <a:spLocks noChangeArrowheads="1"/>
              </p:cNvSpPr>
              <p:nvPr/>
            </p:nvSpPr>
            <p:spPr bwMode="auto">
              <a:xfrm>
                <a:off x="4576194" y="4355024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Tom</a:t>
                </a:r>
              </a:p>
            </p:txBody>
          </p:sp>
          <p:sp>
            <p:nvSpPr>
              <p:cNvPr id="37" name="Rectangle 30"/>
              <p:cNvSpPr>
                <a:spLocks noChangeArrowheads="1"/>
              </p:cNvSpPr>
              <p:nvPr/>
            </p:nvSpPr>
            <p:spPr bwMode="auto">
              <a:xfrm>
                <a:off x="4576194" y="4513881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22</a:t>
                </a:r>
              </a:p>
            </p:txBody>
          </p:sp>
          <p:sp>
            <p:nvSpPr>
              <p:cNvPr id="38" name="Rectangle 31"/>
              <p:cNvSpPr>
                <a:spLocks noChangeArrowheads="1"/>
              </p:cNvSpPr>
              <p:nvPr/>
            </p:nvSpPr>
            <p:spPr bwMode="auto">
              <a:xfrm>
                <a:off x="4576194" y="4672739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student</a:t>
                </a:r>
              </a:p>
            </p:txBody>
          </p:sp>
          <p:sp>
            <p:nvSpPr>
              <p:cNvPr id="39" name="Rectangle 32"/>
              <p:cNvSpPr>
                <a:spLocks noChangeArrowheads="1"/>
              </p:cNvSpPr>
              <p:nvPr/>
            </p:nvSpPr>
            <p:spPr bwMode="auto">
              <a:xfrm>
                <a:off x="4576194" y="4831597"/>
                <a:ext cx="899020" cy="158858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200</a:t>
                </a:r>
              </a:p>
            </p:txBody>
          </p:sp>
          <p:sp>
            <p:nvSpPr>
              <p:cNvPr id="40" name="Rectangle 33"/>
              <p:cNvSpPr>
                <a:spLocks noChangeArrowheads="1"/>
              </p:cNvSpPr>
              <p:nvPr/>
            </p:nvSpPr>
            <p:spPr bwMode="auto">
              <a:xfrm>
                <a:off x="5796793" y="4355024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Jack</a:t>
                </a:r>
              </a:p>
            </p:txBody>
          </p:sp>
          <p:sp>
            <p:nvSpPr>
              <p:cNvPr id="41" name="Rectangle 34"/>
              <p:cNvSpPr>
                <a:spLocks noChangeArrowheads="1"/>
              </p:cNvSpPr>
              <p:nvPr/>
            </p:nvSpPr>
            <p:spPr bwMode="auto">
              <a:xfrm>
                <a:off x="5796793" y="4513881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22</a:t>
                </a:r>
              </a:p>
            </p:txBody>
          </p:sp>
          <p:sp>
            <p:nvSpPr>
              <p:cNvPr id="42" name="Rectangle 35"/>
              <p:cNvSpPr>
                <a:spLocks noChangeArrowheads="1"/>
              </p:cNvSpPr>
              <p:nvPr/>
            </p:nvSpPr>
            <p:spPr bwMode="auto">
              <a:xfrm>
                <a:off x="5796793" y="4672739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Designer</a:t>
                </a:r>
              </a:p>
            </p:txBody>
          </p:sp>
          <p:sp>
            <p:nvSpPr>
              <p:cNvPr id="43" name="Rectangle 36"/>
              <p:cNvSpPr>
                <a:spLocks noChangeArrowheads="1"/>
              </p:cNvSpPr>
              <p:nvPr/>
            </p:nvSpPr>
            <p:spPr bwMode="auto">
              <a:xfrm>
                <a:off x="5796793" y="4831597"/>
                <a:ext cx="899020" cy="158858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10000</a:t>
                </a:r>
              </a:p>
            </p:txBody>
          </p:sp>
          <p:sp>
            <p:nvSpPr>
              <p:cNvPr id="44" name="Rectangle 37"/>
              <p:cNvSpPr>
                <a:spLocks noChangeArrowheads="1"/>
              </p:cNvSpPr>
              <p:nvPr/>
            </p:nvSpPr>
            <p:spPr bwMode="auto">
              <a:xfrm>
                <a:off x="7017391" y="4355024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Paul</a:t>
                </a:r>
              </a:p>
            </p:txBody>
          </p:sp>
          <p:sp>
            <p:nvSpPr>
              <p:cNvPr id="45" name="Rectangle 38"/>
              <p:cNvSpPr>
                <a:spLocks noChangeArrowheads="1"/>
              </p:cNvSpPr>
              <p:nvPr/>
            </p:nvSpPr>
            <p:spPr bwMode="auto">
              <a:xfrm>
                <a:off x="7017391" y="4513881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8</a:t>
                </a:r>
              </a:p>
            </p:txBody>
          </p:sp>
          <p:sp>
            <p:nvSpPr>
              <p:cNvPr id="46" name="Rectangle 39"/>
              <p:cNvSpPr>
                <a:spLocks noChangeArrowheads="1"/>
              </p:cNvSpPr>
              <p:nvPr/>
            </p:nvSpPr>
            <p:spPr bwMode="auto">
              <a:xfrm>
                <a:off x="7017391" y="4672739"/>
                <a:ext cx="899020" cy="158858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Kid</a:t>
                </a:r>
              </a:p>
            </p:txBody>
          </p:sp>
          <p:sp>
            <p:nvSpPr>
              <p:cNvPr id="47" name="Rectangle 40"/>
              <p:cNvSpPr>
                <a:spLocks noChangeArrowheads="1"/>
              </p:cNvSpPr>
              <p:nvPr/>
            </p:nvSpPr>
            <p:spPr bwMode="auto">
              <a:xfrm>
                <a:off x="7017391" y="4831597"/>
                <a:ext cx="899020" cy="158858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0 (NULL)</a:t>
                </a:r>
              </a:p>
            </p:txBody>
          </p:sp>
          <p:sp>
            <p:nvSpPr>
              <p:cNvPr id="50" name="Line 44"/>
              <p:cNvSpPr>
                <a:spLocks noChangeShapeType="1"/>
              </p:cNvSpPr>
              <p:nvPr/>
            </p:nvSpPr>
            <p:spPr bwMode="auto">
              <a:xfrm flipV="1">
                <a:off x="3016541" y="4460929"/>
                <a:ext cx="276622" cy="42362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1" name="Line 48"/>
              <p:cNvSpPr>
                <a:spLocks noChangeShapeType="1"/>
              </p:cNvSpPr>
              <p:nvPr/>
            </p:nvSpPr>
            <p:spPr bwMode="auto">
              <a:xfrm>
                <a:off x="7898934" y="4884549"/>
                <a:ext cx="207466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2" name="Line 49"/>
              <p:cNvSpPr>
                <a:spLocks noChangeShapeType="1"/>
              </p:cNvSpPr>
              <p:nvPr/>
            </p:nvSpPr>
            <p:spPr bwMode="auto">
              <a:xfrm>
                <a:off x="8102367" y="4884549"/>
                <a:ext cx="0" cy="15885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3" name="Line 50"/>
              <p:cNvSpPr>
                <a:spLocks noChangeShapeType="1"/>
              </p:cNvSpPr>
              <p:nvPr/>
            </p:nvSpPr>
            <p:spPr bwMode="auto">
              <a:xfrm>
                <a:off x="7966745" y="5043407"/>
                <a:ext cx="276622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4" name="Line 51"/>
              <p:cNvSpPr>
                <a:spLocks noChangeShapeType="1"/>
              </p:cNvSpPr>
              <p:nvPr/>
            </p:nvSpPr>
            <p:spPr bwMode="auto">
              <a:xfrm flipH="1">
                <a:off x="7898932" y="5043407"/>
                <a:ext cx="69155" cy="10590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5" name="Line 52"/>
              <p:cNvSpPr>
                <a:spLocks noChangeShapeType="1"/>
              </p:cNvSpPr>
              <p:nvPr/>
            </p:nvSpPr>
            <p:spPr bwMode="auto">
              <a:xfrm flipH="1">
                <a:off x="7966743" y="5043407"/>
                <a:ext cx="69155" cy="10590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6" name="Line 53"/>
              <p:cNvSpPr>
                <a:spLocks noChangeShapeType="1"/>
              </p:cNvSpPr>
              <p:nvPr/>
            </p:nvSpPr>
            <p:spPr bwMode="auto">
              <a:xfrm flipH="1">
                <a:off x="8034554" y="5043407"/>
                <a:ext cx="69155" cy="10590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7" name="Line 54"/>
              <p:cNvSpPr>
                <a:spLocks noChangeShapeType="1"/>
              </p:cNvSpPr>
              <p:nvPr/>
            </p:nvSpPr>
            <p:spPr bwMode="auto">
              <a:xfrm flipH="1">
                <a:off x="8102365" y="5043407"/>
                <a:ext cx="69155" cy="10590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8" name="Line 55"/>
              <p:cNvSpPr>
                <a:spLocks noChangeShapeType="1"/>
              </p:cNvSpPr>
              <p:nvPr/>
            </p:nvSpPr>
            <p:spPr bwMode="auto">
              <a:xfrm flipH="1">
                <a:off x="8170176" y="5043407"/>
                <a:ext cx="69155" cy="10590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59" name="Rectangle 56"/>
              <p:cNvSpPr>
                <a:spLocks noChangeArrowheads="1"/>
              </p:cNvSpPr>
              <p:nvPr/>
            </p:nvSpPr>
            <p:spPr bwMode="auto">
              <a:xfrm>
                <a:off x="2285999" y="5536096"/>
                <a:ext cx="1037331" cy="762000"/>
              </a:xfrm>
              <a:prstGeom prst="rect">
                <a:avLst/>
              </a:prstGeom>
              <a:solidFill>
                <a:schemeClr val="bg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Element </a:t>
                </a:r>
              </a:p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structure</a:t>
                </a:r>
              </a:p>
            </p:txBody>
          </p:sp>
          <p:sp>
            <p:nvSpPr>
              <p:cNvPr id="60" name="Rectangle 57"/>
              <p:cNvSpPr>
                <a:spLocks noChangeArrowheads="1"/>
              </p:cNvSpPr>
              <p:nvPr/>
            </p:nvSpPr>
            <p:spPr bwMode="auto">
              <a:xfrm>
                <a:off x="3429000" y="5536096"/>
                <a:ext cx="1679197" cy="533399"/>
              </a:xfrm>
              <a:prstGeom prst="rect">
                <a:avLst/>
              </a:prstGeom>
              <a:solidFill>
                <a:srgbClr val="FFFF9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Person</a:t>
                </a:r>
              </a:p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(name, age, role)</a:t>
                </a:r>
              </a:p>
            </p:txBody>
          </p:sp>
          <p:sp>
            <p:nvSpPr>
              <p:cNvPr id="63" name="Rectangle 60"/>
              <p:cNvSpPr>
                <a:spLocks noChangeArrowheads="1"/>
              </p:cNvSpPr>
              <p:nvPr/>
            </p:nvSpPr>
            <p:spPr bwMode="auto">
              <a:xfrm>
                <a:off x="3429000" y="6069496"/>
                <a:ext cx="1679197" cy="228600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next</a:t>
                </a:r>
              </a:p>
            </p:txBody>
          </p:sp>
          <p:sp>
            <p:nvSpPr>
              <p:cNvPr id="65" name="Rectangle 62"/>
              <p:cNvSpPr>
                <a:spLocks noChangeArrowheads="1"/>
              </p:cNvSpPr>
              <p:nvPr/>
            </p:nvSpPr>
            <p:spPr bwMode="auto">
              <a:xfrm>
                <a:off x="5181599" y="5536096"/>
                <a:ext cx="2838222" cy="526942"/>
              </a:xfrm>
              <a:prstGeom prst="rect">
                <a:avLst/>
              </a:prstGeom>
              <a:solidFill>
                <a:srgbClr val="FFFF9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600" b="1" dirty="0">
                    <a:latin typeface="Times New Roman" pitchFamily="18" charset="0"/>
                    <a:cs typeface="Times New Roman" pitchFamily="18" charset="0"/>
                  </a:rPr>
                  <a:t>Info of an element itself</a:t>
                </a:r>
              </a:p>
            </p:txBody>
          </p:sp>
          <p:sp>
            <p:nvSpPr>
              <p:cNvPr id="66" name="Rectangle 63"/>
              <p:cNvSpPr>
                <a:spLocks noChangeArrowheads="1"/>
              </p:cNvSpPr>
              <p:nvPr/>
            </p:nvSpPr>
            <p:spPr bwMode="auto">
              <a:xfrm>
                <a:off x="5181599" y="6069496"/>
                <a:ext cx="2838222" cy="228600"/>
              </a:xfrm>
              <a:prstGeom prst="rect">
                <a:avLst/>
              </a:prstGeom>
              <a:solidFill>
                <a:srgbClr val="002060"/>
              </a:solidFill>
              <a:ln w="9525">
                <a:solidFill>
                  <a:srgbClr val="FFFF00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 algn="ctr"/>
                <a:r>
                  <a:rPr lang="en-US" sz="1400" b="1" dirty="0">
                    <a:solidFill>
                      <a:srgbClr val="FFFF00"/>
                    </a:solidFill>
                    <a:latin typeface="Times New Roman" pitchFamily="18" charset="0"/>
                    <a:cs typeface="Times New Roman" pitchFamily="18" charset="0"/>
                  </a:rPr>
                  <a:t>Reference to the next element</a:t>
                </a:r>
              </a:p>
            </p:txBody>
          </p:sp>
          <p:sp>
            <p:nvSpPr>
              <p:cNvPr id="69" name="Line 67"/>
              <p:cNvSpPr>
                <a:spLocks noChangeShapeType="1"/>
              </p:cNvSpPr>
              <p:nvPr/>
            </p:nvSpPr>
            <p:spPr bwMode="auto">
              <a:xfrm flipV="1">
                <a:off x="1795943" y="4460929"/>
                <a:ext cx="276622" cy="42362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0" name="Line 68"/>
              <p:cNvSpPr>
                <a:spLocks noChangeShapeType="1"/>
              </p:cNvSpPr>
              <p:nvPr/>
            </p:nvSpPr>
            <p:spPr bwMode="auto">
              <a:xfrm flipV="1">
                <a:off x="5457738" y="4460929"/>
                <a:ext cx="276622" cy="42362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1" name="Line 69"/>
              <p:cNvSpPr>
                <a:spLocks noChangeShapeType="1"/>
              </p:cNvSpPr>
              <p:nvPr/>
            </p:nvSpPr>
            <p:spPr bwMode="auto">
              <a:xfrm flipV="1">
                <a:off x="4237139" y="4460929"/>
                <a:ext cx="276622" cy="42362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2" name="Line 70"/>
              <p:cNvSpPr>
                <a:spLocks noChangeShapeType="1"/>
              </p:cNvSpPr>
              <p:nvPr/>
            </p:nvSpPr>
            <p:spPr bwMode="auto">
              <a:xfrm flipV="1">
                <a:off x="6678336" y="4489173"/>
                <a:ext cx="273515" cy="395373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dash"/>
                <a:round/>
                <a:headEnd/>
                <a:tailEnd type="triangle" w="med" len="med"/>
              </a:ln>
            </p:spPr>
            <p:txBody>
              <a:bodyPr/>
              <a:lstStyle/>
              <a:p>
                <a:endParaRPr lang="en-US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  <p:sp>
          <p:nvSpPr>
            <p:cNvPr id="83" name="TextBox 82"/>
            <p:cNvSpPr txBox="1"/>
            <p:nvPr/>
          </p:nvSpPr>
          <p:spPr>
            <a:xfrm>
              <a:off x="762000" y="5071646"/>
              <a:ext cx="9906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</a:rPr>
                <a:t>Memory</a:t>
              </a:r>
            </a:p>
            <a:p>
              <a:r>
                <a:rPr lang="en-US" sz="1600" dirty="0">
                  <a:solidFill>
                    <a:schemeClr val="bg1"/>
                  </a:solidFill>
                </a:rPr>
                <a:t>address</a:t>
              </a:r>
            </a:p>
          </p:txBody>
        </p:sp>
      </p:grpSp>
      <p:cxnSp>
        <p:nvCxnSpPr>
          <p:cNvPr id="76" name="Straight Arrow Connector 75"/>
          <p:cNvCxnSpPr/>
          <p:nvPr/>
        </p:nvCxnSpPr>
        <p:spPr>
          <a:xfrm>
            <a:off x="2819400" y="1600200"/>
            <a:ext cx="609600" cy="3657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>
            <a:off x="3886200" y="1600200"/>
            <a:ext cx="685800" cy="41910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152400"/>
            <a:ext cx="8686800" cy="563562"/>
          </a:xfrm>
        </p:spPr>
        <p:txBody>
          <a:bodyPr>
            <a:noAutofit/>
          </a:bodyPr>
          <a:lstStyle/>
          <a:p>
            <a:r>
              <a:rPr lang="en-US" dirty="0"/>
              <a:t>3: Intro. to Linked Data Structures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1600199"/>
          </a:xfrm>
        </p:spPr>
        <p:txBody>
          <a:bodyPr vert="horz">
            <a:noAutofit/>
          </a:bodyPr>
          <a:lstStyle/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FFF00"/>
                </a:solidFill>
                <a:cs typeface="Times New Roman" pitchFamily="18" charset="0"/>
              </a:rPr>
              <a:t>Linear data structure/ List:     </a:t>
            </a:r>
            <a:r>
              <a:rPr lang="en-US" sz="1900" b="1" dirty="0">
                <a:cs typeface="Times New Roman" pitchFamily="18" charset="0"/>
              </a:rPr>
              <a:t>Structure having only one line to access all elements </a:t>
            </a:r>
            <a:r>
              <a:rPr lang="en-US" sz="1900" b="1" dirty="0">
                <a:cs typeface="Times New Roman" pitchFamily="18" charset="0"/>
                <a:sym typeface="Wingdings" pitchFamily="2" charset="2"/>
              </a:rPr>
              <a:t> Array, linked lists. </a:t>
            </a:r>
          </a:p>
          <a:p>
            <a:pPr>
              <a:lnSpc>
                <a:spcPct val="120000"/>
              </a:lnSpc>
            </a:pPr>
            <a:r>
              <a:rPr lang="en-US" sz="1900" b="1" dirty="0">
                <a:solidFill>
                  <a:srgbClr val="FFFF00"/>
                </a:solidFill>
                <a:cs typeface="Times New Roman" pitchFamily="18" charset="0"/>
                <a:sym typeface="Wingdings" pitchFamily="2" charset="2"/>
              </a:rPr>
              <a:t>Linear Linked data structures/ Linked List</a:t>
            </a:r>
            <a:r>
              <a:rPr lang="en-US" sz="1900" b="1" dirty="0">
                <a:cs typeface="Times New Roman" pitchFamily="18" charset="0"/>
                <a:sym typeface="Wingdings" pitchFamily="2" charset="2"/>
              </a:rPr>
              <a:t>:  Links establish </a:t>
            </a:r>
            <a:r>
              <a:rPr lang="en-US" sz="1900" b="1" dirty="0">
                <a:cs typeface="Times New Roman" pitchFamily="18" charset="0"/>
              </a:rPr>
              <a:t>only one line to access elements  </a:t>
            </a:r>
            <a:r>
              <a:rPr lang="en-US" sz="1900" b="1" dirty="0">
                <a:cs typeface="Times New Roman" pitchFamily="18" charset="0"/>
                <a:sym typeface="Wingdings" pitchFamily="2" charset="2"/>
              </a:rPr>
              <a:t> linked lists</a:t>
            </a:r>
            <a:endParaRPr lang="en-US" sz="1900" b="1" dirty="0">
              <a:cs typeface="Times New Roman" pitchFamily="18" charset="0"/>
            </a:endParaRPr>
          </a:p>
        </p:txBody>
      </p:sp>
      <p:sp>
        <p:nvSpPr>
          <p:cNvPr id="68" name="Slide Number Placeholder 6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73" name="Footer Placeholder 7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457200" y="838200"/>
            <a:ext cx="6019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CC00"/>
                </a:solidFill>
                <a:cs typeface="Times New Roman" pitchFamily="18" charset="0"/>
              </a:rPr>
              <a:t>Types of Linked Data Structures:</a:t>
            </a:r>
          </a:p>
        </p:txBody>
      </p:sp>
      <p:pic>
        <p:nvPicPr>
          <p:cNvPr id="7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901738" y="4286874"/>
            <a:ext cx="4327862" cy="21901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pSp>
        <p:nvGrpSpPr>
          <p:cNvPr id="91" name="Group 90"/>
          <p:cNvGrpSpPr/>
          <p:nvPr/>
        </p:nvGrpSpPr>
        <p:grpSpPr>
          <a:xfrm>
            <a:off x="1905000" y="3200400"/>
            <a:ext cx="4876800" cy="609600"/>
            <a:chOff x="1752600" y="2819400"/>
            <a:chExt cx="4876800" cy="609600"/>
          </a:xfrm>
        </p:grpSpPr>
        <p:sp>
          <p:nvSpPr>
            <p:cNvPr id="76" name="Rectangle 75"/>
            <p:cNvSpPr/>
            <p:nvPr/>
          </p:nvSpPr>
          <p:spPr>
            <a:xfrm>
              <a:off x="17526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obj1</a:t>
              </a:r>
            </a:p>
          </p:txBody>
        </p:sp>
        <p:sp>
          <p:nvSpPr>
            <p:cNvPr id="77" name="Rectangle 76"/>
            <p:cNvSpPr/>
            <p:nvPr/>
          </p:nvSpPr>
          <p:spPr>
            <a:xfrm>
              <a:off x="17526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78" name="Rectangle 77"/>
            <p:cNvSpPr/>
            <p:nvPr/>
          </p:nvSpPr>
          <p:spPr>
            <a:xfrm>
              <a:off x="28194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obj2</a:t>
              </a:r>
            </a:p>
          </p:txBody>
        </p:sp>
        <p:sp>
          <p:nvSpPr>
            <p:cNvPr id="79" name="Rectangle 78"/>
            <p:cNvSpPr/>
            <p:nvPr/>
          </p:nvSpPr>
          <p:spPr>
            <a:xfrm>
              <a:off x="28194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38862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obj3</a:t>
              </a:r>
            </a:p>
          </p:txBody>
        </p:sp>
        <p:sp>
          <p:nvSpPr>
            <p:cNvPr id="81" name="Rectangle 80"/>
            <p:cNvSpPr/>
            <p:nvPr/>
          </p:nvSpPr>
          <p:spPr>
            <a:xfrm>
              <a:off x="38862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82" name="Rectangle 81"/>
            <p:cNvSpPr/>
            <p:nvPr/>
          </p:nvSpPr>
          <p:spPr>
            <a:xfrm>
              <a:off x="4953000" y="2819400"/>
              <a:ext cx="685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obj4</a:t>
              </a:r>
            </a:p>
          </p:txBody>
        </p:sp>
        <p:sp>
          <p:nvSpPr>
            <p:cNvPr id="83" name="Rectangle 82"/>
            <p:cNvSpPr/>
            <p:nvPr/>
          </p:nvSpPr>
          <p:spPr>
            <a:xfrm>
              <a:off x="4953000" y="3200400"/>
              <a:ext cx="6858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0198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obj5</a:t>
              </a:r>
            </a:p>
          </p:txBody>
        </p:sp>
        <p:sp>
          <p:nvSpPr>
            <p:cNvPr id="85" name="Rectangle 84"/>
            <p:cNvSpPr/>
            <p:nvPr/>
          </p:nvSpPr>
          <p:spPr>
            <a:xfrm>
              <a:off x="60198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</a:p>
          </p:txBody>
        </p:sp>
        <p:cxnSp>
          <p:nvCxnSpPr>
            <p:cNvPr id="86" name="Straight Arrow Connector 85"/>
            <p:cNvCxnSpPr>
              <a:stCxn id="77" idx="3"/>
            </p:cNvCxnSpPr>
            <p:nvPr/>
          </p:nvCxnSpPr>
          <p:spPr>
            <a:xfrm flipV="1">
              <a:off x="23622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>
            <a:xfrm flipV="1">
              <a:off x="34290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Arrow Connector 87"/>
            <p:cNvCxnSpPr/>
            <p:nvPr/>
          </p:nvCxnSpPr>
          <p:spPr>
            <a:xfrm flipV="1">
              <a:off x="44958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Straight Arrow Connector 88"/>
            <p:cNvCxnSpPr/>
            <p:nvPr/>
          </p:nvCxnSpPr>
          <p:spPr>
            <a:xfrm flipV="1">
              <a:off x="55626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0" name="Content Placeholder 2"/>
          <p:cNvSpPr txBox="1">
            <a:spLocks/>
          </p:cNvSpPr>
          <p:nvPr/>
        </p:nvSpPr>
        <p:spPr>
          <a:xfrm>
            <a:off x="533400" y="4439274"/>
            <a:ext cx="3200400" cy="17526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marL="274320" marR="0" lvl="1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19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Non linear linked data structure: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</a:rPr>
              <a:t> Links establish multiple lines to access elements </a:t>
            </a:r>
            <a:r>
              <a:rPr kumimoji="0" lang="en-US" sz="19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 Trees</a:t>
            </a: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19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4: Linked Lists (LLs)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1"/>
            <a:ext cx="8229600" cy="1371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rgbClr val="FFCC00"/>
                </a:solidFill>
              </a:rPr>
              <a:t>Linked list</a:t>
            </a:r>
            <a:r>
              <a:rPr lang="en-US" dirty="0"/>
              <a:t>: A group of nodes, each node contains its data and links to others. Links form a linear path to access elements.</a:t>
            </a:r>
          </a:p>
          <a:p>
            <a:r>
              <a:rPr lang="en-US" dirty="0"/>
              <a:t>A link describes a previous-next relation  between two elements.</a:t>
            </a:r>
          </a:p>
          <a:p>
            <a:r>
              <a:rPr lang="en-US" dirty="0"/>
              <a:t>Linked list is the simplest linked data structure.</a:t>
            </a:r>
          </a:p>
        </p:txBody>
      </p:sp>
      <p:grpSp>
        <p:nvGrpSpPr>
          <p:cNvPr id="68" name="Group 67"/>
          <p:cNvGrpSpPr/>
          <p:nvPr/>
        </p:nvGrpSpPr>
        <p:grpSpPr>
          <a:xfrm>
            <a:off x="381000" y="2514600"/>
            <a:ext cx="8458200" cy="3505201"/>
            <a:chOff x="381000" y="2514600"/>
            <a:chExt cx="8458200" cy="3505201"/>
          </a:xfrm>
        </p:grpSpPr>
        <p:sp>
          <p:nvSpPr>
            <p:cNvPr id="4" name="Rectangle 3"/>
            <p:cNvSpPr/>
            <p:nvPr/>
          </p:nvSpPr>
          <p:spPr>
            <a:xfrm>
              <a:off x="17526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obj1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7526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1000</a:t>
              </a:r>
            </a:p>
          </p:txBody>
        </p:sp>
        <p:sp>
          <p:nvSpPr>
            <p:cNvPr id="8" name="Rectangle 7"/>
            <p:cNvSpPr/>
            <p:nvPr/>
          </p:nvSpPr>
          <p:spPr>
            <a:xfrm>
              <a:off x="28194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obj2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28194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800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38862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obj3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38862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400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953000" y="2819400"/>
              <a:ext cx="685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obj4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953000" y="3200400"/>
              <a:ext cx="6858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600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019800" y="2819400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obj5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6019800" y="3200400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null</a:t>
              </a: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76400" y="2514601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43200" y="2514600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3810000" y="2514600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4876800" y="2514600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5943600" y="2514600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81000" y="2819400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700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81000" y="3124200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600</a:t>
              </a:r>
            </a:p>
          </p:txBody>
        </p:sp>
        <p:cxnSp>
          <p:nvCxnSpPr>
            <p:cNvPr id="26" name="Straight Arrow Connector 25"/>
            <p:cNvCxnSpPr>
              <a:stCxn id="7" idx="3"/>
            </p:cNvCxnSpPr>
            <p:nvPr/>
          </p:nvCxnSpPr>
          <p:spPr>
            <a:xfrm flipV="1">
              <a:off x="23622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 flipV="1">
              <a:off x="34290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44958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 flipV="1">
              <a:off x="5562600" y="2819400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Rectangle 29"/>
            <p:cNvSpPr/>
            <p:nvPr/>
          </p:nvSpPr>
          <p:spPr>
            <a:xfrm>
              <a:off x="1752600" y="4035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obj1</a:t>
              </a: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752600" y="4416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1000</a:t>
              </a:r>
            </a:p>
          </p:txBody>
        </p:sp>
        <p:sp>
          <p:nvSpPr>
            <p:cNvPr id="32" name="Rectangle 31"/>
            <p:cNvSpPr/>
            <p:nvPr/>
          </p:nvSpPr>
          <p:spPr>
            <a:xfrm>
              <a:off x="2819400" y="4035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obj2</a:t>
              </a:r>
            </a:p>
          </p:txBody>
        </p:sp>
        <p:sp>
          <p:nvSpPr>
            <p:cNvPr id="33" name="Rectangle 32"/>
            <p:cNvSpPr/>
            <p:nvPr/>
          </p:nvSpPr>
          <p:spPr>
            <a:xfrm>
              <a:off x="2819400" y="4416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800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3886200" y="4035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obj3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3886200" y="4416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400</a:t>
              </a:r>
            </a:p>
          </p:txBody>
        </p:sp>
        <p:sp>
          <p:nvSpPr>
            <p:cNvPr id="36" name="Rectangle 35"/>
            <p:cNvSpPr/>
            <p:nvPr/>
          </p:nvSpPr>
          <p:spPr>
            <a:xfrm>
              <a:off x="4953000" y="4035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obj4</a:t>
              </a: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4953000" y="4416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600</a:t>
              </a:r>
            </a:p>
          </p:txBody>
        </p:sp>
        <p:sp>
          <p:nvSpPr>
            <p:cNvPr id="38" name="Rectangle 37"/>
            <p:cNvSpPr/>
            <p:nvPr/>
          </p:nvSpPr>
          <p:spPr>
            <a:xfrm>
              <a:off x="6019800" y="4035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obj5</a:t>
              </a:r>
            </a:p>
          </p:txBody>
        </p:sp>
        <p:sp>
          <p:nvSpPr>
            <p:cNvPr id="39" name="Rectangle 38"/>
            <p:cNvSpPr/>
            <p:nvPr/>
          </p:nvSpPr>
          <p:spPr>
            <a:xfrm>
              <a:off x="6019800" y="4416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700</a:t>
              </a: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1676400" y="3730824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743200" y="3730823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810000" y="3730823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876800" y="3730823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5943600" y="3730823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381000" y="4035623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700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381000" y="4340423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600</a:t>
              </a:r>
            </a:p>
          </p:txBody>
        </p:sp>
        <p:cxnSp>
          <p:nvCxnSpPr>
            <p:cNvPr id="47" name="Straight Arrow Connector 46"/>
            <p:cNvCxnSpPr>
              <a:stCxn id="31" idx="3"/>
            </p:cNvCxnSpPr>
            <p:nvPr/>
          </p:nvCxnSpPr>
          <p:spPr>
            <a:xfrm flipV="1">
              <a:off x="2362200" y="4035623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Arrow Connector 47"/>
            <p:cNvCxnSpPr/>
            <p:nvPr/>
          </p:nvCxnSpPr>
          <p:spPr>
            <a:xfrm flipV="1">
              <a:off x="3429000" y="4035623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/>
            <p:nvPr/>
          </p:nvCxnSpPr>
          <p:spPr>
            <a:xfrm flipV="1">
              <a:off x="4495800" y="4035623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/>
            <p:nvPr/>
          </p:nvCxnSpPr>
          <p:spPr>
            <a:xfrm flipV="1">
              <a:off x="5562600" y="4035623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>
              <a:endCxn id="31" idx="2"/>
            </p:cNvCxnSpPr>
            <p:nvPr/>
          </p:nvCxnSpPr>
          <p:spPr>
            <a:xfrm rot="5400000" flipH="1" flipV="1">
              <a:off x="1903512" y="4799112"/>
              <a:ext cx="307777" cy="1588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>
              <a:off x="2057400" y="4953000"/>
              <a:ext cx="4267200" cy="1588"/>
            </a:xfrm>
            <a:prstGeom prst="line">
              <a:avLst/>
            </a:prstGeom>
            <a:ln w="190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endCxn id="39" idx="2"/>
            </p:cNvCxnSpPr>
            <p:nvPr/>
          </p:nvCxnSpPr>
          <p:spPr>
            <a:xfrm rot="5400000" flipH="1" flipV="1">
              <a:off x="6170712" y="4799112"/>
              <a:ext cx="307777" cy="1588"/>
            </a:xfrm>
            <a:prstGeom prst="line">
              <a:avLst/>
            </a:prstGeom>
            <a:ln w="190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6858000" y="2819400"/>
              <a:ext cx="175260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Singly Linked list (SLL)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6858000" y="3886200"/>
              <a:ext cx="1981200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</a:rPr>
                <a:t>Circularly  Singly Linked list (CSLL)</a:t>
              </a: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133600" y="55626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Item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2971800" y="5410200"/>
              <a:ext cx="1371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Object data</a:t>
              </a:r>
            </a:p>
          </p:txBody>
        </p:sp>
        <p:sp>
          <p:nvSpPr>
            <p:cNvPr id="62" name="Rectangle 61"/>
            <p:cNvSpPr/>
            <p:nvPr/>
          </p:nvSpPr>
          <p:spPr>
            <a:xfrm>
              <a:off x="2971800" y="5791200"/>
              <a:ext cx="1371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</a:rPr>
                <a:t>Item next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5867400" y="5410200"/>
              <a:ext cx="12954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Item head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867400" y="5715001"/>
              <a:ext cx="129540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</a:rPr>
                <a:t>Item tail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953000" y="55626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b="1" dirty="0">
                  <a:solidFill>
                    <a:schemeClr val="bg1"/>
                  </a:solidFill>
                </a:rPr>
                <a:t>List</a:t>
              </a:r>
            </a:p>
          </p:txBody>
        </p:sp>
      </p:grp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LLs…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2672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Linked list</a:t>
            </a:r>
            <a:r>
              <a:rPr lang="en-US" dirty="0"/>
              <a:t>: A group of nodes, each node contains its data and links to others. Links form a linear path to access elements.</a:t>
            </a:r>
          </a:p>
          <a:p>
            <a:r>
              <a:rPr lang="en-US" dirty="0"/>
              <a:t>A link describes a previous-next relation  between two elements.</a:t>
            </a:r>
          </a:p>
          <a:p>
            <a:r>
              <a:rPr lang="en-US" dirty="0"/>
              <a:t>Linked list is the simplest linked data structure.</a:t>
            </a:r>
          </a:p>
          <a:p>
            <a:r>
              <a:rPr lang="en-US" dirty="0"/>
              <a:t>Linear accessing path may form a circle.  It means that the ending element links to the beginning.</a:t>
            </a:r>
          </a:p>
          <a:p>
            <a:r>
              <a:rPr lang="en-US" b="1" dirty="0">
                <a:solidFill>
                  <a:srgbClr val="FFFF00"/>
                </a:solidFill>
              </a:rPr>
              <a:t>Common used linked lists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 Singly linked lists (</a:t>
            </a:r>
            <a:r>
              <a:rPr lang="en-US" b="1" dirty="0">
                <a:solidFill>
                  <a:srgbClr val="FFFF00"/>
                </a:solidFill>
              </a:rPr>
              <a:t>SLL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Circular linked lists (</a:t>
            </a:r>
            <a:r>
              <a:rPr lang="en-US" b="1" dirty="0">
                <a:solidFill>
                  <a:srgbClr val="FFFF00"/>
                </a:solidFill>
              </a:rPr>
              <a:t>CSLL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Doubly linked lists (</a:t>
            </a:r>
            <a:r>
              <a:rPr lang="en-US" b="1" dirty="0">
                <a:solidFill>
                  <a:srgbClr val="FFFF00"/>
                </a:solidFill>
              </a:rPr>
              <a:t>DLL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Circular doubly linked lists (</a:t>
            </a:r>
            <a:r>
              <a:rPr lang="en-US" b="1" dirty="0">
                <a:solidFill>
                  <a:srgbClr val="FFFF00"/>
                </a:solidFill>
              </a:rPr>
              <a:t>CDLL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LLs: Common used LLs</a:t>
            </a:r>
          </a:p>
        </p:txBody>
      </p:sp>
      <p:sp>
        <p:nvSpPr>
          <p:cNvPr id="79" name="Slide Number Placeholder 7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84" name="Footer Placeholder 8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grpSp>
        <p:nvGrpSpPr>
          <p:cNvPr id="219" name="Group 218"/>
          <p:cNvGrpSpPr/>
          <p:nvPr/>
        </p:nvGrpSpPr>
        <p:grpSpPr>
          <a:xfrm>
            <a:off x="304800" y="1062235"/>
            <a:ext cx="8610600" cy="5262365"/>
            <a:chOff x="457200" y="1062235"/>
            <a:chExt cx="8610600" cy="5262365"/>
          </a:xfrm>
        </p:grpSpPr>
        <p:sp>
          <p:nvSpPr>
            <p:cNvPr id="91" name="Rectangle 90"/>
            <p:cNvSpPr/>
            <p:nvPr/>
          </p:nvSpPr>
          <p:spPr>
            <a:xfrm>
              <a:off x="1828800" y="13670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obj1</a:t>
              </a:r>
            </a:p>
          </p:txBody>
        </p:sp>
        <p:sp>
          <p:nvSpPr>
            <p:cNvPr id="92" name="Rectangle 91"/>
            <p:cNvSpPr/>
            <p:nvPr/>
          </p:nvSpPr>
          <p:spPr>
            <a:xfrm>
              <a:off x="1828800" y="17480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94" name="Rectangle 93"/>
            <p:cNvSpPr/>
            <p:nvPr/>
          </p:nvSpPr>
          <p:spPr>
            <a:xfrm>
              <a:off x="2895600" y="13670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obj2</a:t>
              </a:r>
            </a:p>
          </p:txBody>
        </p:sp>
        <p:sp>
          <p:nvSpPr>
            <p:cNvPr id="95" name="Rectangle 94"/>
            <p:cNvSpPr/>
            <p:nvPr/>
          </p:nvSpPr>
          <p:spPr>
            <a:xfrm>
              <a:off x="2895600" y="17480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96" name="Rectangle 95"/>
            <p:cNvSpPr/>
            <p:nvPr/>
          </p:nvSpPr>
          <p:spPr>
            <a:xfrm>
              <a:off x="3962400" y="13670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obj3</a:t>
              </a:r>
            </a:p>
          </p:txBody>
        </p:sp>
        <p:sp>
          <p:nvSpPr>
            <p:cNvPr id="98" name="Rectangle 97"/>
            <p:cNvSpPr/>
            <p:nvPr/>
          </p:nvSpPr>
          <p:spPr>
            <a:xfrm>
              <a:off x="3962400" y="17480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5029200" y="13670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obj4</a:t>
              </a:r>
            </a:p>
          </p:txBody>
        </p:sp>
        <p:sp>
          <p:nvSpPr>
            <p:cNvPr id="100" name="Rectangle 99"/>
            <p:cNvSpPr/>
            <p:nvPr/>
          </p:nvSpPr>
          <p:spPr>
            <a:xfrm>
              <a:off x="5029200" y="17480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01" name="Rectangle 100"/>
            <p:cNvSpPr/>
            <p:nvPr/>
          </p:nvSpPr>
          <p:spPr>
            <a:xfrm>
              <a:off x="6096000" y="13670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obj5</a:t>
              </a:r>
            </a:p>
          </p:txBody>
        </p:sp>
        <p:sp>
          <p:nvSpPr>
            <p:cNvPr id="102" name="Rectangle 101"/>
            <p:cNvSpPr/>
            <p:nvPr/>
          </p:nvSpPr>
          <p:spPr>
            <a:xfrm>
              <a:off x="6096000" y="17480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</a:p>
          </p:txBody>
        </p:sp>
        <p:sp>
          <p:nvSpPr>
            <p:cNvPr id="103" name="TextBox 102"/>
            <p:cNvSpPr txBox="1"/>
            <p:nvPr/>
          </p:nvSpPr>
          <p:spPr>
            <a:xfrm>
              <a:off x="1752600" y="1062236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2819400" y="1062235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05" name="TextBox 104"/>
            <p:cNvSpPr txBox="1"/>
            <p:nvPr/>
          </p:nvSpPr>
          <p:spPr>
            <a:xfrm>
              <a:off x="3886200" y="1062235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06" name="TextBox 105"/>
            <p:cNvSpPr txBox="1"/>
            <p:nvPr/>
          </p:nvSpPr>
          <p:spPr>
            <a:xfrm>
              <a:off x="4953000" y="1062235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07" name="TextBox 106"/>
            <p:cNvSpPr txBox="1"/>
            <p:nvPr/>
          </p:nvSpPr>
          <p:spPr>
            <a:xfrm>
              <a:off x="6019800" y="1062235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99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08" name="TextBox 107"/>
            <p:cNvSpPr txBox="1"/>
            <p:nvPr/>
          </p:nvSpPr>
          <p:spPr>
            <a:xfrm>
              <a:off x="457200" y="1367035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700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57200" y="1671835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600</a:t>
              </a:r>
            </a:p>
          </p:txBody>
        </p:sp>
        <p:cxnSp>
          <p:nvCxnSpPr>
            <p:cNvPr id="110" name="Straight Arrow Connector 109"/>
            <p:cNvCxnSpPr>
              <a:stCxn id="92" idx="3"/>
            </p:cNvCxnSpPr>
            <p:nvPr/>
          </p:nvCxnSpPr>
          <p:spPr>
            <a:xfrm flipV="1">
              <a:off x="2438400" y="13670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/>
            <p:cNvCxnSpPr/>
            <p:nvPr/>
          </p:nvCxnSpPr>
          <p:spPr>
            <a:xfrm flipV="1">
              <a:off x="3505200" y="13670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/>
            <p:cNvCxnSpPr/>
            <p:nvPr/>
          </p:nvCxnSpPr>
          <p:spPr>
            <a:xfrm flipV="1">
              <a:off x="4572000" y="13670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Straight Arrow Connector 112"/>
            <p:cNvCxnSpPr/>
            <p:nvPr/>
          </p:nvCxnSpPr>
          <p:spPr>
            <a:xfrm flipV="1">
              <a:off x="5638800" y="13670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4" name="Rectangle 113"/>
            <p:cNvSpPr/>
            <p:nvPr/>
          </p:nvSpPr>
          <p:spPr>
            <a:xfrm>
              <a:off x="1828800" y="22052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obj1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1828800" y="25862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16" name="Rectangle 115"/>
            <p:cNvSpPr/>
            <p:nvPr/>
          </p:nvSpPr>
          <p:spPr>
            <a:xfrm>
              <a:off x="2895600" y="22052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obj2</a:t>
              </a:r>
            </a:p>
          </p:txBody>
        </p:sp>
        <p:sp>
          <p:nvSpPr>
            <p:cNvPr id="117" name="Rectangle 116"/>
            <p:cNvSpPr/>
            <p:nvPr/>
          </p:nvSpPr>
          <p:spPr>
            <a:xfrm>
              <a:off x="2895600" y="25862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18" name="Rectangle 117"/>
            <p:cNvSpPr/>
            <p:nvPr/>
          </p:nvSpPr>
          <p:spPr>
            <a:xfrm>
              <a:off x="3962400" y="22052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obj3</a:t>
              </a:r>
            </a:p>
          </p:txBody>
        </p:sp>
        <p:sp>
          <p:nvSpPr>
            <p:cNvPr id="119" name="Rectangle 118"/>
            <p:cNvSpPr/>
            <p:nvPr/>
          </p:nvSpPr>
          <p:spPr>
            <a:xfrm>
              <a:off x="3962400" y="25862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20" name="Rectangle 119"/>
            <p:cNvSpPr/>
            <p:nvPr/>
          </p:nvSpPr>
          <p:spPr>
            <a:xfrm>
              <a:off x="5029200" y="22052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obj4</a:t>
              </a:r>
            </a:p>
          </p:txBody>
        </p:sp>
        <p:sp>
          <p:nvSpPr>
            <p:cNvPr id="121" name="Rectangle 120"/>
            <p:cNvSpPr/>
            <p:nvPr/>
          </p:nvSpPr>
          <p:spPr>
            <a:xfrm>
              <a:off x="5029200" y="25862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22" name="Rectangle 121"/>
            <p:cNvSpPr/>
            <p:nvPr/>
          </p:nvSpPr>
          <p:spPr>
            <a:xfrm>
              <a:off x="6096000" y="2205235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obj5</a:t>
              </a:r>
            </a:p>
          </p:txBody>
        </p:sp>
        <p:sp>
          <p:nvSpPr>
            <p:cNvPr id="123" name="Rectangle 122"/>
            <p:cNvSpPr/>
            <p:nvPr/>
          </p:nvSpPr>
          <p:spPr>
            <a:xfrm>
              <a:off x="6096000" y="2586235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19050"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457200" y="2205235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700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457200" y="2510035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600</a:t>
              </a:r>
            </a:p>
          </p:txBody>
        </p:sp>
        <p:cxnSp>
          <p:nvCxnSpPr>
            <p:cNvPr id="131" name="Straight Arrow Connector 130"/>
            <p:cNvCxnSpPr>
              <a:stCxn id="115" idx="3"/>
            </p:cNvCxnSpPr>
            <p:nvPr/>
          </p:nvCxnSpPr>
          <p:spPr>
            <a:xfrm flipV="1">
              <a:off x="2438400" y="22052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2" name="Straight Arrow Connector 131"/>
            <p:cNvCxnSpPr/>
            <p:nvPr/>
          </p:nvCxnSpPr>
          <p:spPr>
            <a:xfrm flipV="1">
              <a:off x="3505200" y="22052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/>
            <p:cNvCxnSpPr/>
            <p:nvPr/>
          </p:nvCxnSpPr>
          <p:spPr>
            <a:xfrm flipV="1">
              <a:off x="4572000" y="22052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Straight Arrow Connector 133"/>
            <p:cNvCxnSpPr/>
            <p:nvPr/>
          </p:nvCxnSpPr>
          <p:spPr>
            <a:xfrm flipV="1">
              <a:off x="5638800" y="2205235"/>
              <a:ext cx="457200" cy="495300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/>
            <p:cNvCxnSpPr>
              <a:endCxn id="115" idx="2"/>
            </p:cNvCxnSpPr>
            <p:nvPr/>
          </p:nvCxnSpPr>
          <p:spPr>
            <a:xfrm rot="5400000" flipH="1" flipV="1">
              <a:off x="1979712" y="2968724"/>
              <a:ext cx="307777" cy="1588"/>
            </a:xfrm>
            <a:prstGeom prst="straightConnector1">
              <a:avLst/>
            </a:prstGeom>
            <a:ln w="19050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Straight Connector 135"/>
            <p:cNvCxnSpPr/>
            <p:nvPr/>
          </p:nvCxnSpPr>
          <p:spPr>
            <a:xfrm>
              <a:off x="2133600" y="3122612"/>
              <a:ext cx="4267200" cy="1588"/>
            </a:xfrm>
            <a:prstGeom prst="line">
              <a:avLst/>
            </a:prstGeom>
            <a:ln w="190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>
              <a:endCxn id="123" idx="2"/>
            </p:cNvCxnSpPr>
            <p:nvPr/>
          </p:nvCxnSpPr>
          <p:spPr>
            <a:xfrm rot="5400000" flipH="1" flipV="1">
              <a:off x="6246912" y="2968724"/>
              <a:ext cx="307777" cy="1588"/>
            </a:xfrm>
            <a:prstGeom prst="line">
              <a:avLst/>
            </a:prstGeom>
            <a:ln w="19050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TextBox 137"/>
            <p:cNvSpPr txBox="1"/>
            <p:nvPr/>
          </p:nvSpPr>
          <p:spPr>
            <a:xfrm>
              <a:off x="6858000" y="1536818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SLL</a:t>
              </a: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6858000" y="2290127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CSLL</a:t>
              </a: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7620000" y="1307068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Item</a:t>
              </a:r>
            </a:p>
          </p:txBody>
        </p:sp>
        <p:sp>
          <p:nvSpPr>
            <p:cNvPr id="141" name="Rectangle 140"/>
            <p:cNvSpPr/>
            <p:nvPr/>
          </p:nvSpPr>
          <p:spPr>
            <a:xfrm>
              <a:off x="7696200" y="1676400"/>
              <a:ext cx="1371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Object data</a:t>
              </a:r>
            </a:p>
          </p:txBody>
        </p:sp>
        <p:sp>
          <p:nvSpPr>
            <p:cNvPr id="142" name="Rectangle 141"/>
            <p:cNvSpPr/>
            <p:nvPr/>
          </p:nvSpPr>
          <p:spPr>
            <a:xfrm>
              <a:off x="7696200" y="2057400"/>
              <a:ext cx="1371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next</a:t>
              </a:r>
            </a:p>
          </p:txBody>
        </p:sp>
        <p:sp>
          <p:nvSpPr>
            <p:cNvPr id="143" name="TextBox 142"/>
            <p:cNvSpPr txBox="1"/>
            <p:nvPr/>
          </p:nvSpPr>
          <p:spPr>
            <a:xfrm>
              <a:off x="7848600" y="5712023"/>
              <a:ext cx="10668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head</a:t>
              </a:r>
            </a:p>
          </p:txBody>
        </p:sp>
        <p:sp>
          <p:nvSpPr>
            <p:cNvPr id="144" name="TextBox 143"/>
            <p:cNvSpPr txBox="1"/>
            <p:nvPr/>
          </p:nvSpPr>
          <p:spPr>
            <a:xfrm>
              <a:off x="7848600" y="6019800"/>
              <a:ext cx="1066800" cy="304800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tail</a:t>
              </a:r>
            </a:p>
          </p:txBody>
        </p:sp>
        <p:sp>
          <p:nvSpPr>
            <p:cNvPr id="145" name="TextBox 144"/>
            <p:cNvSpPr txBox="1"/>
            <p:nvPr/>
          </p:nvSpPr>
          <p:spPr>
            <a:xfrm>
              <a:off x="7848600" y="5331023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List</a:t>
              </a:r>
            </a:p>
          </p:txBody>
        </p:sp>
        <p:sp>
          <p:nvSpPr>
            <p:cNvPr id="147" name="Rectangle 146"/>
            <p:cNvSpPr/>
            <p:nvPr/>
          </p:nvSpPr>
          <p:spPr>
            <a:xfrm>
              <a:off x="1828800" y="3812976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obj1</a:t>
              </a:r>
            </a:p>
          </p:txBody>
        </p:sp>
        <p:sp>
          <p:nvSpPr>
            <p:cNvPr id="148" name="Rectangle 147"/>
            <p:cNvSpPr/>
            <p:nvPr/>
          </p:nvSpPr>
          <p:spPr>
            <a:xfrm>
              <a:off x="1828800" y="4193976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49" name="Rectangle 148"/>
            <p:cNvSpPr/>
            <p:nvPr/>
          </p:nvSpPr>
          <p:spPr>
            <a:xfrm>
              <a:off x="2895600" y="3812976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obj2</a:t>
              </a:r>
            </a:p>
          </p:txBody>
        </p:sp>
        <p:sp>
          <p:nvSpPr>
            <p:cNvPr id="150" name="Rectangle 149"/>
            <p:cNvSpPr/>
            <p:nvPr/>
          </p:nvSpPr>
          <p:spPr>
            <a:xfrm>
              <a:off x="2895600" y="4193976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51" name="Rectangle 150"/>
            <p:cNvSpPr/>
            <p:nvPr/>
          </p:nvSpPr>
          <p:spPr>
            <a:xfrm>
              <a:off x="3962400" y="3812976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obj3</a:t>
              </a:r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3962400" y="4193976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5029200" y="3812976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obj4</a:t>
              </a:r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5029200" y="4193976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55" name="Rectangle 154"/>
            <p:cNvSpPr/>
            <p:nvPr/>
          </p:nvSpPr>
          <p:spPr>
            <a:xfrm>
              <a:off x="6096000" y="3812976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obj5</a:t>
              </a:r>
            </a:p>
          </p:txBody>
        </p:sp>
        <p:sp>
          <p:nvSpPr>
            <p:cNvPr id="156" name="Rectangle 155"/>
            <p:cNvSpPr/>
            <p:nvPr/>
          </p:nvSpPr>
          <p:spPr>
            <a:xfrm>
              <a:off x="6096000" y="4193976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</a:p>
          </p:txBody>
        </p:sp>
        <p:sp>
          <p:nvSpPr>
            <p:cNvPr id="157" name="TextBox 156"/>
            <p:cNvSpPr txBox="1"/>
            <p:nvPr/>
          </p:nvSpPr>
          <p:spPr>
            <a:xfrm>
              <a:off x="1752600" y="3508177"/>
              <a:ext cx="4572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2819400" y="3508176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59" name="TextBox 158"/>
            <p:cNvSpPr txBox="1"/>
            <p:nvPr/>
          </p:nvSpPr>
          <p:spPr>
            <a:xfrm>
              <a:off x="3886200" y="3508176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60" name="TextBox 159"/>
            <p:cNvSpPr txBox="1"/>
            <p:nvPr/>
          </p:nvSpPr>
          <p:spPr>
            <a:xfrm>
              <a:off x="4953000" y="3508176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6019800" y="3508176"/>
              <a:ext cx="609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457200" y="3812976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700</a:t>
              </a: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457200" y="4117776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600</a:t>
              </a:r>
            </a:p>
          </p:txBody>
        </p:sp>
        <p:cxnSp>
          <p:nvCxnSpPr>
            <p:cNvPr id="164" name="Straight Arrow Connector 163"/>
            <p:cNvCxnSpPr>
              <a:stCxn id="148" idx="3"/>
            </p:cNvCxnSpPr>
            <p:nvPr/>
          </p:nvCxnSpPr>
          <p:spPr>
            <a:xfrm flipV="1">
              <a:off x="2438400" y="3812976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/>
            <p:cNvCxnSpPr/>
            <p:nvPr/>
          </p:nvCxnSpPr>
          <p:spPr>
            <a:xfrm flipV="1">
              <a:off x="3505200" y="3812976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/>
            <p:cNvCxnSpPr/>
            <p:nvPr/>
          </p:nvCxnSpPr>
          <p:spPr>
            <a:xfrm flipV="1">
              <a:off x="4572000" y="3812976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Arrow Connector 166"/>
            <p:cNvCxnSpPr/>
            <p:nvPr/>
          </p:nvCxnSpPr>
          <p:spPr>
            <a:xfrm flipV="1">
              <a:off x="5638800" y="3812976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8" name="TextBox 167"/>
            <p:cNvSpPr txBox="1"/>
            <p:nvPr/>
          </p:nvSpPr>
          <p:spPr>
            <a:xfrm>
              <a:off x="6781800" y="4053244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DLL</a:t>
              </a:r>
            </a:p>
          </p:txBody>
        </p:sp>
        <p:sp>
          <p:nvSpPr>
            <p:cNvPr id="169" name="Rectangle 168"/>
            <p:cNvSpPr/>
            <p:nvPr/>
          </p:nvSpPr>
          <p:spPr>
            <a:xfrm>
              <a:off x="1828800" y="4422576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</a:p>
          </p:txBody>
        </p:sp>
        <p:sp>
          <p:nvSpPr>
            <p:cNvPr id="170" name="Rectangle 169"/>
            <p:cNvSpPr/>
            <p:nvPr/>
          </p:nvSpPr>
          <p:spPr>
            <a:xfrm>
              <a:off x="2895600" y="4422576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171" name="Rectangle 170"/>
            <p:cNvSpPr/>
            <p:nvPr/>
          </p:nvSpPr>
          <p:spPr>
            <a:xfrm>
              <a:off x="3962400" y="4422576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72" name="Rectangle 171"/>
            <p:cNvSpPr/>
            <p:nvPr/>
          </p:nvSpPr>
          <p:spPr>
            <a:xfrm>
              <a:off x="5029200" y="4422576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73" name="Rectangle 172"/>
            <p:cNvSpPr/>
            <p:nvPr/>
          </p:nvSpPr>
          <p:spPr>
            <a:xfrm>
              <a:off x="6096000" y="4422576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cxnSp>
          <p:nvCxnSpPr>
            <p:cNvPr id="174" name="Straight Arrow Connector 173"/>
            <p:cNvCxnSpPr/>
            <p:nvPr/>
          </p:nvCxnSpPr>
          <p:spPr>
            <a:xfrm rot="10800000">
              <a:off x="4572000" y="4574977"/>
              <a:ext cx="457200" cy="1588"/>
            </a:xfrm>
            <a:prstGeom prst="straightConnector1">
              <a:avLst/>
            </a:prstGeom>
            <a:ln w="28575">
              <a:solidFill>
                <a:schemeClr val="bg2">
                  <a:lumMod val="9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5" name="Straight Arrow Connector 174"/>
            <p:cNvCxnSpPr/>
            <p:nvPr/>
          </p:nvCxnSpPr>
          <p:spPr>
            <a:xfrm rot="10800000">
              <a:off x="3505200" y="4573387"/>
              <a:ext cx="457200" cy="1588"/>
            </a:xfrm>
            <a:prstGeom prst="straightConnector1">
              <a:avLst/>
            </a:prstGeom>
            <a:ln w="28575">
              <a:solidFill>
                <a:schemeClr val="bg2">
                  <a:lumMod val="9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6" name="Straight Arrow Connector 175"/>
            <p:cNvCxnSpPr/>
            <p:nvPr/>
          </p:nvCxnSpPr>
          <p:spPr>
            <a:xfrm rot="10800000">
              <a:off x="2438400" y="4574976"/>
              <a:ext cx="457200" cy="1588"/>
            </a:xfrm>
            <a:prstGeom prst="straightConnector1">
              <a:avLst/>
            </a:prstGeom>
            <a:ln w="28575">
              <a:solidFill>
                <a:schemeClr val="bg2">
                  <a:lumMod val="9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7" name="Straight Arrow Connector 176"/>
            <p:cNvCxnSpPr/>
            <p:nvPr/>
          </p:nvCxnSpPr>
          <p:spPr>
            <a:xfrm rot="10800000">
              <a:off x="5638800" y="4574976"/>
              <a:ext cx="457200" cy="1588"/>
            </a:xfrm>
            <a:prstGeom prst="straightConnector1">
              <a:avLst/>
            </a:prstGeom>
            <a:ln w="28575">
              <a:solidFill>
                <a:schemeClr val="bg2">
                  <a:lumMod val="9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8" name="Rectangle 177"/>
            <p:cNvSpPr/>
            <p:nvPr/>
          </p:nvSpPr>
          <p:spPr>
            <a:xfrm>
              <a:off x="1828800" y="4870647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obj1</a:t>
              </a:r>
            </a:p>
          </p:txBody>
        </p:sp>
        <p:sp>
          <p:nvSpPr>
            <p:cNvPr id="179" name="Rectangle 178"/>
            <p:cNvSpPr/>
            <p:nvPr/>
          </p:nvSpPr>
          <p:spPr>
            <a:xfrm>
              <a:off x="1828800" y="5251647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80" name="Rectangle 179"/>
            <p:cNvSpPr/>
            <p:nvPr/>
          </p:nvSpPr>
          <p:spPr>
            <a:xfrm>
              <a:off x="2895600" y="4870647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obj2</a:t>
              </a:r>
            </a:p>
          </p:txBody>
        </p:sp>
        <p:sp>
          <p:nvSpPr>
            <p:cNvPr id="181" name="Rectangle 180"/>
            <p:cNvSpPr/>
            <p:nvPr/>
          </p:nvSpPr>
          <p:spPr>
            <a:xfrm>
              <a:off x="2895600" y="5251647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82" name="Rectangle 181"/>
            <p:cNvSpPr/>
            <p:nvPr/>
          </p:nvSpPr>
          <p:spPr>
            <a:xfrm>
              <a:off x="3962400" y="4870647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obj3</a:t>
              </a:r>
            </a:p>
          </p:txBody>
        </p:sp>
        <p:sp>
          <p:nvSpPr>
            <p:cNvPr id="183" name="Rectangle 182"/>
            <p:cNvSpPr/>
            <p:nvPr/>
          </p:nvSpPr>
          <p:spPr>
            <a:xfrm>
              <a:off x="3962400" y="5251647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84" name="Rectangle 183"/>
            <p:cNvSpPr/>
            <p:nvPr/>
          </p:nvSpPr>
          <p:spPr>
            <a:xfrm>
              <a:off x="5029200" y="4870647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obj4</a:t>
              </a:r>
            </a:p>
          </p:txBody>
        </p:sp>
        <p:sp>
          <p:nvSpPr>
            <p:cNvPr id="185" name="Rectangle 184"/>
            <p:cNvSpPr/>
            <p:nvPr/>
          </p:nvSpPr>
          <p:spPr>
            <a:xfrm>
              <a:off x="5029200" y="5251647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86" name="Rectangle 185"/>
            <p:cNvSpPr/>
            <p:nvPr/>
          </p:nvSpPr>
          <p:spPr>
            <a:xfrm>
              <a:off x="6096000" y="4870647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obj5</a:t>
              </a:r>
            </a:p>
          </p:txBody>
        </p:sp>
        <p:sp>
          <p:nvSpPr>
            <p:cNvPr id="187" name="Rectangle 186"/>
            <p:cNvSpPr/>
            <p:nvPr/>
          </p:nvSpPr>
          <p:spPr>
            <a:xfrm>
              <a:off x="6096000" y="5251647"/>
              <a:ext cx="609600" cy="228600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457200" y="4870647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700</a:t>
              </a:r>
            </a:p>
          </p:txBody>
        </p:sp>
        <p:sp>
          <p:nvSpPr>
            <p:cNvPr id="194" name="TextBox 193"/>
            <p:cNvSpPr txBox="1"/>
            <p:nvPr/>
          </p:nvSpPr>
          <p:spPr>
            <a:xfrm>
              <a:off x="457200" y="5175447"/>
              <a:ext cx="990600" cy="307777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600</a:t>
              </a:r>
            </a:p>
          </p:txBody>
        </p:sp>
        <p:cxnSp>
          <p:nvCxnSpPr>
            <p:cNvPr id="195" name="Straight Arrow Connector 194"/>
            <p:cNvCxnSpPr>
              <a:stCxn id="179" idx="3"/>
            </p:cNvCxnSpPr>
            <p:nvPr/>
          </p:nvCxnSpPr>
          <p:spPr>
            <a:xfrm flipV="1">
              <a:off x="2438400" y="4870647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6" name="Straight Arrow Connector 195"/>
            <p:cNvCxnSpPr/>
            <p:nvPr/>
          </p:nvCxnSpPr>
          <p:spPr>
            <a:xfrm flipV="1">
              <a:off x="3505200" y="4870647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7" name="Straight Arrow Connector 196"/>
            <p:cNvCxnSpPr/>
            <p:nvPr/>
          </p:nvCxnSpPr>
          <p:spPr>
            <a:xfrm flipV="1">
              <a:off x="4572000" y="4870647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Straight Arrow Connector 197"/>
            <p:cNvCxnSpPr/>
            <p:nvPr/>
          </p:nvCxnSpPr>
          <p:spPr>
            <a:xfrm flipV="1">
              <a:off x="5638800" y="4870647"/>
              <a:ext cx="457200" cy="495300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9" name="Rectangle 198"/>
            <p:cNvSpPr/>
            <p:nvPr/>
          </p:nvSpPr>
          <p:spPr>
            <a:xfrm>
              <a:off x="1828800" y="5484812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200" name="Rectangle 199"/>
            <p:cNvSpPr/>
            <p:nvPr/>
          </p:nvSpPr>
          <p:spPr>
            <a:xfrm>
              <a:off x="2895600" y="5484812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201" name="Rectangle 200"/>
            <p:cNvSpPr/>
            <p:nvPr/>
          </p:nvSpPr>
          <p:spPr>
            <a:xfrm>
              <a:off x="3962400" y="5484812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202" name="Rectangle 201"/>
            <p:cNvSpPr/>
            <p:nvPr/>
          </p:nvSpPr>
          <p:spPr>
            <a:xfrm>
              <a:off x="5029200" y="5484812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203" name="Rectangle 202"/>
            <p:cNvSpPr/>
            <p:nvPr/>
          </p:nvSpPr>
          <p:spPr>
            <a:xfrm>
              <a:off x="6096000" y="5484812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cxnSp>
          <p:nvCxnSpPr>
            <p:cNvPr id="204" name="Straight Arrow Connector 203"/>
            <p:cNvCxnSpPr/>
            <p:nvPr/>
          </p:nvCxnSpPr>
          <p:spPr>
            <a:xfrm rot="5400000" flipH="1" flipV="1">
              <a:off x="1751906" y="5862736"/>
              <a:ext cx="307777" cy="1588"/>
            </a:xfrm>
            <a:prstGeom prst="straightConnector1">
              <a:avLst/>
            </a:prstGeom>
            <a:ln w="28575">
              <a:solidFill>
                <a:srgbClr val="FFFF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Straight Connector 204"/>
            <p:cNvCxnSpPr/>
            <p:nvPr/>
          </p:nvCxnSpPr>
          <p:spPr>
            <a:xfrm>
              <a:off x="1905000" y="6018212"/>
              <a:ext cx="4724400" cy="1588"/>
            </a:xfrm>
            <a:prstGeom prst="line">
              <a:avLst/>
            </a:prstGeom>
            <a:ln w="2857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6" name="Straight Connector 205"/>
            <p:cNvCxnSpPr/>
            <p:nvPr/>
          </p:nvCxnSpPr>
          <p:spPr>
            <a:xfrm rot="5400000" flipH="1" flipV="1">
              <a:off x="6363096" y="5751116"/>
              <a:ext cx="532607" cy="1"/>
            </a:xfrm>
            <a:prstGeom prst="line">
              <a:avLst/>
            </a:prstGeom>
            <a:ln w="28575">
              <a:solidFill>
                <a:srgbClr val="FFFF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Straight Arrow Connector 206"/>
            <p:cNvCxnSpPr/>
            <p:nvPr/>
          </p:nvCxnSpPr>
          <p:spPr>
            <a:xfrm rot="10800000">
              <a:off x="4572001" y="5635623"/>
              <a:ext cx="457200" cy="1588"/>
            </a:xfrm>
            <a:prstGeom prst="straightConnector1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8" name="Straight Arrow Connector 207"/>
            <p:cNvCxnSpPr/>
            <p:nvPr/>
          </p:nvCxnSpPr>
          <p:spPr>
            <a:xfrm rot="10800000">
              <a:off x="3505201" y="5634033"/>
              <a:ext cx="457200" cy="1588"/>
            </a:xfrm>
            <a:prstGeom prst="straightConnector1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" name="Straight Arrow Connector 208"/>
            <p:cNvCxnSpPr/>
            <p:nvPr/>
          </p:nvCxnSpPr>
          <p:spPr>
            <a:xfrm rot="10800000">
              <a:off x="2438401" y="5635622"/>
              <a:ext cx="457200" cy="1588"/>
            </a:xfrm>
            <a:prstGeom prst="straightConnector1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0" name="Straight Arrow Connector 209"/>
            <p:cNvCxnSpPr/>
            <p:nvPr/>
          </p:nvCxnSpPr>
          <p:spPr>
            <a:xfrm rot="10800000">
              <a:off x="5638801" y="5635622"/>
              <a:ext cx="457200" cy="1588"/>
            </a:xfrm>
            <a:prstGeom prst="straightConnector1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Straight Arrow Connector 210"/>
            <p:cNvCxnSpPr>
              <a:endCxn id="199" idx="2"/>
            </p:cNvCxnSpPr>
            <p:nvPr/>
          </p:nvCxnSpPr>
          <p:spPr>
            <a:xfrm rot="5400000" flipH="1" flipV="1">
              <a:off x="2019300" y="5827712"/>
              <a:ext cx="228600" cy="1588"/>
            </a:xfrm>
            <a:prstGeom prst="straightConnector1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" name="Straight Arrow Connector 211"/>
            <p:cNvCxnSpPr/>
            <p:nvPr/>
          </p:nvCxnSpPr>
          <p:spPr>
            <a:xfrm rot="10800000">
              <a:off x="2133600" y="5942012"/>
              <a:ext cx="4114800" cy="1588"/>
            </a:xfrm>
            <a:prstGeom prst="straightConnector1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dash"/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3" name="Straight Arrow Connector 212"/>
            <p:cNvCxnSpPr/>
            <p:nvPr/>
          </p:nvCxnSpPr>
          <p:spPr>
            <a:xfrm rot="16200000" flipV="1">
              <a:off x="6134101" y="5827711"/>
              <a:ext cx="228600" cy="2"/>
            </a:xfrm>
            <a:prstGeom prst="straightConnector1">
              <a:avLst/>
            </a:prstGeom>
            <a:ln w="28575">
              <a:solidFill>
                <a:schemeClr val="tx2">
                  <a:lumMod val="40000"/>
                  <a:lumOff val="60000"/>
                </a:schemeClr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4" name="TextBox 213"/>
            <p:cNvSpPr txBox="1"/>
            <p:nvPr/>
          </p:nvSpPr>
          <p:spPr>
            <a:xfrm>
              <a:off x="6781800" y="504086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b="1" dirty="0">
                  <a:solidFill>
                    <a:srgbClr val="FFFF00"/>
                  </a:solidFill>
                  <a:latin typeface="Times New Roman" pitchFamily="18" charset="0"/>
                  <a:cs typeface="Times New Roman" pitchFamily="18" charset="0"/>
                </a:rPr>
                <a:t>CDLL</a:t>
              </a:r>
            </a:p>
          </p:txBody>
        </p:sp>
        <p:sp>
          <p:nvSpPr>
            <p:cNvPr id="215" name="TextBox 214"/>
            <p:cNvSpPr txBox="1"/>
            <p:nvPr/>
          </p:nvSpPr>
          <p:spPr>
            <a:xfrm>
              <a:off x="7620000" y="3657600"/>
              <a:ext cx="1295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Item</a:t>
              </a:r>
            </a:p>
          </p:txBody>
        </p:sp>
        <p:sp>
          <p:nvSpPr>
            <p:cNvPr id="216" name="Rectangle 215"/>
            <p:cNvSpPr/>
            <p:nvPr/>
          </p:nvSpPr>
          <p:spPr>
            <a:xfrm>
              <a:off x="7696200" y="4114800"/>
              <a:ext cx="1371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Object data</a:t>
              </a:r>
            </a:p>
          </p:txBody>
        </p:sp>
        <p:sp>
          <p:nvSpPr>
            <p:cNvPr id="217" name="Rectangle 216"/>
            <p:cNvSpPr/>
            <p:nvPr/>
          </p:nvSpPr>
          <p:spPr>
            <a:xfrm>
              <a:off x="7696200" y="4495800"/>
              <a:ext cx="1371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next</a:t>
              </a:r>
            </a:p>
          </p:txBody>
        </p:sp>
        <p:sp>
          <p:nvSpPr>
            <p:cNvPr id="218" name="Rectangle 217"/>
            <p:cNvSpPr/>
            <p:nvPr/>
          </p:nvSpPr>
          <p:spPr>
            <a:xfrm>
              <a:off x="7696200" y="4724400"/>
              <a:ext cx="1371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previous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LLs…: Representing Item/List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9906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Representing an item(element)</a:t>
            </a:r>
            <a:r>
              <a:rPr lang="en-US" dirty="0"/>
              <a:t>:</a:t>
            </a:r>
          </a:p>
          <a:p>
            <a:r>
              <a:rPr lang="en-US" b="1" dirty="0">
                <a:solidFill>
                  <a:srgbClr val="FFC000"/>
                </a:solidFill>
              </a:rPr>
              <a:t>Representing a linked list</a:t>
            </a:r>
            <a:r>
              <a:rPr lang="en-US" b="1" dirty="0"/>
              <a:t>:</a:t>
            </a:r>
            <a:r>
              <a:rPr lang="en-US" dirty="0"/>
              <a:t> </a:t>
            </a:r>
          </a:p>
          <a:p>
            <a:endParaRPr lang="en-US" dirty="0"/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457200" y="4267200"/>
            <a:ext cx="8229600" cy="20574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list can be managed using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a reference to the beginning item only but we should use both references to the head and the tail of the list. The reference to the tail helps the add-last operation a new item to the end of a list with the best performance (O(1)). If not, </a:t>
            </a:r>
            <a:r>
              <a:rPr lang="en-US" sz="2000" b="1" dirty="0">
                <a:solidFill>
                  <a:srgbClr val="FFFF00"/>
                </a:solidFill>
              </a:rPr>
              <a:t>when we want to add 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new item to the end of a list, we  need to move from the beginning to the end of the list (O(n)).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FFFF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2373868"/>
            <a:ext cx="2286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Item in SLL</a:t>
            </a:r>
          </a:p>
        </p:txBody>
      </p:sp>
      <p:grpSp>
        <p:nvGrpSpPr>
          <p:cNvPr id="20" name="Group 19"/>
          <p:cNvGrpSpPr/>
          <p:nvPr/>
        </p:nvGrpSpPr>
        <p:grpSpPr>
          <a:xfrm>
            <a:off x="914400" y="2209800"/>
            <a:ext cx="7467600" cy="1828800"/>
            <a:chOff x="685800" y="2362200"/>
            <a:chExt cx="7467600" cy="1828800"/>
          </a:xfrm>
        </p:grpSpPr>
        <p:sp>
          <p:nvSpPr>
            <p:cNvPr id="8" name="Rectangle 7"/>
            <p:cNvSpPr/>
            <p:nvPr/>
          </p:nvSpPr>
          <p:spPr>
            <a:xfrm>
              <a:off x="685800" y="2971800"/>
              <a:ext cx="2133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Object data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685800" y="3352800"/>
              <a:ext cx="21336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next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6248400" y="2971800"/>
              <a:ext cx="19050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head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248400" y="3352800"/>
              <a:ext cx="1905000" cy="461665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tail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248400" y="2433935"/>
              <a:ext cx="1905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Linked List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124200" y="2362200"/>
              <a:ext cx="25146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Item in DLL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3352800" y="2960132"/>
              <a:ext cx="2286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Object data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3352800" y="3341132"/>
              <a:ext cx="22860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next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3352800" y="3733800"/>
              <a:ext cx="2286000" cy="4572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Item previous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LLs…: Comparing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1219200" cy="129540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SLL and DLL:</a:t>
            </a:r>
            <a:endParaRPr lang="en-US" dirty="0"/>
          </a:p>
        </p:txBody>
      </p:sp>
      <p:sp>
        <p:nvSpPr>
          <p:cNvPr id="66" name="Slide Number Placeholder 6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14</a:t>
            </a:fld>
            <a:endParaRPr kumimoji="0" lang="en-US" dirty="0"/>
          </a:p>
        </p:txBody>
      </p:sp>
      <p:sp>
        <p:nvSpPr>
          <p:cNvPr id="67" name="Footer Placeholder 6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457200" y="3835400"/>
            <a:ext cx="7391400" cy="431800"/>
          </a:xfrm>
          <a:prstGeom prst="rect">
            <a:avLst/>
          </a:prstGeom>
        </p:spPr>
        <p:txBody>
          <a:bodyPr vert="horz">
            <a:no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Circular (CLL) </a:t>
            </a:r>
            <a:r>
              <a:rPr lang="en-US" sz="2400" b="1" dirty="0">
                <a:solidFill>
                  <a:srgbClr val="FFC000"/>
                </a:solidFill>
              </a:rPr>
              <a:t> and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Non - circular LL (LL)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828800" y="1066800"/>
          <a:ext cx="6934200" cy="2748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5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Memory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SLL, only one reference is added to each item</a:t>
                      </a:r>
                    </a:p>
                    <a:p>
                      <a:r>
                        <a:rPr lang="en-US" dirty="0"/>
                        <a:t>In DLL, two references are added to each item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 Memory cost of DLL is greater than SLL.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Flexibility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SLL</a:t>
                      </a:r>
                      <a:r>
                        <a:rPr lang="en-US" baseline="0" dirty="0"/>
                        <a:t> has only one path (one accessing direction)</a:t>
                      </a:r>
                    </a:p>
                    <a:p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Ex: for (t=head; t!=null; t= t.next)</a:t>
                      </a:r>
                      <a:endParaRPr lang="en-US" baseline="0" dirty="0"/>
                    </a:p>
                    <a:p>
                      <a:r>
                        <a:rPr lang="en-US" baseline="0" dirty="0"/>
                        <a:t>DLL has two paths </a:t>
                      </a:r>
                      <a:r>
                        <a:rPr lang="en-US" baseline="0" dirty="0">
                          <a:sym typeface="Wingdings" pitchFamily="2" charset="2"/>
                        </a:rPr>
                        <a:t> DLL is more flexible than SLL.</a:t>
                      </a:r>
                    </a:p>
                    <a:p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Ex: for (t=head; t!=null; t= t.next)</a:t>
                      </a:r>
                    </a:p>
                    <a:p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Ex: for (t=tail; t!=null; t= t.previous)</a:t>
                      </a:r>
                      <a:endParaRPr lang="en-US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914400" y="4368800"/>
          <a:ext cx="7924800" cy="2108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86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Evaluation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Identifying</a:t>
                      </a:r>
                      <a:r>
                        <a:rPr lang="en-US" baseline="0" dirty="0"/>
                        <a:t> the last item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 LL, the last</a:t>
                      </a:r>
                      <a:r>
                        <a:rPr lang="en-US" baseline="0" dirty="0"/>
                        <a:t> item of a path has the reference is NULL</a:t>
                      </a:r>
                    </a:p>
                    <a:p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Ex: for (t=head; t!=null; t= t.next)</a:t>
                      </a:r>
                    </a:p>
                    <a:p>
                      <a:r>
                        <a:rPr lang="en-US" baseline="0" dirty="0"/>
                        <a:t>In CLL, the </a:t>
                      </a:r>
                      <a:r>
                        <a:rPr lang="en-US" dirty="0"/>
                        <a:t>last</a:t>
                      </a:r>
                      <a:r>
                        <a:rPr lang="en-US" baseline="0" dirty="0"/>
                        <a:t> item of a path has the reference is the path’s beginning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Ex: for (t=head; t.next!=head; t= t.next)</a:t>
                      </a:r>
                    </a:p>
                    <a:p>
                      <a:r>
                        <a:rPr lang="en-US" dirty="0">
                          <a:sym typeface="Wingdings" pitchFamily="2" charset="2"/>
                        </a:rPr>
                        <a:t> CLL cause more complex when it is implemented. 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LLs…:  Operations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173480"/>
            <a:ext cx="8686800" cy="4922520"/>
          </a:xfrm>
        </p:spPr>
        <p:txBody>
          <a:bodyPr>
            <a:noAutofit/>
          </a:bodyPr>
          <a:lstStyle/>
          <a:p>
            <a:r>
              <a:rPr lang="en-US" sz="2000" b="1" dirty="0"/>
              <a:t>Operations on DLL and CLL:</a:t>
            </a:r>
          </a:p>
          <a:p>
            <a:pPr lvl="1"/>
            <a:r>
              <a:rPr lang="en-US" sz="2000" b="1" dirty="0"/>
              <a:t>They are similar to operations on SLL</a:t>
            </a:r>
          </a:p>
          <a:p>
            <a:pPr lvl="1"/>
            <a:r>
              <a:rPr lang="en-US" sz="2000" b="1" dirty="0"/>
              <a:t>Pay attentions:</a:t>
            </a:r>
          </a:p>
          <a:p>
            <a:pPr lvl="2"/>
            <a:r>
              <a:rPr lang="en-US" sz="1800" b="1" dirty="0"/>
              <a:t>Update the reference previous in DLL</a:t>
            </a:r>
          </a:p>
          <a:p>
            <a:pPr lvl="2"/>
            <a:r>
              <a:rPr lang="en-US" sz="1800" b="1" dirty="0"/>
              <a:t>In CLLs, the tail item links to the head item.</a:t>
            </a:r>
          </a:p>
          <a:p>
            <a:r>
              <a:rPr lang="en-US" dirty="0"/>
              <a:t>So, only basic operations on SLL are introduced including</a:t>
            </a:r>
            <a:r>
              <a:rPr lang="en-US" sz="2000" b="1" dirty="0"/>
              <a:t>: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Add the data x to the beginning / the end of  a SLL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Add data x to the position after the reference ref of a SLL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Searching the first existence of  the data x in a SLL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Remove the first existence of  the data x in a SLL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Traversing items in a list (this operation will be introduced in the assignment) 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Sorting a SLL</a:t>
            </a:r>
          </a:p>
          <a:p>
            <a:pPr lvl="1"/>
            <a:r>
              <a:rPr lang="en-US" sz="2000" b="1" dirty="0">
                <a:solidFill>
                  <a:srgbClr val="FFFF00"/>
                </a:solidFill>
              </a:rPr>
              <a:t>Reversing a SLL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15</a:t>
            </a:fld>
            <a:endParaRPr kumimoji="0"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Adding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5791200" cy="2209800"/>
          </a:xfrm>
        </p:spPr>
        <p:txBody>
          <a:bodyPr>
            <a:normAutofit fontScale="77500" lnSpcReduction="20000"/>
          </a:bodyPr>
          <a:lstStyle/>
          <a:p>
            <a:r>
              <a:rPr lang="en-US" sz="2800" b="1" dirty="0">
                <a:solidFill>
                  <a:srgbClr val="FFFF00"/>
                </a:solidFill>
              </a:rPr>
              <a:t>Add the data x to the beginning of a SLL</a:t>
            </a:r>
          </a:p>
          <a:p>
            <a:pPr>
              <a:buNone/>
            </a:pPr>
            <a:r>
              <a:rPr lang="en-US" b="1" dirty="0"/>
              <a:t>Item p = new Item(x);</a:t>
            </a:r>
          </a:p>
          <a:p>
            <a:pPr>
              <a:buNone/>
            </a:pPr>
            <a:r>
              <a:rPr lang="en-US" b="1" dirty="0"/>
              <a:t>if (head==null) head=tail = p;</a:t>
            </a:r>
          </a:p>
          <a:p>
            <a:pPr>
              <a:buNone/>
            </a:pPr>
            <a:r>
              <a:rPr lang="en-US" b="1" dirty="0"/>
              <a:t>else {</a:t>
            </a:r>
          </a:p>
          <a:p>
            <a:pPr>
              <a:buNone/>
            </a:pPr>
            <a:r>
              <a:rPr lang="en-US" b="1" dirty="0"/>
              <a:t>        p.next = head;</a:t>
            </a:r>
          </a:p>
          <a:p>
            <a:pPr>
              <a:buNone/>
            </a:pPr>
            <a:r>
              <a:rPr lang="en-US" b="1" dirty="0"/>
              <a:t>        head = p;</a:t>
            </a:r>
          </a:p>
          <a:p>
            <a:pPr>
              <a:buNone/>
            </a:pPr>
            <a:r>
              <a:rPr lang="en-US" b="1" dirty="0"/>
              <a:t>}</a:t>
            </a:r>
            <a:endParaRPr lang="en-US" dirty="0"/>
          </a:p>
        </p:txBody>
      </p:sp>
      <p:sp>
        <p:nvSpPr>
          <p:cNvPr id="33" name="Slide Number Placeholder 3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16</a:t>
            </a:fld>
            <a:endParaRPr kumimoji="0" lang="en-US" dirty="0"/>
          </a:p>
        </p:txBody>
      </p:sp>
      <p:sp>
        <p:nvSpPr>
          <p:cNvPr id="34" name="Footer Placeholder 3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grpSp>
        <p:nvGrpSpPr>
          <p:cNvPr id="63" name="Group 62"/>
          <p:cNvGrpSpPr/>
          <p:nvPr/>
        </p:nvGrpSpPr>
        <p:grpSpPr>
          <a:xfrm>
            <a:off x="990600" y="1459468"/>
            <a:ext cx="7543800" cy="4560332"/>
            <a:chOff x="457200" y="1154668"/>
            <a:chExt cx="7543800" cy="4560332"/>
          </a:xfrm>
        </p:grpSpPr>
        <p:grpSp>
          <p:nvGrpSpPr>
            <p:cNvPr id="55" name="Group 54"/>
            <p:cNvGrpSpPr/>
            <p:nvPr/>
          </p:nvGrpSpPr>
          <p:grpSpPr>
            <a:xfrm>
              <a:off x="457200" y="1154668"/>
              <a:ext cx="7543800" cy="4560332"/>
              <a:chOff x="457200" y="1154668"/>
              <a:chExt cx="7543800" cy="4560332"/>
            </a:xfrm>
          </p:grpSpPr>
          <p:sp>
            <p:nvSpPr>
              <p:cNvPr id="100" name="TextBox 99"/>
              <p:cNvSpPr txBox="1"/>
              <p:nvPr/>
            </p:nvSpPr>
            <p:spPr>
              <a:xfrm>
                <a:off x="6019800" y="2286000"/>
                <a:ext cx="198120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head: null </a:t>
                </a:r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 700</a:t>
                </a:r>
                <a:endPara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1" name="TextBox 100"/>
              <p:cNvSpPr txBox="1"/>
              <p:nvPr/>
            </p:nvSpPr>
            <p:spPr>
              <a:xfrm>
                <a:off x="6019800" y="2590800"/>
                <a:ext cx="198120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tail: null </a:t>
                </a:r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 700</a:t>
                </a:r>
                <a:endPara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1219200" y="3810000"/>
                <a:ext cx="1066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x</a:t>
                </a:r>
              </a:p>
            </p:txBody>
          </p:sp>
          <p:sp>
            <p:nvSpPr>
              <p:cNvPr id="107" name="Rectangle 106"/>
              <p:cNvSpPr/>
              <p:nvPr/>
            </p:nvSpPr>
            <p:spPr>
              <a:xfrm>
                <a:off x="1219200" y="4191000"/>
                <a:ext cx="10668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null</a:t>
                </a:r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</a:t>
                </a:r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108" name="Rectangle 107"/>
              <p:cNvSpPr/>
              <p:nvPr/>
            </p:nvSpPr>
            <p:spPr>
              <a:xfrm>
                <a:off x="2819400" y="3810000"/>
                <a:ext cx="8382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obj1</a:t>
                </a:r>
              </a:p>
            </p:txBody>
          </p:sp>
          <p:sp>
            <p:nvSpPr>
              <p:cNvPr id="109" name="Rectangle 108"/>
              <p:cNvSpPr/>
              <p:nvPr/>
            </p:nvSpPr>
            <p:spPr>
              <a:xfrm>
                <a:off x="2819400" y="4191000"/>
                <a:ext cx="8382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800</a:t>
                </a:r>
              </a:p>
            </p:txBody>
          </p:sp>
          <p:sp>
            <p:nvSpPr>
              <p:cNvPr id="110" name="Rectangle 109"/>
              <p:cNvSpPr/>
              <p:nvPr/>
            </p:nvSpPr>
            <p:spPr>
              <a:xfrm>
                <a:off x="4191000" y="38100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obj2</a:t>
                </a:r>
              </a:p>
            </p:txBody>
          </p:sp>
          <p:sp>
            <p:nvSpPr>
              <p:cNvPr id="111" name="Rectangle 110"/>
              <p:cNvSpPr/>
              <p:nvPr/>
            </p:nvSpPr>
            <p:spPr>
              <a:xfrm>
                <a:off x="4191000" y="41910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400</a:t>
                </a:r>
              </a:p>
            </p:txBody>
          </p:sp>
          <p:sp>
            <p:nvSpPr>
              <p:cNvPr id="112" name="Rectangle 111"/>
              <p:cNvSpPr/>
              <p:nvPr/>
            </p:nvSpPr>
            <p:spPr>
              <a:xfrm>
                <a:off x="5638800" y="3810000"/>
                <a:ext cx="8382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obj3</a:t>
                </a:r>
              </a:p>
            </p:txBody>
          </p:sp>
          <p:sp>
            <p:nvSpPr>
              <p:cNvPr id="113" name="Rectangle 112"/>
              <p:cNvSpPr/>
              <p:nvPr/>
            </p:nvSpPr>
            <p:spPr>
              <a:xfrm>
                <a:off x="5638800" y="4191000"/>
                <a:ext cx="8382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600</a:t>
                </a:r>
              </a:p>
            </p:txBody>
          </p:sp>
          <p:sp>
            <p:nvSpPr>
              <p:cNvPr id="114" name="Rectangle 113"/>
              <p:cNvSpPr/>
              <p:nvPr/>
            </p:nvSpPr>
            <p:spPr>
              <a:xfrm>
                <a:off x="7010400" y="38100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obj4</a:t>
                </a:r>
              </a:p>
            </p:txBody>
          </p:sp>
          <p:sp>
            <p:nvSpPr>
              <p:cNvPr id="115" name="Rectangle 114"/>
              <p:cNvSpPr/>
              <p:nvPr/>
            </p:nvSpPr>
            <p:spPr>
              <a:xfrm>
                <a:off x="7010400" y="41910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null</a:t>
                </a:r>
              </a:p>
            </p:txBody>
          </p:sp>
          <p:sp>
            <p:nvSpPr>
              <p:cNvPr id="117" name="TextBox 116"/>
              <p:cNvSpPr txBox="1"/>
              <p:nvPr/>
            </p:nvSpPr>
            <p:spPr>
              <a:xfrm>
                <a:off x="2895600" y="4495800"/>
                <a:ext cx="8382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118" name="TextBox 117"/>
              <p:cNvSpPr txBox="1"/>
              <p:nvPr/>
            </p:nvSpPr>
            <p:spPr>
              <a:xfrm>
                <a:off x="4343400" y="44958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800</a:t>
                </a:r>
              </a:p>
            </p:txBody>
          </p:sp>
          <p:sp>
            <p:nvSpPr>
              <p:cNvPr id="119" name="TextBox 118"/>
              <p:cNvSpPr txBox="1"/>
              <p:nvPr/>
            </p:nvSpPr>
            <p:spPr>
              <a:xfrm>
                <a:off x="5791200" y="44958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400</a:t>
                </a:r>
              </a:p>
            </p:txBody>
          </p:sp>
          <p:sp>
            <p:nvSpPr>
              <p:cNvPr id="120" name="TextBox 119"/>
              <p:cNvSpPr txBox="1"/>
              <p:nvPr/>
            </p:nvSpPr>
            <p:spPr>
              <a:xfrm>
                <a:off x="7239000" y="4495800"/>
                <a:ext cx="6096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600</a:t>
                </a:r>
              </a:p>
            </p:txBody>
          </p:sp>
          <p:cxnSp>
            <p:nvCxnSpPr>
              <p:cNvPr id="121" name="Straight Arrow Connector 120"/>
              <p:cNvCxnSpPr>
                <a:stCxn id="107" idx="3"/>
                <a:endCxn id="109" idx="1"/>
              </p:cNvCxnSpPr>
              <p:nvPr/>
            </p:nvCxnSpPr>
            <p:spPr>
              <a:xfrm>
                <a:off x="2286000" y="43434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2" name="Straight Arrow Connector 121"/>
              <p:cNvCxnSpPr>
                <a:stCxn id="109" idx="3"/>
                <a:endCxn id="111" idx="1"/>
              </p:cNvCxnSpPr>
              <p:nvPr/>
            </p:nvCxnSpPr>
            <p:spPr>
              <a:xfrm>
                <a:off x="3657600" y="43434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Straight Arrow Connector 122"/>
              <p:cNvCxnSpPr>
                <a:stCxn id="111" idx="3"/>
                <a:endCxn id="113" idx="1"/>
              </p:cNvCxnSpPr>
              <p:nvPr/>
            </p:nvCxnSpPr>
            <p:spPr>
              <a:xfrm>
                <a:off x="5105400" y="43434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Straight Arrow Connector 123"/>
              <p:cNvCxnSpPr>
                <a:stCxn id="113" idx="3"/>
                <a:endCxn id="115" idx="1"/>
              </p:cNvCxnSpPr>
              <p:nvPr/>
            </p:nvCxnSpPr>
            <p:spPr>
              <a:xfrm>
                <a:off x="6477000" y="43434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5" name="TextBox 124"/>
              <p:cNvSpPr txBox="1"/>
              <p:nvPr/>
            </p:nvSpPr>
            <p:spPr>
              <a:xfrm>
                <a:off x="457200" y="4964668"/>
                <a:ext cx="213360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head: 10</a:t>
                </a:r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00  700</a:t>
                </a:r>
                <a:endPara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57200" y="5345668"/>
                <a:ext cx="2133600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tail: </a:t>
                </a:r>
                <a:r>
                  <a:rPr lang="en-US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600</a:t>
                </a:r>
                <a:endPara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29" name="TextBox 128"/>
              <p:cNvSpPr txBox="1"/>
              <p:nvPr/>
            </p:nvSpPr>
            <p:spPr>
              <a:xfrm>
                <a:off x="1295400" y="4419600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p = 700</a:t>
                </a:r>
              </a:p>
            </p:txBody>
          </p:sp>
          <p:cxnSp>
            <p:nvCxnSpPr>
              <p:cNvPr id="133" name="Straight Arrow Connector 132"/>
              <p:cNvCxnSpPr/>
              <p:nvPr/>
            </p:nvCxnSpPr>
            <p:spPr>
              <a:xfrm>
                <a:off x="3581400" y="1752600"/>
                <a:ext cx="2438400" cy="533400"/>
              </a:xfrm>
              <a:prstGeom prst="straightConnector1">
                <a:avLst/>
              </a:prstGeom>
              <a:ln w="38100">
                <a:solidFill>
                  <a:srgbClr val="FFFF99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Arrow Connector 133"/>
              <p:cNvCxnSpPr/>
              <p:nvPr/>
            </p:nvCxnSpPr>
            <p:spPr>
              <a:xfrm>
                <a:off x="1828800" y="2514600"/>
                <a:ext cx="152400" cy="1676400"/>
              </a:xfrm>
              <a:prstGeom prst="straightConnector1">
                <a:avLst/>
              </a:prstGeom>
              <a:ln w="38100">
                <a:solidFill>
                  <a:srgbClr val="FFFF99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0" name="Rectangle 139"/>
              <p:cNvSpPr/>
              <p:nvPr/>
            </p:nvSpPr>
            <p:spPr>
              <a:xfrm>
                <a:off x="2667000" y="2514600"/>
                <a:ext cx="1600200" cy="609600"/>
              </a:xfrm>
              <a:prstGeom prst="rect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solidFill>
                      <a:schemeClr val="bg1"/>
                    </a:solidFill>
                  </a:rPr>
                  <a:t>Complexity: O(1)</a:t>
                </a:r>
              </a:p>
            </p:txBody>
          </p:sp>
          <p:sp>
            <p:nvSpPr>
              <p:cNvPr id="50" name="Rectangle 49"/>
              <p:cNvSpPr/>
              <p:nvPr/>
            </p:nvSpPr>
            <p:spPr>
              <a:xfrm>
                <a:off x="6019800" y="1154668"/>
                <a:ext cx="10668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latin typeface="Times New Roman" pitchFamily="18" charset="0"/>
                    <a:cs typeface="Times New Roman" pitchFamily="18" charset="0"/>
                  </a:rPr>
                  <a:t>x</a:t>
                </a:r>
              </a:p>
            </p:txBody>
          </p:sp>
          <p:sp>
            <p:nvSpPr>
              <p:cNvPr id="51" name="Rectangle 50"/>
              <p:cNvSpPr/>
              <p:nvPr/>
            </p:nvSpPr>
            <p:spPr>
              <a:xfrm>
                <a:off x="6019800" y="1535668"/>
                <a:ext cx="10668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null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6096000" y="1764268"/>
                <a:ext cx="91440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p = 700</a:t>
                </a:r>
              </a:p>
            </p:txBody>
          </p:sp>
        </p:grpSp>
        <p:cxnSp>
          <p:nvCxnSpPr>
            <p:cNvPr id="58" name="Straight Arrow Connector 57"/>
            <p:cNvCxnSpPr/>
            <p:nvPr/>
          </p:nvCxnSpPr>
          <p:spPr>
            <a:xfrm flipH="1">
              <a:off x="685800" y="2743200"/>
              <a:ext cx="533400" cy="2209800"/>
            </a:xfrm>
            <a:prstGeom prst="straightConnector1">
              <a:avLst/>
            </a:prstGeom>
            <a:ln w="38100">
              <a:solidFill>
                <a:srgbClr val="FFFF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Adding…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4953000" cy="2209800"/>
          </a:xfrm>
        </p:spPr>
        <p:txBody>
          <a:bodyPr>
            <a:normAutofit fontScale="70000" lnSpcReduction="20000"/>
          </a:bodyPr>
          <a:lstStyle/>
          <a:p>
            <a:r>
              <a:rPr lang="en-US" sz="3100" b="1" dirty="0">
                <a:solidFill>
                  <a:srgbClr val="FFFF00"/>
                </a:solidFill>
              </a:rPr>
              <a:t>Add the data x to the end of a SLL</a:t>
            </a:r>
          </a:p>
          <a:p>
            <a:pPr>
              <a:buNone/>
            </a:pPr>
            <a:r>
              <a:rPr lang="en-US" sz="2600" b="1" dirty="0"/>
              <a:t>Item p = new Item(x);</a:t>
            </a:r>
          </a:p>
          <a:p>
            <a:pPr>
              <a:buNone/>
            </a:pPr>
            <a:r>
              <a:rPr lang="en-US" sz="2600" b="1" dirty="0"/>
              <a:t>if (head==null) head=tail = p;</a:t>
            </a:r>
          </a:p>
          <a:p>
            <a:pPr>
              <a:buNone/>
            </a:pPr>
            <a:r>
              <a:rPr lang="en-US" sz="2600" b="1" dirty="0"/>
              <a:t>else {</a:t>
            </a:r>
          </a:p>
          <a:p>
            <a:pPr>
              <a:buNone/>
            </a:pPr>
            <a:r>
              <a:rPr lang="en-US" sz="2600" b="1" dirty="0"/>
              <a:t>        tail.next = p;</a:t>
            </a:r>
          </a:p>
          <a:p>
            <a:pPr>
              <a:buNone/>
            </a:pPr>
            <a:r>
              <a:rPr lang="en-US" sz="2600" b="1" dirty="0"/>
              <a:t>        tail = p;</a:t>
            </a:r>
          </a:p>
          <a:p>
            <a:pPr>
              <a:buNone/>
            </a:pPr>
            <a:r>
              <a:rPr lang="en-US" sz="2600" b="1" dirty="0"/>
              <a:t>}</a:t>
            </a:r>
            <a:endParaRPr lang="en-US" sz="2600" dirty="0"/>
          </a:p>
        </p:txBody>
      </p:sp>
      <p:sp>
        <p:nvSpPr>
          <p:cNvPr id="34" name="Slide Number Placeholder 3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17</a:t>
            </a:fld>
            <a:endParaRPr kumimoji="0" lang="en-US" dirty="0"/>
          </a:p>
        </p:txBody>
      </p:sp>
      <p:sp>
        <p:nvSpPr>
          <p:cNvPr id="35" name="Footer Placeholder 3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grpSp>
        <p:nvGrpSpPr>
          <p:cNvPr id="37" name="Group 36"/>
          <p:cNvGrpSpPr/>
          <p:nvPr/>
        </p:nvGrpSpPr>
        <p:grpSpPr>
          <a:xfrm>
            <a:off x="838200" y="1524000"/>
            <a:ext cx="7848600" cy="4560332"/>
            <a:chOff x="1905000" y="1154668"/>
            <a:chExt cx="7848600" cy="4560332"/>
          </a:xfrm>
        </p:grpSpPr>
        <p:sp>
          <p:nvSpPr>
            <p:cNvPr id="38" name="TextBox 37"/>
            <p:cNvSpPr txBox="1"/>
            <p:nvPr/>
          </p:nvSpPr>
          <p:spPr>
            <a:xfrm>
              <a:off x="7620000" y="2286000"/>
              <a:ext cx="19812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null </a:t>
              </a:r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700</a:t>
              </a:r>
              <a:endPara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620000" y="2590800"/>
              <a:ext cx="19812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null </a:t>
              </a:r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700</a:t>
              </a:r>
              <a:endPara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0" name="Rectangle 39"/>
            <p:cNvSpPr/>
            <p:nvPr/>
          </p:nvSpPr>
          <p:spPr>
            <a:xfrm>
              <a:off x="8686800" y="3810000"/>
              <a:ext cx="1066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x</a:t>
              </a: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8686800" y="4191000"/>
              <a:ext cx="10668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2819400" y="3810000"/>
              <a:ext cx="8382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obj1</a:t>
              </a:r>
            </a:p>
          </p:txBody>
        </p:sp>
        <p:sp>
          <p:nvSpPr>
            <p:cNvPr id="43" name="Rectangle 42"/>
            <p:cNvSpPr/>
            <p:nvPr/>
          </p:nvSpPr>
          <p:spPr>
            <a:xfrm>
              <a:off x="2819400" y="4191000"/>
              <a:ext cx="8382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4191000" y="38100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obj2</a:t>
              </a: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4191000" y="4191000"/>
              <a:ext cx="914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46" name="Rectangle 45"/>
            <p:cNvSpPr/>
            <p:nvPr/>
          </p:nvSpPr>
          <p:spPr>
            <a:xfrm>
              <a:off x="5638800" y="3810000"/>
              <a:ext cx="8382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obj3</a:t>
              </a: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5638800" y="4191000"/>
              <a:ext cx="8382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48" name="Rectangle 47"/>
            <p:cNvSpPr/>
            <p:nvPr/>
          </p:nvSpPr>
          <p:spPr>
            <a:xfrm>
              <a:off x="7010400" y="3810000"/>
              <a:ext cx="1143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obj4</a:t>
              </a: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7010400" y="4191000"/>
              <a:ext cx="11430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 </a:t>
              </a:r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700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43200" y="44958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4191000" y="44958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562600" y="44958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53" name="TextBox 52"/>
            <p:cNvSpPr txBox="1"/>
            <p:nvPr/>
          </p:nvSpPr>
          <p:spPr>
            <a:xfrm>
              <a:off x="7010400" y="4495800"/>
              <a:ext cx="609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cxnSp>
          <p:nvCxnSpPr>
            <p:cNvPr id="54" name="Straight Arrow Connector 53"/>
            <p:cNvCxnSpPr>
              <a:stCxn id="49" idx="3"/>
              <a:endCxn id="41" idx="1"/>
            </p:cNvCxnSpPr>
            <p:nvPr/>
          </p:nvCxnSpPr>
          <p:spPr>
            <a:xfrm>
              <a:off x="8153400" y="43434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/>
            <p:cNvCxnSpPr>
              <a:stCxn id="43" idx="3"/>
              <a:endCxn id="45" idx="1"/>
            </p:cNvCxnSpPr>
            <p:nvPr/>
          </p:nvCxnSpPr>
          <p:spPr>
            <a:xfrm>
              <a:off x="3657600" y="43434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/>
            <p:cNvCxnSpPr>
              <a:stCxn id="45" idx="3"/>
              <a:endCxn id="47" idx="1"/>
            </p:cNvCxnSpPr>
            <p:nvPr/>
          </p:nvCxnSpPr>
          <p:spPr>
            <a:xfrm>
              <a:off x="5105400" y="43434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47" idx="3"/>
              <a:endCxn id="49" idx="1"/>
            </p:cNvCxnSpPr>
            <p:nvPr/>
          </p:nvCxnSpPr>
          <p:spPr>
            <a:xfrm>
              <a:off x="6477000" y="43434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57"/>
            <p:cNvSpPr txBox="1"/>
            <p:nvPr/>
          </p:nvSpPr>
          <p:spPr>
            <a:xfrm>
              <a:off x="1905000" y="4964668"/>
              <a:ext cx="21336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10</a:t>
              </a:r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00</a:t>
              </a:r>
              <a:endPara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1905000" y="5345668"/>
              <a:ext cx="21336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</a:t>
              </a:r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600  700</a:t>
              </a:r>
              <a:endPara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8763000" y="4419600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 = 700</a:t>
              </a:r>
            </a:p>
          </p:txBody>
        </p:sp>
        <p:cxnSp>
          <p:nvCxnSpPr>
            <p:cNvPr id="61" name="Straight Arrow Connector 60"/>
            <p:cNvCxnSpPr/>
            <p:nvPr/>
          </p:nvCxnSpPr>
          <p:spPr>
            <a:xfrm>
              <a:off x="4572000" y="1611868"/>
              <a:ext cx="2895600" cy="838200"/>
            </a:xfrm>
            <a:prstGeom prst="straightConnector1">
              <a:avLst/>
            </a:prstGeom>
            <a:ln w="38100">
              <a:solidFill>
                <a:srgbClr val="FFFF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/>
            <p:cNvCxnSpPr/>
            <p:nvPr/>
          </p:nvCxnSpPr>
          <p:spPr>
            <a:xfrm>
              <a:off x="3124200" y="2362200"/>
              <a:ext cx="3810000" cy="1764268"/>
            </a:xfrm>
            <a:prstGeom prst="straightConnector1">
              <a:avLst/>
            </a:prstGeom>
            <a:ln w="38100">
              <a:solidFill>
                <a:srgbClr val="FFFF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3" name="Rectangle 62"/>
            <p:cNvSpPr/>
            <p:nvPr/>
          </p:nvSpPr>
          <p:spPr>
            <a:xfrm>
              <a:off x="4648200" y="2221468"/>
              <a:ext cx="1600200" cy="6096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Complexity: O(1)</a:t>
              </a:r>
            </a:p>
          </p:txBody>
        </p:sp>
        <p:sp>
          <p:nvSpPr>
            <p:cNvPr id="64" name="Rectangle 63"/>
            <p:cNvSpPr/>
            <p:nvPr/>
          </p:nvSpPr>
          <p:spPr>
            <a:xfrm>
              <a:off x="7620000" y="1154668"/>
              <a:ext cx="1066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atin typeface="Times New Roman" pitchFamily="18" charset="0"/>
                  <a:cs typeface="Times New Roman" pitchFamily="18" charset="0"/>
                </a:rPr>
                <a:t>x</a:t>
              </a:r>
            </a:p>
          </p:txBody>
        </p:sp>
        <p:sp>
          <p:nvSpPr>
            <p:cNvPr id="65" name="Rectangle 64"/>
            <p:cNvSpPr/>
            <p:nvPr/>
          </p:nvSpPr>
          <p:spPr>
            <a:xfrm>
              <a:off x="7620000" y="1535668"/>
              <a:ext cx="10668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7696200" y="176426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 = 700</a:t>
              </a:r>
            </a:p>
          </p:txBody>
        </p:sp>
      </p:grpSp>
      <p:cxnSp>
        <p:nvCxnSpPr>
          <p:cNvPr id="78" name="Straight Arrow Connector 77"/>
          <p:cNvCxnSpPr/>
          <p:nvPr/>
        </p:nvCxnSpPr>
        <p:spPr>
          <a:xfrm flipH="1">
            <a:off x="1219200" y="3048000"/>
            <a:ext cx="76200" cy="2286000"/>
          </a:xfrm>
          <a:prstGeom prst="straightConnector1">
            <a:avLst/>
          </a:prstGeom>
          <a:ln w="38100">
            <a:solidFill>
              <a:srgbClr val="FFFF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Adding…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2209800"/>
          </a:xfrm>
        </p:spPr>
        <p:txBody>
          <a:bodyPr>
            <a:normAutofit fontScale="47500" lnSpcReduction="20000"/>
          </a:bodyPr>
          <a:lstStyle/>
          <a:p>
            <a:r>
              <a:rPr lang="en-US" sz="4000" b="1" dirty="0">
                <a:solidFill>
                  <a:srgbClr val="FFFF00"/>
                </a:solidFill>
              </a:rPr>
              <a:t>Add the data x to the position after the reference ref of a SLL</a:t>
            </a:r>
          </a:p>
          <a:p>
            <a:pPr>
              <a:buNone/>
            </a:pPr>
            <a:r>
              <a:rPr lang="en-US" sz="3800" b="1" dirty="0"/>
              <a:t>if (ref==tail) Add x to the end of the list;</a:t>
            </a:r>
          </a:p>
          <a:p>
            <a:pPr>
              <a:buNone/>
            </a:pPr>
            <a:r>
              <a:rPr lang="en-US" sz="3800" b="1" dirty="0"/>
              <a:t>else {</a:t>
            </a:r>
          </a:p>
          <a:p>
            <a:pPr>
              <a:buNone/>
            </a:pPr>
            <a:r>
              <a:rPr lang="en-US" sz="3800" b="1" dirty="0"/>
              <a:t>        Item p = new Item(x);</a:t>
            </a:r>
          </a:p>
          <a:p>
            <a:pPr>
              <a:buNone/>
            </a:pPr>
            <a:r>
              <a:rPr lang="en-US" sz="3800" b="1" dirty="0"/>
              <a:t>        p.next = ref.next;</a:t>
            </a:r>
          </a:p>
          <a:p>
            <a:pPr>
              <a:buNone/>
            </a:pPr>
            <a:r>
              <a:rPr lang="en-US" sz="3800" b="1" dirty="0"/>
              <a:t>        ref.next = p;</a:t>
            </a:r>
          </a:p>
          <a:p>
            <a:pPr>
              <a:buNone/>
            </a:pPr>
            <a:r>
              <a:rPr lang="en-US" sz="3800" b="1" dirty="0"/>
              <a:t>}</a:t>
            </a:r>
            <a:endParaRPr lang="en-US" sz="3800" dirty="0"/>
          </a:p>
        </p:txBody>
      </p:sp>
      <p:sp>
        <p:nvSpPr>
          <p:cNvPr id="140" name="Rectangle 139"/>
          <p:cNvSpPr/>
          <p:nvPr/>
        </p:nvSpPr>
        <p:spPr>
          <a:xfrm>
            <a:off x="3886200" y="1981200"/>
            <a:ext cx="1600200" cy="609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Complexity: O(1)</a:t>
            </a:r>
          </a:p>
        </p:txBody>
      </p:sp>
      <p:grpSp>
        <p:nvGrpSpPr>
          <p:cNvPr id="59" name="Group 58"/>
          <p:cNvGrpSpPr/>
          <p:nvPr/>
        </p:nvGrpSpPr>
        <p:grpSpPr>
          <a:xfrm>
            <a:off x="2209800" y="2362200"/>
            <a:ext cx="6019800" cy="3538954"/>
            <a:chOff x="2209800" y="2362200"/>
            <a:chExt cx="6019800" cy="3538954"/>
          </a:xfrm>
        </p:grpSpPr>
        <p:sp>
          <p:nvSpPr>
            <p:cNvPr id="106" name="Rectangle 105"/>
            <p:cNvSpPr/>
            <p:nvPr/>
          </p:nvSpPr>
          <p:spPr>
            <a:xfrm>
              <a:off x="5943600" y="4953000"/>
              <a:ext cx="1371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x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5943600" y="5334000"/>
              <a:ext cx="1371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  </a:t>
              </a:r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600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514600" y="3581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obj1</a:t>
              </a: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514600" y="3962400"/>
              <a:ext cx="914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3962400" y="3581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obj2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3962400" y="3962400"/>
              <a:ext cx="914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5410200" y="3581400"/>
              <a:ext cx="1143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obj3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5410200" y="3962400"/>
              <a:ext cx="11430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 </a:t>
              </a:r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700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7239000" y="3581400"/>
              <a:ext cx="990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obj4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7239000" y="3962400"/>
              <a:ext cx="9906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null 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743200" y="4267200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191000" y="4267200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333999" y="4267200"/>
              <a:ext cx="12192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ref= 400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7162800" y="4267200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cxnSp>
          <p:nvCxnSpPr>
            <p:cNvPr id="122" name="Straight Arrow Connector 121"/>
            <p:cNvCxnSpPr>
              <a:stCxn id="109" idx="3"/>
              <a:endCxn id="111" idx="1"/>
            </p:cNvCxnSpPr>
            <p:nvPr/>
          </p:nvCxnSpPr>
          <p:spPr>
            <a:xfrm>
              <a:off x="3429000" y="41148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>
              <a:stCxn id="111" idx="3"/>
              <a:endCxn id="113" idx="1"/>
            </p:cNvCxnSpPr>
            <p:nvPr/>
          </p:nvCxnSpPr>
          <p:spPr>
            <a:xfrm>
              <a:off x="4876800" y="41148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>
              <a:stCxn id="113" idx="3"/>
              <a:endCxn id="115" idx="1"/>
            </p:cNvCxnSpPr>
            <p:nvPr/>
          </p:nvCxnSpPr>
          <p:spPr>
            <a:xfrm>
              <a:off x="6553200" y="4114800"/>
              <a:ext cx="6858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2209800" y="4797623"/>
              <a:ext cx="15240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</a:t>
              </a:r>
              <a:r>
                <a:rPr lang="en-US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</a:t>
              </a:r>
              <a:r>
                <a:rPr lang="en-US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00</a:t>
              </a:r>
              <a:endPara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2209800" y="5102423"/>
              <a:ext cx="15240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</a:t>
              </a:r>
              <a:r>
                <a:rPr lang="en-US" b="1" dirty="0">
                  <a:solidFill>
                    <a:srgbClr val="00B05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600</a:t>
              </a:r>
              <a:endPara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172200" y="5562600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b="1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p = 700</a:t>
              </a:r>
            </a:p>
          </p:txBody>
        </p:sp>
        <p:cxnSp>
          <p:nvCxnSpPr>
            <p:cNvPr id="134" name="Straight Arrow Connector 133"/>
            <p:cNvCxnSpPr/>
            <p:nvPr/>
          </p:nvCxnSpPr>
          <p:spPr>
            <a:xfrm>
              <a:off x="2743200" y="2362200"/>
              <a:ext cx="4343400" cy="2286000"/>
            </a:xfrm>
            <a:prstGeom prst="straightConnector1">
              <a:avLst/>
            </a:prstGeom>
            <a:ln>
              <a:solidFill>
                <a:srgbClr val="FF00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2286000" y="2514600"/>
              <a:ext cx="3962400" cy="1981200"/>
            </a:xfrm>
            <a:prstGeom prst="straightConnector1">
              <a:avLst/>
            </a:prstGeom>
            <a:ln>
              <a:solidFill>
                <a:srgbClr val="FF0066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086600" y="4267200"/>
              <a:ext cx="152400" cy="121920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>
              <a:off x="6286500" y="4267200"/>
              <a:ext cx="38100" cy="609600"/>
            </a:xfrm>
            <a:prstGeom prst="straightConnector1">
              <a:avLst/>
            </a:prstGeom>
            <a:ln w="28575">
              <a:solidFill>
                <a:srgbClr val="FF0000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5" name="Slide Number Placeholder 3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18</a:t>
            </a:fld>
            <a:endParaRPr kumimoji="0" lang="en-US" dirty="0"/>
          </a:p>
        </p:txBody>
      </p:sp>
      <p:sp>
        <p:nvSpPr>
          <p:cNvPr id="37" name="Footer Placeholder 3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Searching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077200" cy="2209800"/>
          </a:xfrm>
        </p:spPr>
        <p:txBody>
          <a:bodyPr>
            <a:normAutofit lnSpcReduction="10000"/>
          </a:bodyPr>
          <a:lstStyle/>
          <a:p>
            <a:r>
              <a:rPr lang="en-US" b="1" dirty="0">
                <a:solidFill>
                  <a:srgbClr val="FFFF00"/>
                </a:solidFill>
              </a:rPr>
              <a:t>Search the first existence of data x in the SLL</a:t>
            </a:r>
          </a:p>
          <a:p>
            <a:pPr>
              <a:buNone/>
            </a:pPr>
            <a:r>
              <a:rPr lang="en-US" b="1" dirty="0"/>
              <a:t>If (head==null) return null;</a:t>
            </a:r>
          </a:p>
          <a:p>
            <a:pPr>
              <a:buNone/>
            </a:pPr>
            <a:r>
              <a:rPr lang="en-US" b="1" dirty="0"/>
              <a:t>for (Item t = head; t!=null; t = t.next) </a:t>
            </a:r>
          </a:p>
          <a:p>
            <a:pPr>
              <a:buNone/>
            </a:pPr>
            <a:r>
              <a:rPr lang="en-US" b="1" dirty="0"/>
              <a:t>    if (t.data==x) return t;</a:t>
            </a:r>
          </a:p>
          <a:p>
            <a:pPr>
              <a:buNone/>
            </a:pPr>
            <a:r>
              <a:rPr lang="en-US" b="1" dirty="0"/>
              <a:t>return null;</a:t>
            </a: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19</a:t>
            </a:fld>
            <a:endParaRPr kumimoji="0" lang="en-US" dirty="0"/>
          </a:p>
        </p:txBody>
      </p:sp>
      <p:sp>
        <p:nvSpPr>
          <p:cNvPr id="31" name="Footer Placeholder 3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grpSp>
        <p:nvGrpSpPr>
          <p:cNvPr id="41" name="Group 40"/>
          <p:cNvGrpSpPr/>
          <p:nvPr/>
        </p:nvGrpSpPr>
        <p:grpSpPr>
          <a:xfrm>
            <a:off x="762000" y="1295400"/>
            <a:ext cx="8305800" cy="4191000"/>
            <a:chOff x="762000" y="1295400"/>
            <a:chExt cx="8305800" cy="4191000"/>
          </a:xfrm>
        </p:grpSpPr>
        <p:sp>
          <p:nvSpPr>
            <p:cNvPr id="106" name="Rectangle 105"/>
            <p:cNvSpPr/>
            <p:nvPr/>
          </p:nvSpPr>
          <p:spPr>
            <a:xfrm>
              <a:off x="7010400" y="4416623"/>
              <a:ext cx="685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30</a:t>
              </a:r>
            </a:p>
          </p:txBody>
        </p:sp>
        <p:sp>
          <p:nvSpPr>
            <p:cNvPr id="107" name="Rectangle 106"/>
            <p:cNvSpPr/>
            <p:nvPr/>
          </p:nvSpPr>
          <p:spPr>
            <a:xfrm>
              <a:off x="7010400" y="4797623"/>
              <a:ext cx="6858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null</a:t>
              </a:r>
            </a:p>
          </p:txBody>
        </p:sp>
        <p:sp>
          <p:nvSpPr>
            <p:cNvPr id="108" name="Rectangle 107"/>
            <p:cNvSpPr/>
            <p:nvPr/>
          </p:nvSpPr>
          <p:spPr>
            <a:xfrm>
              <a:off x="2667000" y="4416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7</a:t>
              </a:r>
            </a:p>
          </p:txBody>
        </p:sp>
        <p:sp>
          <p:nvSpPr>
            <p:cNvPr id="109" name="Rectangle 108"/>
            <p:cNvSpPr/>
            <p:nvPr/>
          </p:nvSpPr>
          <p:spPr>
            <a:xfrm>
              <a:off x="2667000" y="4797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10" name="Rectangle 109"/>
            <p:cNvSpPr/>
            <p:nvPr/>
          </p:nvSpPr>
          <p:spPr>
            <a:xfrm>
              <a:off x="3733800" y="4416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6</a:t>
              </a:r>
            </a:p>
          </p:txBody>
        </p:sp>
        <p:sp>
          <p:nvSpPr>
            <p:cNvPr id="111" name="Rectangle 110"/>
            <p:cNvSpPr/>
            <p:nvPr/>
          </p:nvSpPr>
          <p:spPr>
            <a:xfrm>
              <a:off x="3733800" y="4797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12" name="Rectangle 111"/>
            <p:cNvSpPr/>
            <p:nvPr/>
          </p:nvSpPr>
          <p:spPr>
            <a:xfrm>
              <a:off x="4800600" y="4416623"/>
              <a:ext cx="609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5</a:t>
              </a:r>
            </a:p>
          </p:txBody>
        </p:sp>
        <p:sp>
          <p:nvSpPr>
            <p:cNvPr id="113" name="Rectangle 112"/>
            <p:cNvSpPr/>
            <p:nvPr/>
          </p:nvSpPr>
          <p:spPr>
            <a:xfrm>
              <a:off x="4800600" y="4797623"/>
              <a:ext cx="6096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14" name="Rectangle 113"/>
            <p:cNvSpPr/>
            <p:nvPr/>
          </p:nvSpPr>
          <p:spPr>
            <a:xfrm>
              <a:off x="5867400" y="4416623"/>
              <a:ext cx="6858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8</a:t>
              </a:r>
            </a:p>
          </p:txBody>
        </p:sp>
        <p:sp>
          <p:nvSpPr>
            <p:cNvPr id="115" name="Rectangle 114"/>
            <p:cNvSpPr/>
            <p:nvPr/>
          </p:nvSpPr>
          <p:spPr>
            <a:xfrm>
              <a:off x="5867400" y="4797623"/>
              <a:ext cx="685800" cy="2286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700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2590800" y="5108377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3657600" y="5108377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4724400" y="5108377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5791200" y="5108377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cxnSp>
          <p:nvCxnSpPr>
            <p:cNvPr id="121" name="Straight Arrow Connector 120"/>
            <p:cNvCxnSpPr>
              <a:endCxn id="107" idx="1"/>
            </p:cNvCxnSpPr>
            <p:nvPr/>
          </p:nvCxnSpPr>
          <p:spPr>
            <a:xfrm>
              <a:off x="6553200" y="4873823"/>
              <a:ext cx="457200" cy="3810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>
              <a:endCxn id="111" idx="1"/>
            </p:cNvCxnSpPr>
            <p:nvPr/>
          </p:nvCxnSpPr>
          <p:spPr>
            <a:xfrm>
              <a:off x="3276600" y="4911923"/>
              <a:ext cx="4572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>
              <a:endCxn id="113" idx="1"/>
            </p:cNvCxnSpPr>
            <p:nvPr/>
          </p:nvCxnSpPr>
          <p:spPr>
            <a:xfrm>
              <a:off x="4343400" y="4911923"/>
              <a:ext cx="4572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>
              <a:endCxn id="115" idx="1"/>
            </p:cNvCxnSpPr>
            <p:nvPr/>
          </p:nvCxnSpPr>
          <p:spPr>
            <a:xfrm>
              <a:off x="5410200" y="4911923"/>
              <a:ext cx="4572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TextBox 124"/>
            <p:cNvSpPr txBox="1"/>
            <p:nvPr/>
          </p:nvSpPr>
          <p:spPr>
            <a:xfrm>
              <a:off x="762000" y="4492823"/>
              <a:ext cx="13716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</a:t>
              </a:r>
              <a:r>
                <a:rPr lang="en-US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</a:t>
              </a:r>
              <a:r>
                <a:rPr lang="en-US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00</a:t>
              </a:r>
              <a:endPara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762000" y="4888468"/>
              <a:ext cx="13716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</a:t>
              </a:r>
              <a:r>
                <a:rPr lang="en-US" b="1" dirty="0">
                  <a:solidFill>
                    <a:srgbClr val="00B05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700</a:t>
              </a:r>
              <a:endPara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6934200" y="5147846"/>
              <a:ext cx="9144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700</a:t>
              </a:r>
            </a:p>
          </p:txBody>
        </p:sp>
        <p:sp>
          <p:nvSpPr>
            <p:cNvPr id="140" name="Rectangle 139"/>
            <p:cNvSpPr/>
            <p:nvPr/>
          </p:nvSpPr>
          <p:spPr>
            <a:xfrm>
              <a:off x="5791200" y="1295400"/>
              <a:ext cx="3276600" cy="457200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solidFill>
                    <a:schemeClr val="bg1"/>
                  </a:solidFill>
                </a:rPr>
                <a:t>Linear search </a:t>
              </a:r>
              <a:r>
                <a:rPr lang="en-US" sz="2400" dirty="0">
                  <a:solidFill>
                    <a:schemeClr val="bg1"/>
                  </a:solidFill>
                  <a:sym typeface="Wingdings" pitchFamily="2" charset="2"/>
                </a:rPr>
                <a:t> </a:t>
              </a:r>
              <a:r>
                <a:rPr lang="en-US" sz="2400" dirty="0">
                  <a:solidFill>
                    <a:schemeClr val="bg1"/>
                  </a:solidFill>
                </a:rPr>
                <a:t>O(n)</a:t>
              </a: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2590799" y="3581400"/>
              <a:ext cx="1031875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x= 8 </a:t>
              </a:r>
            </a:p>
          </p:txBody>
        </p:sp>
        <p:sp>
          <p:nvSpPr>
            <p:cNvPr id="35" name="Rectangle 34"/>
            <p:cNvSpPr/>
            <p:nvPr/>
          </p:nvSpPr>
          <p:spPr>
            <a:xfrm>
              <a:off x="2590800" y="3886200"/>
              <a:ext cx="4953000" cy="2286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t= 1000 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800  400  600</a:t>
              </a:r>
              <a:r>
                <a:rPr lang="en-US" sz="2400" dirty="0">
                  <a:latin typeface="Times New Roman" pitchFamily="18" charset="0"/>
                  <a:cs typeface="Times New Roman" pitchFamily="18" charset="0"/>
                </a:rPr>
                <a:t> </a:t>
              </a:r>
            </a:p>
          </p:txBody>
        </p:sp>
        <p:cxnSp>
          <p:nvCxnSpPr>
            <p:cNvPr id="38" name="Straight Arrow Connector 37"/>
            <p:cNvCxnSpPr/>
            <p:nvPr/>
          </p:nvCxnSpPr>
          <p:spPr>
            <a:xfrm rot="5400000">
              <a:off x="3733800" y="2743200"/>
              <a:ext cx="1447800" cy="228600"/>
            </a:xfrm>
            <a:prstGeom prst="straightConnector1">
              <a:avLst/>
            </a:prstGeom>
            <a:ln w="28575">
              <a:solidFill>
                <a:srgbClr val="FFFF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Rectangle 28"/>
            <p:cNvSpPr/>
            <p:nvPr/>
          </p:nvSpPr>
          <p:spPr>
            <a:xfrm>
              <a:off x="6477000" y="1981200"/>
              <a:ext cx="2438400" cy="1295400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Arial Narrow" pitchFamily="34" charset="0"/>
                  <a:cs typeface="Arial" pitchFamily="34" charset="0"/>
                </a:rPr>
                <a:t>Search x in an array: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Arial Narrow" pitchFamily="34" charset="0"/>
                  <a:cs typeface="Arial" pitchFamily="34" charset="0"/>
                </a:rPr>
                <a:t>for (i=0; i&lt;n; i++)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Arial Narrow" pitchFamily="34" charset="0"/>
                  <a:cs typeface="Arial" pitchFamily="34" charset="0"/>
                </a:rPr>
                <a:t>   if (a[i]==x) return i;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Arial Narrow" pitchFamily="34" charset="0"/>
                  <a:cs typeface="Arial" pitchFamily="34" charset="0"/>
                </a:rPr>
                <a:t>return -1;</a:t>
              </a:r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>
              <a:off x="5029200" y="2438400"/>
              <a:ext cx="1295400" cy="0"/>
            </a:xfrm>
            <a:prstGeom prst="straightConnector1">
              <a:avLst/>
            </a:prstGeom>
            <a:ln w="57150"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Removing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838200"/>
            <a:ext cx="8610600" cy="5181600"/>
          </a:xfrm>
        </p:spPr>
        <p:txBody>
          <a:bodyPr>
            <a:noAutofit/>
          </a:bodyPr>
          <a:lstStyle/>
          <a:p>
            <a:r>
              <a:rPr lang="en-US" sz="2800" b="1" dirty="0">
                <a:solidFill>
                  <a:srgbClr val="FFCC00"/>
                </a:solidFill>
                <a:latin typeface="Times New Roman" pitchFamily="18" charset="0"/>
                <a:cs typeface="Times New Roman" pitchFamily="18" charset="0"/>
              </a:rPr>
              <a:t>Remove the first existence of data x in the SLL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If (head==null) return null;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Item </a:t>
            </a:r>
            <a:r>
              <a:rPr lang="en-US" sz="1600" b="1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pAfter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= null, </a:t>
            </a:r>
            <a:r>
              <a:rPr lang="en-US" sz="1600" b="1" dirty="0" err="1">
                <a:solidFill>
                  <a:srgbClr val="FF0066"/>
                </a:solidFill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= head;</a:t>
            </a:r>
          </a:p>
          <a:p>
            <a:pPr>
              <a:buNone/>
            </a:pPr>
            <a:r>
              <a:rPr lang="en-US" sz="1600" b="1" dirty="0">
                <a:solidFill>
                  <a:srgbClr val="FFFF99"/>
                </a:solidFill>
                <a:latin typeface="Times New Roman" pitchFamily="18" charset="0"/>
                <a:cs typeface="Times New Roman" pitchFamily="18" charset="0"/>
              </a:rPr>
              <a:t>// Determine the reference which can be removed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While (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!=null &amp;&amp;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pDel.data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!=x) {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pAfter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=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pDel.next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}</a:t>
            </a:r>
          </a:p>
          <a:p>
            <a:pPr>
              <a:buNone/>
            </a:pPr>
            <a:r>
              <a:rPr lang="en-US" sz="1600" b="1" dirty="0">
                <a:solidFill>
                  <a:srgbClr val="FFFF99"/>
                </a:solidFill>
                <a:latin typeface="Times New Roman" pitchFamily="18" charset="0"/>
                <a:cs typeface="Times New Roman" pitchFamily="18" charset="0"/>
              </a:rPr>
              <a:t>// If removed data existed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If (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!= null) {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if (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==head) {</a:t>
            </a:r>
            <a:r>
              <a:rPr lang="en-US" sz="1600" b="1" dirty="0">
                <a:solidFill>
                  <a:srgbClr val="0000CC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600" b="1" dirty="0">
                <a:solidFill>
                  <a:srgbClr val="FFFF99"/>
                </a:solidFill>
                <a:latin typeface="Times New Roman" pitchFamily="18" charset="0"/>
                <a:cs typeface="Times New Roman" pitchFamily="18" charset="0"/>
              </a:rPr>
              <a:t>// remove head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	If (head==tail) head=tail= null; </a:t>
            </a:r>
            <a:r>
              <a:rPr lang="en-US" sz="1600" b="1" dirty="0">
                <a:solidFill>
                  <a:srgbClr val="FFFF99"/>
                </a:solidFill>
                <a:latin typeface="Times New Roman" pitchFamily="18" charset="0"/>
                <a:cs typeface="Times New Roman" pitchFamily="18" charset="0"/>
              </a:rPr>
              <a:t>// list has only one node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		else head =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head.next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;          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}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Else if (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==tail) {</a:t>
            </a:r>
            <a:r>
              <a:rPr lang="en-US" sz="1600" b="1" dirty="0">
                <a:solidFill>
                  <a:srgbClr val="FFFF99"/>
                </a:solidFill>
                <a:latin typeface="Times New Roman" pitchFamily="18" charset="0"/>
                <a:cs typeface="Times New Roman" pitchFamily="18" charset="0"/>
              </a:rPr>
              <a:t>// remove tail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 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pAfter.next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= null;   tail=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pAfter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  }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          else  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pAfter.next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pDel.next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return </a:t>
            </a:r>
            <a:r>
              <a:rPr lang="en-US" sz="1600" b="1" dirty="0" err="1"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;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305800" y="2743200"/>
            <a:ext cx="6858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30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305800" y="3124200"/>
            <a:ext cx="6858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null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3962400" y="2743200"/>
            <a:ext cx="609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962400" y="3124200"/>
            <a:ext cx="6096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800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5029200" y="2743200"/>
            <a:ext cx="609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6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5029200" y="3124200"/>
            <a:ext cx="6096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400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096000" y="2743200"/>
            <a:ext cx="609600" cy="381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6096000" y="3124200"/>
            <a:ext cx="6096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600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7162800" y="2743200"/>
            <a:ext cx="685800" cy="3810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7162800" y="3124200"/>
            <a:ext cx="685800" cy="228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700</a:t>
            </a:r>
            <a:endParaRPr lang="en-US" sz="14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3886200" y="243840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1000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4953000" y="2438400"/>
            <a:ext cx="609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800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096000" y="2438400"/>
            <a:ext cx="6096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009900"/>
                </a:solidFill>
                <a:latin typeface="Times New Roman" pitchFamily="18" charset="0"/>
                <a:cs typeface="Times New Roman" pitchFamily="18" charset="0"/>
              </a:rPr>
              <a:t>400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7162800" y="2438400"/>
            <a:ext cx="685800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600</a:t>
            </a:r>
          </a:p>
        </p:txBody>
      </p:sp>
      <p:cxnSp>
        <p:nvCxnSpPr>
          <p:cNvPr id="121" name="Straight Arrow Connector 120"/>
          <p:cNvCxnSpPr>
            <a:stCxn id="115" idx="3"/>
            <a:endCxn id="107" idx="1"/>
          </p:cNvCxnSpPr>
          <p:nvPr/>
        </p:nvCxnSpPr>
        <p:spPr>
          <a:xfrm>
            <a:off x="7848600" y="3238500"/>
            <a:ext cx="457200" cy="0"/>
          </a:xfrm>
          <a:prstGeom prst="straightConnector1">
            <a:avLst/>
          </a:prstGeom>
          <a:ln w="19050">
            <a:solidFill>
              <a:srgbClr val="FFFF99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endCxn id="111" idx="1"/>
          </p:cNvCxnSpPr>
          <p:nvPr/>
        </p:nvCxnSpPr>
        <p:spPr>
          <a:xfrm>
            <a:off x="4572000" y="3238500"/>
            <a:ext cx="457200" cy="0"/>
          </a:xfrm>
          <a:prstGeom prst="straightConnector1">
            <a:avLst/>
          </a:prstGeom>
          <a:ln w="19050">
            <a:solidFill>
              <a:srgbClr val="FFFF99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/>
          <p:cNvCxnSpPr>
            <a:endCxn id="113" idx="1"/>
          </p:cNvCxnSpPr>
          <p:nvPr/>
        </p:nvCxnSpPr>
        <p:spPr>
          <a:xfrm>
            <a:off x="5638800" y="3238500"/>
            <a:ext cx="457200" cy="0"/>
          </a:xfrm>
          <a:prstGeom prst="straightConnector1">
            <a:avLst/>
          </a:prstGeom>
          <a:ln w="19050">
            <a:solidFill>
              <a:srgbClr val="FFFF99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>
            <a:endCxn id="115" idx="1"/>
          </p:cNvCxnSpPr>
          <p:nvPr/>
        </p:nvCxnSpPr>
        <p:spPr>
          <a:xfrm>
            <a:off x="6705600" y="3238500"/>
            <a:ext cx="457200" cy="0"/>
          </a:xfrm>
          <a:prstGeom prst="straightConnector1">
            <a:avLst/>
          </a:prstGeom>
          <a:ln w="19050">
            <a:solidFill>
              <a:srgbClr val="FFFF99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6019800" y="4116965"/>
            <a:ext cx="1295400" cy="338554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head: 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en-US" sz="16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00</a:t>
            </a:r>
            <a:endParaRPr lang="en-US" sz="1600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6" name="TextBox 125"/>
          <p:cNvSpPr txBox="1"/>
          <p:nvPr/>
        </p:nvSpPr>
        <p:spPr>
          <a:xfrm>
            <a:off x="6019800" y="4419599"/>
            <a:ext cx="1295400" cy="335577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tail: </a:t>
            </a:r>
            <a:r>
              <a:rPr lang="en-US" sz="1600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700</a:t>
            </a:r>
            <a:endParaRPr lang="en-US" sz="1600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9" name="TextBox 128"/>
          <p:cNvSpPr txBox="1"/>
          <p:nvPr/>
        </p:nvSpPr>
        <p:spPr>
          <a:xfrm>
            <a:off x="8229600" y="2359223"/>
            <a:ext cx="914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700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2057400" y="2590800"/>
            <a:ext cx="1600200" cy="5334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Linear search</a:t>
            </a:r>
          </a:p>
          <a:p>
            <a:pPr algn="ctr"/>
            <a:r>
              <a:rPr lang="en-US" sz="1600" b="1" dirty="0">
                <a:solidFill>
                  <a:schemeClr val="bg1"/>
                </a:solidFill>
                <a:sym typeface="Wingdings" pitchFamily="2" charset="2"/>
              </a:rPr>
              <a:t> </a:t>
            </a:r>
            <a:r>
              <a:rPr lang="en-US" sz="1600" b="1" dirty="0">
                <a:solidFill>
                  <a:schemeClr val="bg1"/>
                </a:solidFill>
              </a:rPr>
              <a:t>O(n)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53000" y="1447800"/>
            <a:ext cx="762000" cy="228600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x= 8 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334000" y="1981200"/>
            <a:ext cx="365760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pDel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= 1000 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800  400  600</a:t>
            </a:r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495800" y="1752600"/>
            <a:ext cx="3657600" cy="228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 err="1">
                <a:solidFill>
                  <a:schemeClr val="accent1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pAfter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= null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1000  800  400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19800" y="3319046"/>
            <a:ext cx="838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700</a:t>
            </a:r>
            <a:endParaRPr lang="en-US" sz="16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 flipV="1">
            <a:off x="3657600" y="2133600"/>
            <a:ext cx="1143000" cy="457200"/>
          </a:xfrm>
          <a:prstGeom prst="straightConnector1">
            <a:avLst/>
          </a:prstGeom>
          <a:ln>
            <a:solidFill>
              <a:srgbClr val="FFFF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20</a:t>
            </a:fld>
            <a:endParaRPr kumimoji="0" lang="en-US"/>
          </a:p>
        </p:txBody>
      </p:sp>
      <p:sp>
        <p:nvSpPr>
          <p:cNvPr id="33" name="Footer Placeholder 3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sp>
        <p:nvSpPr>
          <p:cNvPr id="42" name="Freeform 41"/>
          <p:cNvSpPr/>
          <p:nvPr/>
        </p:nvSpPr>
        <p:spPr>
          <a:xfrm>
            <a:off x="6670343" y="3480179"/>
            <a:ext cx="1651379" cy="466299"/>
          </a:xfrm>
          <a:custGeom>
            <a:avLst/>
            <a:gdLst>
              <a:gd name="connsiteX0" fmla="*/ 0 w 1651379"/>
              <a:gd name="connsiteY0" fmla="*/ 13648 h 466299"/>
              <a:gd name="connsiteX1" fmla="*/ 818866 w 1651379"/>
              <a:gd name="connsiteY1" fmla="*/ 464024 h 466299"/>
              <a:gd name="connsiteX2" fmla="*/ 1651379 w 1651379"/>
              <a:gd name="connsiteY2" fmla="*/ 0 h 466299"/>
              <a:gd name="connsiteX3" fmla="*/ 1651379 w 1651379"/>
              <a:gd name="connsiteY3" fmla="*/ 0 h 466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51379" h="466299">
                <a:moveTo>
                  <a:pt x="0" y="13648"/>
                </a:moveTo>
                <a:cubicBezTo>
                  <a:pt x="271818" y="239973"/>
                  <a:pt x="543636" y="466299"/>
                  <a:pt x="818866" y="464024"/>
                </a:cubicBezTo>
                <a:cubicBezTo>
                  <a:pt x="1094096" y="461749"/>
                  <a:pt x="1651379" y="0"/>
                  <a:pt x="1651379" y="0"/>
                </a:cubicBezTo>
                <a:lnTo>
                  <a:pt x="1651379" y="0"/>
                </a:lnTo>
              </a:path>
            </a:pathLst>
          </a:custGeom>
          <a:ln>
            <a:solidFill>
              <a:srgbClr val="FFFF99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 flipV="1">
            <a:off x="2590800" y="3581400"/>
            <a:ext cx="3657600" cy="1371600"/>
          </a:xfrm>
          <a:prstGeom prst="straightConnector1">
            <a:avLst/>
          </a:prstGeom>
          <a:ln>
            <a:solidFill>
              <a:srgbClr val="FFFF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Traversing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676400"/>
            <a:ext cx="8610600" cy="3810000"/>
          </a:xfrm>
        </p:spPr>
        <p:txBody>
          <a:bodyPr>
            <a:normAutofit/>
          </a:bodyPr>
          <a:lstStyle/>
          <a:p>
            <a:r>
              <a:rPr lang="en-US" b="1" dirty="0"/>
              <a:t>List traversal</a:t>
            </a:r>
            <a:r>
              <a:rPr lang="en-US" i="1" dirty="0"/>
              <a:t> </a:t>
            </a:r>
            <a:r>
              <a:rPr lang="en-US" dirty="0"/>
              <a:t>is the process of visiting each node in the list exactly one time </a:t>
            </a:r>
            <a:r>
              <a:rPr lang="en-US" dirty="0">
                <a:sym typeface="Wingdings" pitchFamily="2" charset="2"/>
              </a:rPr>
              <a:t> O(number of nodes)</a:t>
            </a:r>
            <a:endParaRPr lang="en-US" dirty="0"/>
          </a:p>
          <a:p>
            <a:r>
              <a:rPr lang="en-US" b="1" dirty="0">
                <a:solidFill>
                  <a:srgbClr val="FFFF00"/>
                </a:solidFill>
              </a:rPr>
              <a:t>Sample code:</a:t>
            </a:r>
          </a:p>
          <a:p>
            <a:pPr>
              <a:buNone/>
            </a:pPr>
            <a:r>
              <a:rPr lang="en-US" sz="2400" b="1" dirty="0">
                <a:solidFill>
                  <a:srgbClr val="FFFF00"/>
                </a:solidFill>
              </a:rPr>
              <a:t>       for (t = head; t!=null;  t= </a:t>
            </a:r>
            <a:r>
              <a:rPr lang="en-US" sz="2400" b="1" dirty="0" err="1">
                <a:solidFill>
                  <a:srgbClr val="FFFF00"/>
                </a:solidFill>
              </a:rPr>
              <a:t>t.next</a:t>
            </a:r>
            <a:r>
              <a:rPr lang="en-US" sz="2400" b="1" dirty="0">
                <a:solidFill>
                  <a:srgbClr val="FFFF00"/>
                </a:solidFill>
              </a:rPr>
              <a:t>){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             Process t;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       }</a:t>
            </a:r>
            <a:endParaRPr lang="en-US" sz="2400" b="1" dirty="0">
              <a:solidFill>
                <a:srgbClr val="FFFF00"/>
              </a:solidFill>
            </a:endParaRPr>
          </a:p>
          <a:p>
            <a:r>
              <a:rPr lang="en-US" sz="2400" b="1" dirty="0"/>
              <a:t>We </a:t>
            </a:r>
            <a:r>
              <a:rPr lang="en-US" b="1" dirty="0"/>
              <a:t>can implement a list traversal in an object, called as </a:t>
            </a:r>
            <a:r>
              <a:rPr lang="en-US" b="1" dirty="0" err="1"/>
              <a:t>Iterator</a:t>
            </a:r>
            <a:r>
              <a:rPr lang="en-US" b="1" dirty="0"/>
              <a:t>. This technique will be introduced in the assignment.</a:t>
            </a:r>
            <a:endParaRPr lang="en-US" sz="1800" b="1" dirty="0"/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21</a:t>
            </a:fld>
            <a:endParaRPr kumimoji="0" lang="en-US"/>
          </a:p>
        </p:txBody>
      </p:sp>
      <p:sp>
        <p:nvSpPr>
          <p:cNvPr id="60" name="Footer Placeholder 5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Sorting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610600" cy="1295400"/>
          </a:xfrm>
        </p:spPr>
        <p:txBody>
          <a:bodyPr>
            <a:normAutofit fontScale="92500"/>
          </a:bodyPr>
          <a:lstStyle/>
          <a:p>
            <a:r>
              <a:rPr lang="en-US" b="1" dirty="0"/>
              <a:t>Sorting is not a main operation on a LL.</a:t>
            </a:r>
          </a:p>
          <a:p>
            <a:r>
              <a:rPr lang="en-US" b="1" dirty="0"/>
              <a:t>We can modify a simple sort algorithm on an array to sort a LL.</a:t>
            </a:r>
          </a:p>
          <a:p>
            <a:r>
              <a:rPr lang="en-US" b="1" dirty="0"/>
              <a:t> </a:t>
            </a:r>
            <a:r>
              <a:rPr lang="en-US" b="1" dirty="0">
                <a:solidFill>
                  <a:srgbClr val="FFFF00"/>
                </a:solidFill>
              </a:rPr>
              <a:t>Sample code:</a:t>
            </a:r>
            <a:endParaRPr lang="en-US" sz="2400" b="1" dirty="0">
              <a:solidFill>
                <a:srgbClr val="FFFF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22</a:t>
            </a:fld>
            <a:endParaRPr kumimoji="0" lang="en-US"/>
          </a:p>
        </p:txBody>
      </p:sp>
      <p:sp>
        <p:nvSpPr>
          <p:cNvPr id="60" name="Footer Placeholder 5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7200" y="2743200"/>
            <a:ext cx="4162425" cy="2743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4648200" y="2743200"/>
            <a:ext cx="3981450" cy="222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SLL Operations: Reversing</a:t>
            </a:r>
          </a:p>
        </p:txBody>
      </p:sp>
      <p:sp>
        <p:nvSpPr>
          <p:cNvPr id="59" name="Slide Number Placeholder 5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23</a:t>
            </a:fld>
            <a:endParaRPr kumimoji="0" lang="en-US"/>
          </a:p>
        </p:txBody>
      </p:sp>
      <p:sp>
        <p:nvSpPr>
          <p:cNvPr id="60" name="Footer Placeholder 5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838200" y="914400"/>
            <a:ext cx="7620000" cy="914400"/>
            <a:chOff x="609600" y="3581400"/>
            <a:chExt cx="7620000" cy="914400"/>
          </a:xfrm>
        </p:grpSpPr>
        <p:sp>
          <p:nvSpPr>
            <p:cNvPr id="11" name="Rectangle 10"/>
            <p:cNvSpPr/>
            <p:nvPr/>
          </p:nvSpPr>
          <p:spPr>
            <a:xfrm>
              <a:off x="2514600" y="3581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2514600" y="3962400"/>
              <a:ext cx="914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3962400" y="3581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obj2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3962400" y="3962400"/>
              <a:ext cx="914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410200" y="3581400"/>
              <a:ext cx="1143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obj3</a:t>
              </a: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410200" y="3962400"/>
              <a:ext cx="11430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7239000" y="3581400"/>
              <a:ext cx="990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obj4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239000" y="3962400"/>
              <a:ext cx="9906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null 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743200" y="4157246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4191000" y="4157246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333999" y="4157246"/>
              <a:ext cx="12192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467600" y="4157246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cxnSp>
          <p:nvCxnSpPr>
            <p:cNvPr id="23" name="Straight Arrow Connector 22"/>
            <p:cNvCxnSpPr>
              <a:stCxn id="12" idx="3"/>
              <a:endCxn id="14" idx="1"/>
            </p:cNvCxnSpPr>
            <p:nvPr/>
          </p:nvCxnSpPr>
          <p:spPr>
            <a:xfrm>
              <a:off x="3429000" y="41148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>
              <a:stCxn id="14" idx="3"/>
              <a:endCxn id="16" idx="1"/>
            </p:cNvCxnSpPr>
            <p:nvPr/>
          </p:nvCxnSpPr>
          <p:spPr>
            <a:xfrm>
              <a:off x="4876800" y="41148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6" idx="3"/>
              <a:endCxn id="18" idx="1"/>
            </p:cNvCxnSpPr>
            <p:nvPr/>
          </p:nvCxnSpPr>
          <p:spPr>
            <a:xfrm>
              <a:off x="6553200" y="4114800"/>
              <a:ext cx="6858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609600" y="3581400"/>
              <a:ext cx="15240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head: </a:t>
              </a:r>
              <a:r>
                <a:rPr lang="en-US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10</a:t>
              </a:r>
              <a:r>
                <a:rPr lang="en-US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00</a:t>
              </a:r>
              <a:endPara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609600" y="3886200"/>
              <a:ext cx="1524000" cy="369332"/>
            </a:xfrm>
            <a:prstGeom prst="rect">
              <a:avLst/>
            </a:prstGeom>
            <a:solidFill>
              <a:schemeClr val="bg1"/>
            </a:solidFill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tail: </a:t>
              </a:r>
              <a:r>
                <a:rPr lang="en-US" b="1" dirty="0">
                  <a:solidFill>
                    <a:srgbClr val="00B05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600</a:t>
              </a:r>
              <a:endPara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2743200" y="2023646"/>
            <a:ext cx="5715000" cy="948154"/>
            <a:chOff x="2514600" y="3581400"/>
            <a:chExt cx="5715000" cy="948154"/>
          </a:xfrm>
        </p:grpSpPr>
        <p:sp>
          <p:nvSpPr>
            <p:cNvPr id="52" name="Rectangle 51"/>
            <p:cNvSpPr/>
            <p:nvPr/>
          </p:nvSpPr>
          <p:spPr>
            <a:xfrm>
              <a:off x="2514600" y="3581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obj1</a:t>
              </a: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2514600" y="3962400"/>
              <a:ext cx="914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800 </a:t>
              </a:r>
              <a:r>
                <a:rPr lang="en-US" sz="1400" b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0</a:t>
              </a:r>
              <a:endParaRPr lang="en-US" sz="14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3962400" y="35814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obj2</a:t>
              </a: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3962400" y="3962400"/>
              <a:ext cx="9144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56" name="Rectangle 55"/>
            <p:cNvSpPr/>
            <p:nvPr/>
          </p:nvSpPr>
          <p:spPr>
            <a:xfrm>
              <a:off x="5410200" y="3581400"/>
              <a:ext cx="11430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obj3</a:t>
              </a: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5410200" y="3962400"/>
              <a:ext cx="11430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7239000" y="3581400"/>
              <a:ext cx="9906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obj4</a:t>
              </a:r>
            </a:p>
          </p:txBody>
        </p:sp>
        <p:sp>
          <p:nvSpPr>
            <p:cNvPr id="61" name="Rectangle 60"/>
            <p:cNvSpPr/>
            <p:nvPr/>
          </p:nvSpPr>
          <p:spPr>
            <a:xfrm>
              <a:off x="7239000" y="3962400"/>
              <a:ext cx="990600" cy="3048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rPr>
                <a:t>null 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743200" y="4191000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1000</a:t>
              </a: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191000" y="4191000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800</a:t>
              </a: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5333999" y="4191000"/>
              <a:ext cx="1219201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400</a:t>
              </a: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7467600" y="4191000"/>
              <a:ext cx="60960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600</a:t>
              </a:r>
            </a:p>
          </p:txBody>
        </p:sp>
        <p:cxnSp>
          <p:nvCxnSpPr>
            <p:cNvPr id="67" name="Straight Arrow Connector 66"/>
            <p:cNvCxnSpPr>
              <a:stCxn id="55" idx="3"/>
              <a:endCxn id="57" idx="1"/>
            </p:cNvCxnSpPr>
            <p:nvPr/>
          </p:nvCxnSpPr>
          <p:spPr>
            <a:xfrm>
              <a:off x="4876800" y="4114800"/>
              <a:ext cx="5334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/>
            <p:cNvCxnSpPr>
              <a:stCxn id="57" idx="3"/>
              <a:endCxn id="61" idx="1"/>
            </p:cNvCxnSpPr>
            <p:nvPr/>
          </p:nvCxnSpPr>
          <p:spPr>
            <a:xfrm>
              <a:off x="6553200" y="4114800"/>
              <a:ext cx="685800" cy="0"/>
            </a:xfrm>
            <a:prstGeom prst="straightConnector1">
              <a:avLst/>
            </a:prstGeom>
            <a:ln w="19050">
              <a:solidFill>
                <a:srgbClr val="FFFF99"/>
              </a:solidFill>
              <a:prstDash val="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" name="TextBox 70"/>
          <p:cNvSpPr txBox="1"/>
          <p:nvPr/>
        </p:nvSpPr>
        <p:spPr>
          <a:xfrm>
            <a:off x="2895600" y="1752600"/>
            <a:ext cx="533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114800" y="1764268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before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95400" y="1752600"/>
            <a:ext cx="137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after=null</a:t>
            </a:r>
          </a:p>
        </p:txBody>
      </p:sp>
      <p:grpSp>
        <p:nvGrpSpPr>
          <p:cNvPr id="111" name="Group 110"/>
          <p:cNvGrpSpPr/>
          <p:nvPr/>
        </p:nvGrpSpPr>
        <p:grpSpPr>
          <a:xfrm>
            <a:off x="2743200" y="2895600"/>
            <a:ext cx="5715000" cy="1283732"/>
            <a:chOff x="2743200" y="3212068"/>
            <a:chExt cx="5715000" cy="1283732"/>
          </a:xfrm>
        </p:grpSpPr>
        <p:grpSp>
          <p:nvGrpSpPr>
            <p:cNvPr id="74" name="Group 73"/>
            <p:cNvGrpSpPr/>
            <p:nvPr/>
          </p:nvGrpSpPr>
          <p:grpSpPr>
            <a:xfrm>
              <a:off x="2743200" y="3547646"/>
              <a:ext cx="5715000" cy="948154"/>
              <a:chOff x="2514600" y="3581400"/>
              <a:chExt cx="5715000" cy="948154"/>
            </a:xfrm>
          </p:grpSpPr>
          <p:sp>
            <p:nvSpPr>
              <p:cNvPr id="75" name="Rectangle 74"/>
              <p:cNvSpPr/>
              <p:nvPr/>
            </p:nvSpPr>
            <p:spPr>
              <a:xfrm>
                <a:off x="2514600" y="35814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obj1</a:t>
                </a:r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514600" y="39624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0</a:t>
                </a:r>
                <a:endPara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962400" y="35814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obj2</a:t>
                </a:r>
              </a:p>
            </p:txBody>
          </p:sp>
          <p:sp>
            <p:nvSpPr>
              <p:cNvPr id="78" name="Rectangle 77"/>
              <p:cNvSpPr/>
              <p:nvPr/>
            </p:nvSpPr>
            <p:spPr>
              <a:xfrm>
                <a:off x="3962400" y="39624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5410200" y="3581400"/>
                <a:ext cx="11430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obj3</a:t>
                </a:r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5410200" y="3962400"/>
                <a:ext cx="11430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600</a:t>
                </a:r>
              </a:p>
            </p:txBody>
          </p:sp>
          <p:sp>
            <p:nvSpPr>
              <p:cNvPr id="81" name="Rectangle 80"/>
              <p:cNvSpPr/>
              <p:nvPr/>
            </p:nvSpPr>
            <p:spPr>
              <a:xfrm>
                <a:off x="7239000" y="3581400"/>
                <a:ext cx="9906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obj4</a:t>
                </a:r>
              </a:p>
            </p:txBody>
          </p:sp>
          <p:sp>
            <p:nvSpPr>
              <p:cNvPr id="82" name="Rectangle 81"/>
              <p:cNvSpPr/>
              <p:nvPr/>
            </p:nvSpPr>
            <p:spPr>
              <a:xfrm>
                <a:off x="7239000" y="3962400"/>
                <a:ext cx="9906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null </a:t>
                </a:r>
              </a:p>
            </p:txBody>
          </p:sp>
          <p:sp>
            <p:nvSpPr>
              <p:cNvPr id="83" name="TextBox 82"/>
              <p:cNvSpPr txBox="1"/>
              <p:nvPr/>
            </p:nvSpPr>
            <p:spPr>
              <a:xfrm>
                <a:off x="27432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84" name="TextBox 83"/>
              <p:cNvSpPr txBox="1"/>
              <p:nvPr/>
            </p:nvSpPr>
            <p:spPr>
              <a:xfrm>
                <a:off x="41910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800</a:t>
                </a:r>
              </a:p>
            </p:txBody>
          </p:sp>
          <p:sp>
            <p:nvSpPr>
              <p:cNvPr id="85" name="TextBox 84"/>
              <p:cNvSpPr txBox="1"/>
              <p:nvPr/>
            </p:nvSpPr>
            <p:spPr>
              <a:xfrm>
                <a:off x="5333999" y="4191000"/>
                <a:ext cx="12192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400</a:t>
                </a:r>
              </a:p>
            </p:txBody>
          </p:sp>
          <p:sp>
            <p:nvSpPr>
              <p:cNvPr id="86" name="TextBox 85"/>
              <p:cNvSpPr txBox="1"/>
              <p:nvPr/>
            </p:nvSpPr>
            <p:spPr>
              <a:xfrm>
                <a:off x="74676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600</a:t>
                </a:r>
              </a:p>
            </p:txBody>
          </p:sp>
          <p:cxnSp>
            <p:nvCxnSpPr>
              <p:cNvPr id="87" name="Straight Arrow Connector 86"/>
              <p:cNvCxnSpPr>
                <a:stCxn id="76" idx="3"/>
                <a:endCxn id="78" idx="1"/>
              </p:cNvCxnSpPr>
              <p:nvPr/>
            </p:nvCxnSpPr>
            <p:spPr>
              <a:xfrm>
                <a:off x="3429000" y="41148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/>
              <p:cNvCxnSpPr>
                <a:stCxn id="80" idx="3"/>
                <a:endCxn id="82" idx="1"/>
              </p:cNvCxnSpPr>
              <p:nvPr/>
            </p:nvCxnSpPr>
            <p:spPr>
              <a:xfrm>
                <a:off x="6553200" y="4114800"/>
                <a:ext cx="6858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0" name="TextBox 89"/>
            <p:cNvSpPr txBox="1"/>
            <p:nvPr/>
          </p:nvSpPr>
          <p:spPr>
            <a:xfrm>
              <a:off x="4495800" y="32766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91" name="TextBox 90"/>
            <p:cNvSpPr txBox="1"/>
            <p:nvPr/>
          </p:nvSpPr>
          <p:spPr>
            <a:xfrm>
              <a:off x="5715000" y="3288268"/>
              <a:ext cx="914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before</a:t>
              </a:r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2971800" y="3212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after</a:t>
              </a:r>
            </a:p>
          </p:txBody>
        </p:sp>
      </p:grpSp>
      <p:grpSp>
        <p:nvGrpSpPr>
          <p:cNvPr id="112" name="Group 111"/>
          <p:cNvGrpSpPr/>
          <p:nvPr/>
        </p:nvGrpSpPr>
        <p:grpSpPr>
          <a:xfrm>
            <a:off x="2743200" y="4114800"/>
            <a:ext cx="5715000" cy="1283732"/>
            <a:chOff x="2743200" y="3212068"/>
            <a:chExt cx="5715000" cy="1283732"/>
          </a:xfrm>
        </p:grpSpPr>
        <p:grpSp>
          <p:nvGrpSpPr>
            <p:cNvPr id="113" name="Group 73"/>
            <p:cNvGrpSpPr/>
            <p:nvPr/>
          </p:nvGrpSpPr>
          <p:grpSpPr>
            <a:xfrm>
              <a:off x="2743200" y="3547646"/>
              <a:ext cx="5715000" cy="948154"/>
              <a:chOff x="2514600" y="3581400"/>
              <a:chExt cx="5715000" cy="948154"/>
            </a:xfrm>
          </p:grpSpPr>
          <p:sp>
            <p:nvSpPr>
              <p:cNvPr id="117" name="Rectangle 116"/>
              <p:cNvSpPr/>
              <p:nvPr/>
            </p:nvSpPr>
            <p:spPr>
              <a:xfrm>
                <a:off x="2514600" y="35814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obj1</a:t>
                </a:r>
              </a:p>
            </p:txBody>
          </p:sp>
          <p:sp>
            <p:nvSpPr>
              <p:cNvPr id="118" name="Rectangle 117"/>
              <p:cNvSpPr/>
              <p:nvPr/>
            </p:nvSpPr>
            <p:spPr>
              <a:xfrm>
                <a:off x="2514600" y="39624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0</a:t>
                </a:r>
                <a:endPara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19" name="Rectangle 118"/>
              <p:cNvSpPr/>
              <p:nvPr/>
            </p:nvSpPr>
            <p:spPr>
              <a:xfrm>
                <a:off x="3962400" y="35814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obj2</a:t>
                </a:r>
              </a:p>
            </p:txBody>
          </p:sp>
          <p:sp>
            <p:nvSpPr>
              <p:cNvPr id="120" name="Rectangle 119"/>
              <p:cNvSpPr/>
              <p:nvPr/>
            </p:nvSpPr>
            <p:spPr>
              <a:xfrm>
                <a:off x="3962400" y="39624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121" name="Rectangle 120"/>
              <p:cNvSpPr/>
              <p:nvPr/>
            </p:nvSpPr>
            <p:spPr>
              <a:xfrm>
                <a:off x="5410200" y="3581400"/>
                <a:ext cx="11430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obj3</a:t>
                </a:r>
              </a:p>
            </p:txBody>
          </p:sp>
          <p:sp>
            <p:nvSpPr>
              <p:cNvPr id="122" name="Rectangle 121"/>
              <p:cNvSpPr/>
              <p:nvPr/>
            </p:nvSpPr>
            <p:spPr>
              <a:xfrm>
                <a:off x="5410200" y="3962400"/>
                <a:ext cx="11430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800</a:t>
                </a:r>
              </a:p>
            </p:txBody>
          </p:sp>
          <p:sp>
            <p:nvSpPr>
              <p:cNvPr id="123" name="Rectangle 122"/>
              <p:cNvSpPr/>
              <p:nvPr/>
            </p:nvSpPr>
            <p:spPr>
              <a:xfrm>
                <a:off x="7239000" y="3581400"/>
                <a:ext cx="9906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obj4</a:t>
                </a:r>
              </a:p>
            </p:txBody>
          </p:sp>
          <p:sp>
            <p:nvSpPr>
              <p:cNvPr id="124" name="Rectangle 123"/>
              <p:cNvSpPr/>
              <p:nvPr/>
            </p:nvSpPr>
            <p:spPr>
              <a:xfrm>
                <a:off x="7239000" y="3962400"/>
                <a:ext cx="9906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null </a:t>
                </a:r>
              </a:p>
            </p:txBody>
          </p:sp>
          <p:sp>
            <p:nvSpPr>
              <p:cNvPr id="125" name="TextBox 124"/>
              <p:cNvSpPr txBox="1"/>
              <p:nvPr/>
            </p:nvSpPr>
            <p:spPr>
              <a:xfrm>
                <a:off x="27432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126" name="TextBox 125"/>
              <p:cNvSpPr txBox="1"/>
              <p:nvPr/>
            </p:nvSpPr>
            <p:spPr>
              <a:xfrm>
                <a:off x="41910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800</a:t>
                </a:r>
              </a:p>
            </p:txBody>
          </p:sp>
          <p:sp>
            <p:nvSpPr>
              <p:cNvPr id="127" name="TextBox 126"/>
              <p:cNvSpPr txBox="1"/>
              <p:nvPr/>
            </p:nvSpPr>
            <p:spPr>
              <a:xfrm>
                <a:off x="5333999" y="4191000"/>
                <a:ext cx="12192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400</a:t>
                </a:r>
              </a:p>
            </p:txBody>
          </p:sp>
          <p:sp>
            <p:nvSpPr>
              <p:cNvPr id="128" name="TextBox 127"/>
              <p:cNvSpPr txBox="1"/>
              <p:nvPr/>
            </p:nvSpPr>
            <p:spPr>
              <a:xfrm>
                <a:off x="74676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600</a:t>
                </a:r>
              </a:p>
            </p:txBody>
          </p:sp>
          <p:cxnSp>
            <p:nvCxnSpPr>
              <p:cNvPr id="129" name="Straight Arrow Connector 128"/>
              <p:cNvCxnSpPr>
                <a:stCxn id="118" idx="3"/>
                <a:endCxn id="120" idx="1"/>
              </p:cNvCxnSpPr>
              <p:nvPr/>
            </p:nvCxnSpPr>
            <p:spPr>
              <a:xfrm>
                <a:off x="3429000" y="41148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0" name="Straight Arrow Connector 129"/>
              <p:cNvCxnSpPr>
                <a:stCxn id="122" idx="1"/>
                <a:endCxn id="120" idx="3"/>
              </p:cNvCxnSpPr>
              <p:nvPr/>
            </p:nvCxnSpPr>
            <p:spPr>
              <a:xfrm flipH="1">
                <a:off x="4876800" y="41148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4" name="TextBox 113"/>
            <p:cNvSpPr txBox="1"/>
            <p:nvPr/>
          </p:nvSpPr>
          <p:spPr>
            <a:xfrm>
              <a:off x="6019800" y="3276600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467600" y="3288268"/>
              <a:ext cx="990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before</a:t>
              </a: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4495800" y="3212068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after</a:t>
              </a:r>
            </a:p>
          </p:txBody>
        </p:sp>
      </p:grpSp>
      <p:grpSp>
        <p:nvGrpSpPr>
          <p:cNvPr id="133" name="Group 132"/>
          <p:cNvGrpSpPr/>
          <p:nvPr/>
        </p:nvGrpSpPr>
        <p:grpSpPr>
          <a:xfrm>
            <a:off x="2743200" y="5257800"/>
            <a:ext cx="6400800" cy="1295400"/>
            <a:chOff x="2743200" y="3200400"/>
            <a:chExt cx="6400800" cy="1295400"/>
          </a:xfrm>
        </p:grpSpPr>
        <p:grpSp>
          <p:nvGrpSpPr>
            <p:cNvPr id="134" name="Group 73"/>
            <p:cNvGrpSpPr/>
            <p:nvPr/>
          </p:nvGrpSpPr>
          <p:grpSpPr>
            <a:xfrm>
              <a:off x="2743200" y="3547646"/>
              <a:ext cx="5715000" cy="948154"/>
              <a:chOff x="2514600" y="3581400"/>
              <a:chExt cx="5715000" cy="948154"/>
            </a:xfrm>
          </p:grpSpPr>
          <p:sp>
            <p:nvSpPr>
              <p:cNvPr id="138" name="Rectangle 137"/>
              <p:cNvSpPr/>
              <p:nvPr/>
            </p:nvSpPr>
            <p:spPr>
              <a:xfrm>
                <a:off x="2514600" y="35814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obj1</a:t>
                </a:r>
              </a:p>
            </p:txBody>
          </p:sp>
          <p:sp>
            <p:nvSpPr>
              <p:cNvPr id="139" name="Rectangle 138"/>
              <p:cNvSpPr/>
              <p:nvPr/>
            </p:nvSpPr>
            <p:spPr>
              <a:xfrm>
                <a:off x="2514600" y="39624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  <a:sym typeface="Wingdings" pitchFamily="2" charset="2"/>
                  </a:rPr>
                  <a:t>0</a:t>
                </a:r>
                <a:endParaRPr lang="en-US" sz="1400" b="1" dirty="0">
                  <a:solidFill>
                    <a:schemeClr val="tx1"/>
                  </a:solidFill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140" name="Rectangle 139"/>
              <p:cNvSpPr/>
              <p:nvPr/>
            </p:nvSpPr>
            <p:spPr>
              <a:xfrm>
                <a:off x="3962400" y="3581400"/>
                <a:ext cx="9144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obj2</a:t>
                </a:r>
              </a:p>
            </p:txBody>
          </p:sp>
          <p:sp>
            <p:nvSpPr>
              <p:cNvPr id="141" name="Rectangle 140"/>
              <p:cNvSpPr/>
              <p:nvPr/>
            </p:nvSpPr>
            <p:spPr>
              <a:xfrm>
                <a:off x="3962400" y="3962400"/>
                <a:ext cx="9144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142" name="Rectangle 141"/>
              <p:cNvSpPr/>
              <p:nvPr/>
            </p:nvSpPr>
            <p:spPr>
              <a:xfrm>
                <a:off x="5410200" y="3581400"/>
                <a:ext cx="11430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obj3</a:t>
                </a:r>
              </a:p>
            </p:txBody>
          </p:sp>
          <p:sp>
            <p:nvSpPr>
              <p:cNvPr id="143" name="Rectangle 142"/>
              <p:cNvSpPr/>
              <p:nvPr/>
            </p:nvSpPr>
            <p:spPr>
              <a:xfrm>
                <a:off x="5410200" y="3962400"/>
                <a:ext cx="11430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800</a:t>
                </a:r>
              </a:p>
            </p:txBody>
          </p:sp>
          <p:sp>
            <p:nvSpPr>
              <p:cNvPr id="144" name="Rectangle 143"/>
              <p:cNvSpPr/>
              <p:nvPr/>
            </p:nvSpPr>
            <p:spPr>
              <a:xfrm>
                <a:off x="7239000" y="3581400"/>
                <a:ext cx="990600" cy="3810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obj4</a:t>
                </a:r>
              </a:p>
            </p:txBody>
          </p:sp>
          <p:sp>
            <p:nvSpPr>
              <p:cNvPr id="145" name="Rectangle 144"/>
              <p:cNvSpPr/>
              <p:nvPr/>
            </p:nvSpPr>
            <p:spPr>
              <a:xfrm>
                <a:off x="7239000" y="3962400"/>
                <a:ext cx="990600" cy="304800"/>
              </a:xfrm>
              <a:prstGeom prst="rect">
                <a:avLst/>
              </a:prstGeom>
              <a:solidFill>
                <a:schemeClr val="accent6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b="1" dirty="0">
                    <a:solidFill>
                      <a:srgbClr val="FF0000"/>
                    </a:solidFill>
                    <a:latin typeface="Times New Roman" pitchFamily="18" charset="0"/>
                    <a:cs typeface="Times New Roman" pitchFamily="18" charset="0"/>
                  </a:rPr>
                  <a:t>400</a:t>
                </a:r>
                <a:r>
                  <a:rPr lang="en-US" sz="1400" b="1" dirty="0">
                    <a:solidFill>
                      <a:schemeClr val="tx1"/>
                    </a:solidFill>
                    <a:latin typeface="Times New Roman" pitchFamily="18" charset="0"/>
                    <a:cs typeface="Times New Roman" pitchFamily="18" charset="0"/>
                  </a:rPr>
                  <a:t> </a:t>
                </a:r>
              </a:p>
            </p:txBody>
          </p:sp>
          <p:sp>
            <p:nvSpPr>
              <p:cNvPr id="146" name="TextBox 145"/>
              <p:cNvSpPr txBox="1"/>
              <p:nvPr/>
            </p:nvSpPr>
            <p:spPr>
              <a:xfrm>
                <a:off x="27432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1000</a:t>
                </a:r>
              </a:p>
            </p:txBody>
          </p:sp>
          <p:sp>
            <p:nvSpPr>
              <p:cNvPr id="147" name="TextBox 146"/>
              <p:cNvSpPr txBox="1"/>
              <p:nvPr/>
            </p:nvSpPr>
            <p:spPr>
              <a:xfrm>
                <a:off x="41910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800</a:t>
                </a:r>
              </a:p>
            </p:txBody>
          </p:sp>
          <p:sp>
            <p:nvSpPr>
              <p:cNvPr id="148" name="TextBox 147"/>
              <p:cNvSpPr txBox="1"/>
              <p:nvPr/>
            </p:nvSpPr>
            <p:spPr>
              <a:xfrm>
                <a:off x="5333999" y="4191000"/>
                <a:ext cx="1219201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b="1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400</a:t>
                </a:r>
              </a:p>
            </p:txBody>
          </p:sp>
          <p:sp>
            <p:nvSpPr>
              <p:cNvPr id="149" name="TextBox 148"/>
              <p:cNvSpPr txBox="1"/>
              <p:nvPr/>
            </p:nvSpPr>
            <p:spPr>
              <a:xfrm>
                <a:off x="7467600" y="4191000"/>
                <a:ext cx="609600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1600" dirty="0">
                    <a:solidFill>
                      <a:schemeClr val="bg1"/>
                    </a:solidFill>
                    <a:latin typeface="Times New Roman" pitchFamily="18" charset="0"/>
                    <a:cs typeface="Times New Roman" pitchFamily="18" charset="0"/>
                  </a:rPr>
                  <a:t>600</a:t>
                </a:r>
              </a:p>
            </p:txBody>
          </p:sp>
          <p:cxnSp>
            <p:nvCxnSpPr>
              <p:cNvPr id="150" name="Straight Arrow Connector 149"/>
              <p:cNvCxnSpPr>
                <a:stCxn id="139" idx="3"/>
                <a:endCxn id="141" idx="1"/>
              </p:cNvCxnSpPr>
              <p:nvPr/>
            </p:nvCxnSpPr>
            <p:spPr>
              <a:xfrm>
                <a:off x="3429000" y="41148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headEnd type="arrow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Straight Arrow Connector 150"/>
              <p:cNvCxnSpPr>
                <a:stCxn id="143" idx="1"/>
                <a:endCxn id="141" idx="3"/>
              </p:cNvCxnSpPr>
              <p:nvPr/>
            </p:nvCxnSpPr>
            <p:spPr>
              <a:xfrm flipH="1">
                <a:off x="4876800" y="4114800"/>
                <a:ext cx="533400" cy="0"/>
              </a:xfrm>
              <a:prstGeom prst="straightConnector1">
                <a:avLst/>
              </a:prstGeom>
              <a:ln w="19050">
                <a:solidFill>
                  <a:srgbClr val="FFFF99"/>
                </a:solidFill>
                <a:prstDash val="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5" name="TextBox 134"/>
            <p:cNvSpPr txBox="1"/>
            <p:nvPr/>
          </p:nvSpPr>
          <p:spPr>
            <a:xfrm>
              <a:off x="7467600" y="3264932"/>
              <a:ext cx="5334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P</a:t>
              </a: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8305800" y="3276600"/>
              <a:ext cx="838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before</a:t>
              </a: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5943600" y="3200400"/>
              <a:ext cx="685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after</a:t>
              </a:r>
            </a:p>
          </p:txBody>
        </p:sp>
      </p:grpSp>
      <p:cxnSp>
        <p:nvCxnSpPr>
          <p:cNvPr id="152" name="Straight Arrow Connector 151"/>
          <p:cNvCxnSpPr>
            <a:stCxn id="145" idx="1"/>
            <a:endCxn id="143" idx="3"/>
          </p:cNvCxnSpPr>
          <p:nvPr/>
        </p:nvCxnSpPr>
        <p:spPr>
          <a:xfrm flipH="1">
            <a:off x="6781800" y="6138446"/>
            <a:ext cx="685800" cy="0"/>
          </a:xfrm>
          <a:prstGeom prst="straightConnector1">
            <a:avLst/>
          </a:prstGeom>
          <a:ln w="19050">
            <a:solidFill>
              <a:srgbClr val="FFFF99"/>
            </a:solidFill>
            <a:prstDash val="dash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TextBox 152"/>
          <p:cNvSpPr txBox="1"/>
          <p:nvPr/>
        </p:nvSpPr>
        <p:spPr>
          <a:xfrm>
            <a:off x="838200" y="5650468"/>
            <a:ext cx="1524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head: 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6</a:t>
            </a:r>
            <a:r>
              <a:rPr lang="en-US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00</a:t>
            </a:r>
            <a:endParaRPr lang="en-US" b="1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54" name="TextBox 153"/>
          <p:cNvSpPr txBox="1"/>
          <p:nvPr/>
        </p:nvSpPr>
        <p:spPr>
          <a:xfrm>
            <a:off x="838200" y="5955268"/>
            <a:ext cx="1524000" cy="369332"/>
          </a:xfrm>
          <a:prstGeom prst="rect">
            <a:avLst/>
          </a:prstGeom>
          <a:solidFill>
            <a:schemeClr val="bg1"/>
          </a:solidFill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tail: </a:t>
            </a:r>
            <a:r>
              <a:rPr lang="en-US" b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1000</a:t>
            </a:r>
            <a:endParaRPr lang="en-US" b="1" dirty="0">
              <a:solidFill>
                <a:srgbClr val="00B05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LLs…: Operations-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914400"/>
            <a:ext cx="8686800" cy="2514600"/>
          </a:xfrm>
        </p:spPr>
        <p:txBody>
          <a:bodyPr>
            <a:noAutofit/>
          </a:bodyPr>
          <a:lstStyle/>
          <a:p>
            <a:r>
              <a:rPr lang="en-US" sz="1800" b="1" u="sng" dirty="0"/>
              <a:t>Complexities</a:t>
            </a:r>
            <a:r>
              <a:rPr lang="en-US" sz="1800" dirty="0"/>
              <a:t>: Linked list s and Arrays</a:t>
            </a:r>
          </a:p>
          <a:p>
            <a:pPr lvl="1"/>
            <a:r>
              <a:rPr lang="en-US" sz="1800" dirty="0"/>
              <a:t>In LLs, Add and remove operations are more  efficient.</a:t>
            </a:r>
          </a:p>
          <a:p>
            <a:pPr lvl="1"/>
            <a:r>
              <a:rPr lang="en-US" sz="1800" dirty="0"/>
              <a:t>Search and sort operations are not improved because linear search is still used.</a:t>
            </a:r>
          </a:p>
          <a:p>
            <a:r>
              <a:rPr lang="en-US" sz="1800" b="1" u="sng" dirty="0"/>
              <a:t>How to improve?</a:t>
            </a:r>
          </a:p>
          <a:p>
            <a:pPr lvl="1"/>
            <a:r>
              <a:rPr lang="en-US" sz="1800" dirty="0"/>
              <a:t>Sorted LL can improve search operations but  add operations decrease their performance to maintain order of elements.   </a:t>
            </a:r>
          </a:p>
          <a:p>
            <a:pPr lvl="1"/>
            <a:r>
              <a:rPr lang="en-US" sz="1800" dirty="0"/>
              <a:t>Given sorted list: </a:t>
            </a:r>
            <a:r>
              <a:rPr lang="en-US" sz="18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3  5  7  9  11  13  15</a:t>
            </a:r>
          </a:p>
          <a:p>
            <a:pPr lvl="1"/>
            <a:r>
              <a:rPr lang="en-US" sz="18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Add 10 to the list:  t   t   t   t  t. Add 10 after the reference t.</a:t>
            </a:r>
          </a:p>
          <a:p>
            <a:pPr lvl="1"/>
            <a:endParaRPr lang="en-US" sz="1800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None/>
            </a:pPr>
            <a:endParaRPr lang="en-US" sz="1800" dirty="0"/>
          </a:p>
          <a:p>
            <a:pPr lvl="1"/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3611880"/>
          <a:ext cx="8305801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9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098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Operation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Arrays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L-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Sorted L-lists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 new element to the beginning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O(1)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Add to the</a:t>
                      </a:r>
                      <a:r>
                        <a:rPr lang="en-US" baseline="0" dirty="0">
                          <a:solidFill>
                            <a:srgbClr val="FF0066"/>
                          </a:solidFill>
                        </a:rPr>
                        <a:t> right position </a:t>
                      </a:r>
                      <a:r>
                        <a:rPr lang="en-US" baseline="0" dirty="0">
                          <a:solidFill>
                            <a:srgbClr val="FF0066"/>
                          </a:solidFill>
                          <a:sym typeface="Wingdings" pitchFamily="2" charset="2"/>
                        </a:rPr>
                        <a:t> Average cost: </a:t>
                      </a:r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n/2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 new element to the end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O(1)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Add new element to a specific position</a:t>
                      </a:r>
                      <a:r>
                        <a:rPr lang="en-US" baseline="0" dirty="0"/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O(1)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Linear Searching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>
                          <a:solidFill>
                            <a:schemeClr val="tx1"/>
                          </a:solidFill>
                        </a:rPr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>
                          <a:solidFill>
                            <a:srgbClr val="FF0066"/>
                          </a:solidFill>
                          <a:sym typeface="Wingdings" pitchFamily="2" charset="2"/>
                        </a:rPr>
                        <a:t>Average cost: </a:t>
                      </a:r>
                      <a:r>
                        <a:rPr lang="en-US" b="1" dirty="0">
                          <a:solidFill>
                            <a:srgbClr val="FF0066"/>
                          </a:solidFill>
                        </a:rPr>
                        <a:t>n/2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Remove an element at a specific position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O(1)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O(1)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O(n</a:t>
                      </a:r>
                      <a:r>
                        <a:rPr lang="en-US" baseline="30000" dirty="0"/>
                        <a:t>2</a:t>
                      </a:r>
                      <a:r>
                        <a:rPr lang="en-US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O(n</a:t>
                      </a:r>
                      <a:r>
                        <a:rPr lang="en-US" baseline="30000" dirty="0">
                          <a:solidFill>
                            <a:srgbClr val="FF0066"/>
                          </a:solidFill>
                        </a:rPr>
                        <a:t>2</a:t>
                      </a:r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66"/>
                          </a:solidFill>
                        </a:rPr>
                        <a:t>The list was sorted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24</a:t>
            </a:fld>
            <a:endParaRPr kumimoji="0"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48400" y="6400800"/>
            <a:ext cx="14478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FF00"/>
                </a:solidFill>
              </a:rPr>
              <a:t>Break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25</a:t>
            </a:fld>
            <a:endParaRPr kumimoji="0" lang="en-US"/>
          </a:p>
        </p:txBody>
      </p:sp>
      <p:sp>
        <p:nvSpPr>
          <p:cNvPr id="8" name="TextBox 7"/>
          <p:cNvSpPr txBox="1"/>
          <p:nvPr/>
        </p:nvSpPr>
        <p:spPr>
          <a:xfrm>
            <a:off x="381000" y="1295400"/>
            <a:ext cx="83820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u="sng" dirty="0">
                <a:solidFill>
                  <a:srgbClr val="FFC000"/>
                </a:solidFill>
              </a:rPr>
              <a:t>Objectives:</a:t>
            </a:r>
            <a:endParaRPr lang="en-US" sz="3200" b="1" u="sng" dirty="0">
              <a:solidFill>
                <a:schemeClr val="bg1"/>
              </a:solidFill>
            </a:endParaRPr>
          </a:p>
          <a:p>
            <a:pPr marL="571500" indent="-571500"/>
            <a:r>
              <a:rPr lang="en-US" sz="3200" b="1" dirty="0">
                <a:solidFill>
                  <a:schemeClr val="bg1"/>
                </a:solidFill>
              </a:rPr>
              <a:t>(1) Implementing basic operations on a singly linked list.</a:t>
            </a:r>
          </a:p>
          <a:p>
            <a:pPr marL="571500" indent="-571500"/>
            <a:r>
              <a:rPr lang="en-US" sz="3200" b="1" dirty="0">
                <a:solidFill>
                  <a:schemeClr val="bg1"/>
                </a:solidFill>
              </a:rPr>
              <a:t>(2) Reading/ writing data from/to a text file</a:t>
            </a:r>
          </a:p>
          <a:p>
            <a:pPr marL="571500" indent="-571500"/>
            <a:r>
              <a:rPr lang="en-US" sz="3200" b="1" dirty="0">
                <a:solidFill>
                  <a:schemeClr val="bg1"/>
                </a:solidFill>
              </a:rPr>
              <a:t>(3) Differentiating the </a:t>
            </a:r>
            <a:r>
              <a:rPr lang="en-US" sz="3200" b="1" dirty="0" err="1">
                <a:solidFill>
                  <a:schemeClr val="bg1"/>
                </a:solidFill>
              </a:rPr>
              <a:t>RandomAccessFile</a:t>
            </a:r>
            <a:r>
              <a:rPr lang="en-US" sz="3200" b="1" dirty="0">
                <a:solidFill>
                  <a:schemeClr val="bg1"/>
                </a:solidFill>
              </a:rPr>
              <a:t> and </a:t>
            </a:r>
            <a:r>
              <a:rPr lang="en-US" sz="3200" b="1" dirty="0" err="1">
                <a:solidFill>
                  <a:schemeClr val="bg1"/>
                </a:solidFill>
              </a:rPr>
              <a:t>BufferedReader</a:t>
            </a:r>
            <a:r>
              <a:rPr lang="en-US" sz="3200" b="1" dirty="0">
                <a:solidFill>
                  <a:schemeClr val="bg1"/>
                </a:solidFill>
              </a:rPr>
              <a:t> classes.</a:t>
            </a:r>
          </a:p>
          <a:p>
            <a:pPr marL="571500" indent="-571500"/>
            <a:r>
              <a:rPr lang="en-US" sz="3200" b="1" dirty="0">
                <a:solidFill>
                  <a:schemeClr val="bg1"/>
                </a:solidFill>
              </a:rPr>
              <a:t>(4) Introducing the way you can face when taking a practical exam. </a:t>
            </a:r>
            <a:endParaRPr lang="en-US" sz="3200" b="1" dirty="0">
              <a:solidFill>
                <a:srgbClr val="FFC000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67200" y="1600200"/>
            <a:ext cx="4800600" cy="2819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/>
              <a:t>A list of soft drinks will be managed using a singly linked list.</a:t>
            </a:r>
          </a:p>
          <a:p>
            <a:r>
              <a:rPr lang="en-US" sz="2000" dirty="0" err="1"/>
              <a:t>SoftDrink</a:t>
            </a:r>
            <a:r>
              <a:rPr lang="en-US" sz="2000" dirty="0"/>
              <a:t> : Class for a soft drink.</a:t>
            </a:r>
          </a:p>
          <a:p>
            <a:r>
              <a:rPr lang="en-US" sz="2000" dirty="0" err="1"/>
              <a:t>SLL_Node</a:t>
            </a:r>
            <a:r>
              <a:rPr lang="en-US" sz="2000" dirty="0"/>
              <a:t>: Class for a node in a SLL.</a:t>
            </a:r>
          </a:p>
          <a:p>
            <a:r>
              <a:rPr lang="en-US" sz="2000" dirty="0" err="1"/>
              <a:t>Sll_SoftDrink</a:t>
            </a:r>
            <a:r>
              <a:rPr lang="en-US" sz="2000" dirty="0"/>
              <a:t>: Class for a SLL of soft drinks.</a:t>
            </a:r>
          </a:p>
          <a:p>
            <a:r>
              <a:rPr lang="en-US" sz="2000" dirty="0" err="1"/>
              <a:t>SLL_SoftDrink_Tester</a:t>
            </a:r>
            <a:r>
              <a:rPr lang="en-US" sz="2000" dirty="0"/>
              <a:t>: Class for testing.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26</a:t>
            </a:fld>
            <a:endParaRPr kumimoji="0" lang="en-US"/>
          </a:p>
        </p:txBody>
      </p:sp>
      <p:sp>
        <p:nvSpPr>
          <p:cNvPr id="7" name="TextBox 6"/>
          <p:cNvSpPr txBox="1"/>
          <p:nvPr/>
        </p:nvSpPr>
        <p:spPr>
          <a:xfrm>
            <a:off x="228600" y="6059269"/>
            <a:ext cx="853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C00"/>
                </a:solidFill>
              </a:rPr>
              <a:t>In a practical exam, methods in the class for a linked list  are usually let empty. You must implement them.</a:t>
            </a: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838200"/>
            <a:ext cx="3962400" cy="51830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4724400" y="4724400"/>
            <a:ext cx="3581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CC00"/>
                </a:solidFill>
              </a:rPr>
              <a:t>Output text files</a:t>
            </a:r>
          </a:p>
          <a:p>
            <a:endParaRPr lang="en-US" dirty="0">
              <a:solidFill>
                <a:srgbClr val="FFCC00"/>
              </a:solidFill>
            </a:endParaRPr>
          </a:p>
          <a:p>
            <a:r>
              <a:rPr lang="en-US" dirty="0">
                <a:solidFill>
                  <a:srgbClr val="FFCC00"/>
                </a:solidFill>
              </a:rPr>
              <a:t>Input file</a:t>
            </a:r>
          </a:p>
        </p:txBody>
      </p:sp>
      <p:cxnSp>
        <p:nvCxnSpPr>
          <p:cNvPr id="13" name="Straight Arrow Connector 12"/>
          <p:cNvCxnSpPr/>
          <p:nvPr/>
        </p:nvCxnSpPr>
        <p:spPr>
          <a:xfrm flipH="1">
            <a:off x="2895600" y="4953000"/>
            <a:ext cx="1752600" cy="152400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 flipH="1">
            <a:off x="2895600" y="5486400"/>
            <a:ext cx="1752600" cy="152400"/>
          </a:xfrm>
          <a:prstGeom prst="straightConnector1">
            <a:avLst/>
          </a:prstGeom>
          <a:ln>
            <a:solidFill>
              <a:schemeClr val="bg2">
                <a:lumMod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27</a:t>
            </a:fld>
            <a:endParaRPr kumimoji="0"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14859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2402" y="1219200"/>
            <a:ext cx="8839198" cy="53319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28</a:t>
            </a:fld>
            <a:endParaRPr kumimoji="0" lang="en-US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485900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39208" y="1676401"/>
            <a:ext cx="9222418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29</a:t>
            </a:fld>
            <a:endParaRPr kumimoji="0" lang="en-US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4787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5919" y="1524000"/>
            <a:ext cx="8872164" cy="381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30</a:t>
            </a:fld>
            <a:endParaRPr kumimoji="0" lang="en-US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0288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710" y="1447800"/>
            <a:ext cx="9018582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31</a:t>
            </a:fld>
            <a:endParaRPr kumimoji="0"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288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846438"/>
            <a:ext cx="8229600" cy="5782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32</a:t>
            </a:fld>
            <a:endParaRPr kumimoji="0"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0288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447800"/>
            <a:ext cx="8215774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248400" y="762000"/>
            <a:ext cx="2619375" cy="1343025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33</a:t>
            </a:fld>
            <a:endParaRPr kumimoji="0"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288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94638" y="914400"/>
            <a:ext cx="7954726" cy="567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34</a:t>
            </a:fld>
            <a:endParaRPr kumimoji="0"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288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5293" y="762000"/>
            <a:ext cx="8553416" cy="581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35</a:t>
            </a:fld>
            <a:endParaRPr kumimoji="0" lang="en-US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28825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073" y="1600200"/>
            <a:ext cx="8753854" cy="4572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36</a:t>
            </a:fld>
            <a:endParaRPr kumimoji="0"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3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7463" y="1828800"/>
            <a:ext cx="8829076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37</a:t>
            </a:fld>
            <a:endParaRPr kumimoji="0"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20193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1371600"/>
            <a:ext cx="9144000" cy="39203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304800" y="5486400"/>
            <a:ext cx="81534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method </a:t>
            </a:r>
            <a:r>
              <a:rPr lang="en-US" b="1" dirty="0" err="1">
                <a:solidFill>
                  <a:schemeClr val="bg1"/>
                </a:solidFill>
              </a:rPr>
              <a:t>writeBytes</a:t>
            </a:r>
            <a:r>
              <a:rPr lang="en-US" b="1" dirty="0">
                <a:solidFill>
                  <a:schemeClr val="bg1"/>
                </a:solidFill>
              </a:rPr>
              <a:t>(String) of the </a:t>
            </a:r>
            <a:r>
              <a:rPr lang="en-US" b="1" dirty="0" err="1">
                <a:solidFill>
                  <a:schemeClr val="bg1"/>
                </a:solidFill>
              </a:rPr>
              <a:t>RandomAccessFile</a:t>
            </a:r>
            <a:r>
              <a:rPr lang="en-US" b="1" dirty="0">
                <a:solidFill>
                  <a:schemeClr val="bg1"/>
                </a:solidFill>
              </a:rPr>
              <a:t> class DO NOT AUTOMATICALLY ADD </a:t>
            </a:r>
            <a:r>
              <a:rPr lang="en-US" dirty="0">
                <a:solidFill>
                  <a:schemeClr val="bg1"/>
                </a:solidFill>
              </a:rPr>
              <a:t>the code of character </a:t>
            </a:r>
            <a:r>
              <a:rPr lang="en-US" b="1" dirty="0">
                <a:solidFill>
                  <a:schemeClr val="bg1"/>
                </a:solidFill>
              </a:rPr>
              <a:t>NEW LINE</a:t>
            </a:r>
            <a:r>
              <a:rPr lang="en-US" dirty="0">
                <a:solidFill>
                  <a:schemeClr val="bg1"/>
                </a:solidFill>
              </a:rPr>
              <a:t>.</a:t>
            </a:r>
          </a:p>
          <a:p>
            <a:r>
              <a:rPr lang="en-US" dirty="0">
                <a:solidFill>
                  <a:schemeClr val="bg1"/>
                </a:solidFill>
              </a:rPr>
              <a:t>Content of the file are character codes.</a:t>
            </a:r>
          </a:p>
        </p:txBody>
      </p:sp>
      <p:cxnSp>
        <p:nvCxnSpPr>
          <p:cNvPr id="13" name="Straight Arrow Connector 12"/>
          <p:cNvCxnSpPr>
            <a:stCxn id="11" idx="0"/>
          </p:cNvCxnSpPr>
          <p:nvPr/>
        </p:nvCxnSpPr>
        <p:spPr>
          <a:xfrm flipV="1">
            <a:off x="4381500" y="2514600"/>
            <a:ext cx="1257300" cy="29718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5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459BBE16-89E8-20FB-8A55-DFCF509F6DA2}"/>
                  </a:ext>
                </a:extLst>
              </p14:cNvPr>
              <p14:cNvContentPartPr/>
              <p14:nvPr/>
            </p14:nvContentPartPr>
            <p14:xfrm>
              <a:off x="7627987" y="336104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459BBE16-89E8-20FB-8A55-DFCF509F6DA2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19347" y="3352040"/>
                <a:ext cx="1800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6" name="Group 15">
            <a:extLst>
              <a:ext uri="{FF2B5EF4-FFF2-40B4-BE49-F238E27FC236}">
                <a16:creationId xmlns:a16="http://schemas.microsoft.com/office/drawing/2014/main" id="{62456F30-7BF5-B8E8-5CC5-2388CB6B505E}"/>
              </a:ext>
            </a:extLst>
          </p:cNvPr>
          <p:cNvGrpSpPr/>
          <p:nvPr/>
        </p:nvGrpSpPr>
        <p:grpSpPr>
          <a:xfrm>
            <a:off x="7976467" y="2988440"/>
            <a:ext cx="1074960" cy="773640"/>
            <a:chOff x="7976467" y="2988440"/>
            <a:chExt cx="1074960" cy="7736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C220F28-69BD-182F-E3A0-1B3291DB6999}"/>
                    </a:ext>
                  </a:extLst>
                </p14:cNvPr>
                <p14:cNvContentPartPr/>
                <p14:nvPr/>
              </p14:nvContentPartPr>
              <p14:xfrm>
                <a:off x="8000947" y="2997080"/>
                <a:ext cx="9000" cy="7218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C220F28-69BD-182F-E3A0-1B3291DB6999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992307" y="2988080"/>
                  <a:ext cx="26640" cy="73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9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26F630B-7CC9-45E5-8449-06A20A4C4B25}"/>
                    </a:ext>
                  </a:extLst>
                </p14:cNvPr>
                <p14:cNvContentPartPr/>
                <p14:nvPr/>
              </p14:nvContentPartPr>
              <p14:xfrm>
                <a:off x="7976467" y="2988440"/>
                <a:ext cx="1074960" cy="7736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26F630B-7CC9-45E5-8449-06A20A4C4B2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967827" y="2979800"/>
                  <a:ext cx="1092600" cy="79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FDC85EA-3D03-98C8-9DC2-68C042778D43}"/>
                    </a:ext>
                  </a:extLst>
                </p14:cNvPr>
                <p14:cNvContentPartPr/>
                <p14:nvPr/>
              </p14:nvContentPartPr>
              <p14:xfrm>
                <a:off x="8127667" y="3065120"/>
                <a:ext cx="65880" cy="1461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FDC85EA-3D03-98C8-9DC2-68C042778D43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119027" y="3056120"/>
                  <a:ext cx="835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3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5F268B8-0BBA-CC18-5CF6-8A0F2305A7CB}"/>
                    </a:ext>
                  </a:extLst>
                </p14:cNvPr>
                <p14:cNvContentPartPr/>
                <p14:nvPr/>
              </p14:nvContentPartPr>
              <p14:xfrm>
                <a:off x="8253667" y="3115880"/>
                <a:ext cx="93240" cy="11052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5F268B8-0BBA-CC18-5CF6-8A0F2305A7C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245027" y="3107240"/>
                  <a:ext cx="1108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4FB1A3B-711E-6EE4-87FB-3667F9BC53A3}"/>
                    </a:ext>
                  </a:extLst>
                </p14:cNvPr>
                <p14:cNvContentPartPr/>
                <p14:nvPr/>
              </p14:nvContentPartPr>
              <p14:xfrm>
                <a:off x="8356627" y="3090320"/>
                <a:ext cx="16560" cy="102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4FB1A3B-711E-6EE4-87FB-3667F9BC53A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347627" y="3081320"/>
                  <a:ext cx="34200" cy="12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7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C5CBCEB-2766-A0E8-866C-BB48D713189B}"/>
                    </a:ext>
                  </a:extLst>
                </p14:cNvPr>
                <p14:cNvContentPartPr/>
                <p14:nvPr/>
              </p14:nvContentPartPr>
              <p14:xfrm>
                <a:off x="8424307" y="3098600"/>
                <a:ext cx="14040" cy="1137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C5CBCEB-2766-A0E8-866C-BB48D713189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8415307" y="3089600"/>
                  <a:ext cx="31680" cy="13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19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57E43CB-95FF-756C-57C7-CF23D7787847}"/>
                    </a:ext>
                  </a:extLst>
                </p14:cNvPr>
                <p14:cNvContentPartPr/>
                <p14:nvPr/>
              </p14:nvContentPartPr>
              <p14:xfrm>
                <a:off x="8490907" y="3148280"/>
                <a:ext cx="79200" cy="87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57E43CB-95FF-756C-57C7-CF23D778784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8481907" y="3139640"/>
                  <a:ext cx="96840" cy="105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1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2E836251-DD46-546E-E519-65E340CF3872}"/>
                  </a:ext>
                </a:extLst>
              </p14:cNvPr>
              <p14:cNvContentPartPr/>
              <p14:nvPr/>
            </p14:nvContentPartPr>
            <p14:xfrm>
              <a:off x="8635627" y="3242600"/>
              <a:ext cx="19440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2E836251-DD46-546E-E519-65E340CF387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626987" y="3233600"/>
                <a:ext cx="21204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6" name="Group 35">
            <a:extLst>
              <a:ext uri="{FF2B5EF4-FFF2-40B4-BE49-F238E27FC236}">
                <a16:creationId xmlns:a16="http://schemas.microsoft.com/office/drawing/2014/main" id="{D4EB08D4-AA0F-C393-DE00-2D945E5685F0}"/>
              </a:ext>
            </a:extLst>
          </p:cNvPr>
          <p:cNvGrpSpPr/>
          <p:nvPr/>
        </p:nvGrpSpPr>
        <p:grpSpPr>
          <a:xfrm>
            <a:off x="7856587" y="3157640"/>
            <a:ext cx="510840" cy="570600"/>
            <a:chOff x="7856587" y="3157640"/>
            <a:chExt cx="510840" cy="57060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3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785C972-9B4F-F994-B6CD-959FAE6D80EB}"/>
                    </a:ext>
                  </a:extLst>
                </p14:cNvPr>
                <p14:cNvContentPartPr/>
                <p14:nvPr/>
              </p14:nvContentPartPr>
              <p14:xfrm>
                <a:off x="7856587" y="3157640"/>
                <a:ext cx="211680" cy="466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785C972-9B4F-F994-B6CD-959FAE6D80EB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847587" y="3148640"/>
                  <a:ext cx="22932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5DCB582-46B8-3CC5-1BB0-35C4CBC6F5D2}"/>
                    </a:ext>
                  </a:extLst>
                </p14:cNvPr>
                <p14:cNvContentPartPr/>
                <p14:nvPr/>
              </p14:nvContentPartPr>
              <p14:xfrm>
                <a:off x="8045947" y="3555800"/>
                <a:ext cx="106560" cy="17244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5DCB582-46B8-3CC5-1BB0-35C4CBC6F5D2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8037307" y="3546800"/>
                  <a:ext cx="124200" cy="19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7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557CFD8-AAD0-8952-14A5-0845AC6528A9}"/>
                    </a:ext>
                  </a:extLst>
                </p14:cNvPr>
                <p14:cNvContentPartPr/>
                <p14:nvPr/>
              </p14:nvContentPartPr>
              <p14:xfrm>
                <a:off x="8187067" y="3640040"/>
                <a:ext cx="180360" cy="17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557CFD8-AAD0-8952-14A5-0845AC6528A9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8178067" y="3631400"/>
                  <a:ext cx="198000" cy="3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0E52132-1014-8227-D85F-57F3F9A2BAE9}"/>
              </a:ext>
            </a:extLst>
          </p:cNvPr>
          <p:cNvGrpSpPr/>
          <p:nvPr/>
        </p:nvGrpSpPr>
        <p:grpSpPr>
          <a:xfrm>
            <a:off x="7568947" y="3432680"/>
            <a:ext cx="212760" cy="197280"/>
            <a:chOff x="7568947" y="3432680"/>
            <a:chExt cx="212760" cy="19728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2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99DF660-8794-9701-CE06-7156519F05C9}"/>
                    </a:ext>
                  </a:extLst>
                </p14:cNvPr>
                <p14:cNvContentPartPr/>
                <p14:nvPr/>
              </p14:nvContentPartPr>
              <p14:xfrm>
                <a:off x="7568947" y="3432680"/>
                <a:ext cx="35280" cy="1972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99DF660-8794-9701-CE06-7156519F05C9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560307" y="3424040"/>
                  <a:ext cx="52920" cy="21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1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F34C5AE-C20F-CD28-7752-3FE3440511E6}"/>
                    </a:ext>
                  </a:extLst>
                </p14:cNvPr>
                <p14:cNvContentPartPr/>
                <p14:nvPr/>
              </p14:nvContentPartPr>
              <p14:xfrm>
                <a:off x="7653187" y="3470480"/>
                <a:ext cx="128520" cy="155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F34C5AE-C20F-CD28-7752-3FE3440511E6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7644187" y="3461840"/>
                  <a:ext cx="146160" cy="172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C345123A-D869-7C80-8099-D5F2BA13A33A}"/>
              </a:ext>
            </a:extLst>
          </p:cNvPr>
          <p:cNvGrpSpPr/>
          <p:nvPr/>
        </p:nvGrpSpPr>
        <p:grpSpPr>
          <a:xfrm>
            <a:off x="8017867" y="3217400"/>
            <a:ext cx="972720" cy="262440"/>
            <a:chOff x="8017867" y="3217400"/>
            <a:chExt cx="972720" cy="2624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3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3AAF02E-5D23-D5AD-6D7C-FB8726FDB5EC}"/>
                    </a:ext>
                  </a:extLst>
                </p14:cNvPr>
                <p14:cNvContentPartPr/>
                <p14:nvPr/>
              </p14:nvContentPartPr>
              <p14:xfrm>
                <a:off x="8017867" y="3217400"/>
                <a:ext cx="10944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3AAF02E-5D23-D5AD-6D7C-FB8726FDB5EC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008867" y="3208400"/>
                  <a:ext cx="12708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5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34FAB88-E366-515D-9697-FB87466F29AE}"/>
                    </a:ext>
                  </a:extLst>
                </p14:cNvPr>
                <p14:cNvContentPartPr/>
                <p14:nvPr/>
              </p14:nvContentPartPr>
              <p14:xfrm>
                <a:off x="8068627" y="3242600"/>
                <a:ext cx="29160" cy="468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34FAB88-E366-515D-9697-FB87466F29AE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59627" y="3233600"/>
                  <a:ext cx="46800" cy="6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7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E07F174-F44D-83AF-631E-50AD93015CAE}"/>
                    </a:ext>
                  </a:extLst>
                </p14:cNvPr>
                <p14:cNvContentPartPr/>
                <p14:nvPr/>
              </p14:nvContentPartPr>
              <p14:xfrm>
                <a:off x="8161867" y="3352400"/>
                <a:ext cx="35640" cy="205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E07F174-F44D-83AF-631E-50AD93015CAE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152867" y="3343760"/>
                  <a:ext cx="532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39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9BD6F0FA-EF7E-DD03-BB67-D77D4CC5889C}"/>
                    </a:ext>
                  </a:extLst>
                </p14:cNvPr>
                <p14:cNvContentPartPr/>
                <p14:nvPr/>
              </p14:nvContentPartPr>
              <p14:xfrm>
                <a:off x="8220907" y="3378320"/>
                <a:ext cx="54360" cy="2124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9BD6F0FA-EF7E-DD03-BB67-D77D4CC5889C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8212267" y="3369320"/>
                  <a:ext cx="7200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1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1EB0AA-3967-DE52-A9F3-0A099554A5B1}"/>
                    </a:ext>
                  </a:extLst>
                </p14:cNvPr>
                <p14:cNvContentPartPr/>
                <p14:nvPr/>
              </p14:nvContentPartPr>
              <p14:xfrm>
                <a:off x="8314147" y="3403520"/>
                <a:ext cx="69840" cy="216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1EB0AA-3967-DE52-A9F3-0A099554A5B1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8305507" y="3394520"/>
                  <a:ext cx="8748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3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9AC326E-F8E4-0820-DB5A-5883F4AA79A1}"/>
                    </a:ext>
                  </a:extLst>
                </p14:cNvPr>
                <p14:cNvContentPartPr/>
                <p14:nvPr/>
              </p14:nvContentPartPr>
              <p14:xfrm>
                <a:off x="8449867" y="3445640"/>
                <a:ext cx="69840" cy="86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9AC326E-F8E4-0820-DB5A-5883F4AA79A1}"/>
                    </a:ext>
                  </a:extLst>
                </p:cNvPr>
                <p:cNvPicPr/>
                <p:nvPr/>
              </p:nvPicPr>
              <p:blipFill>
                <a:blip r:embed="rId44"/>
                <a:stretch>
                  <a:fillRect/>
                </a:stretch>
              </p:blipFill>
              <p:spPr>
                <a:xfrm>
                  <a:off x="8440867" y="3437000"/>
                  <a:ext cx="874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5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64BB5937-3BAF-5EC3-87F8-39136ADF5A54}"/>
                    </a:ext>
                  </a:extLst>
                </p14:cNvPr>
                <p14:cNvContentPartPr/>
                <p14:nvPr/>
              </p14:nvContentPartPr>
              <p14:xfrm>
                <a:off x="8559667" y="3454280"/>
                <a:ext cx="57600" cy="3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64BB5937-3BAF-5EC3-87F8-39136ADF5A54}"/>
                    </a:ext>
                  </a:extLst>
                </p:cNvPr>
                <p:cNvPicPr/>
                <p:nvPr/>
              </p:nvPicPr>
              <p:blipFill>
                <a:blip r:embed="rId46"/>
                <a:stretch>
                  <a:fillRect/>
                </a:stretch>
              </p:blipFill>
              <p:spPr>
                <a:xfrm>
                  <a:off x="8551027" y="3445280"/>
                  <a:ext cx="7524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7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5F3713B-EC5F-67FB-E763-0574267DB8BD}"/>
                    </a:ext>
                  </a:extLst>
                </p14:cNvPr>
                <p14:cNvContentPartPr/>
                <p14:nvPr/>
              </p14:nvContentPartPr>
              <p14:xfrm>
                <a:off x="8669827" y="3410360"/>
                <a:ext cx="5400" cy="1044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5F3713B-EC5F-67FB-E763-0574267DB8BD}"/>
                    </a:ext>
                  </a:extLst>
                </p:cNvPr>
                <p:cNvPicPr/>
                <p:nvPr/>
              </p:nvPicPr>
              <p:blipFill>
                <a:blip r:embed="rId48"/>
                <a:stretch>
                  <a:fillRect/>
                </a:stretch>
              </p:blipFill>
              <p:spPr>
                <a:xfrm>
                  <a:off x="8660827" y="3401360"/>
                  <a:ext cx="230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9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C939E5B2-0CA8-2C58-BB0E-3257E95B3616}"/>
                    </a:ext>
                  </a:extLst>
                </p14:cNvPr>
                <p14:cNvContentPartPr/>
                <p14:nvPr/>
              </p14:nvContentPartPr>
              <p14:xfrm>
                <a:off x="8737507" y="3285080"/>
                <a:ext cx="20880" cy="594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C939E5B2-0CA8-2C58-BB0E-3257E95B3616}"/>
                    </a:ext>
                  </a:extLst>
                </p:cNvPr>
                <p:cNvPicPr/>
                <p:nvPr/>
              </p:nvPicPr>
              <p:blipFill>
                <a:blip r:embed="rId50"/>
                <a:stretch>
                  <a:fillRect/>
                </a:stretch>
              </p:blipFill>
              <p:spPr>
                <a:xfrm>
                  <a:off x="8728507" y="3276440"/>
                  <a:ext cx="3852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1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4A94901-DFDE-586A-7172-220320AE6AFD}"/>
                    </a:ext>
                  </a:extLst>
                </p14:cNvPr>
                <p14:cNvContentPartPr/>
                <p14:nvPr/>
              </p14:nvContentPartPr>
              <p14:xfrm>
                <a:off x="8043427" y="3242600"/>
                <a:ext cx="360" cy="838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4A94901-DFDE-586A-7172-220320AE6AFD}"/>
                    </a:ext>
                  </a:extLst>
                </p:cNvPr>
                <p:cNvPicPr/>
                <p:nvPr/>
              </p:nvPicPr>
              <p:blipFill>
                <a:blip r:embed="rId52"/>
                <a:stretch>
                  <a:fillRect/>
                </a:stretch>
              </p:blipFill>
              <p:spPr>
                <a:xfrm>
                  <a:off x="8034427" y="3233600"/>
                  <a:ext cx="18000" cy="10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3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4F8B9ED-7942-5C2A-8B36-7C92A72FFF29}"/>
                    </a:ext>
                  </a:extLst>
                </p14:cNvPr>
                <p14:cNvContentPartPr/>
                <p14:nvPr/>
              </p14:nvContentPartPr>
              <p14:xfrm>
                <a:off x="8068627" y="3250880"/>
                <a:ext cx="71640" cy="122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4F8B9ED-7942-5C2A-8B36-7C92A72FFF29}"/>
                    </a:ext>
                  </a:extLst>
                </p:cNvPr>
                <p:cNvPicPr/>
                <p:nvPr/>
              </p:nvPicPr>
              <p:blipFill>
                <a:blip r:embed="rId54"/>
                <a:stretch>
                  <a:fillRect/>
                </a:stretch>
              </p:blipFill>
              <p:spPr>
                <a:xfrm>
                  <a:off x="8059627" y="3242240"/>
                  <a:ext cx="892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5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2C1E6957-719E-2084-DC38-A61EC7CDEE7A}"/>
                    </a:ext>
                  </a:extLst>
                </p14:cNvPr>
                <p14:cNvContentPartPr/>
                <p14:nvPr/>
              </p14:nvContentPartPr>
              <p14:xfrm>
                <a:off x="8051707" y="3252680"/>
                <a:ext cx="9000" cy="579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2C1E6957-719E-2084-DC38-A61EC7CDEE7A}"/>
                    </a:ext>
                  </a:extLst>
                </p:cNvPr>
                <p:cNvPicPr/>
                <p:nvPr/>
              </p:nvPicPr>
              <p:blipFill>
                <a:blip r:embed="rId56"/>
                <a:stretch>
                  <a:fillRect/>
                </a:stretch>
              </p:blipFill>
              <p:spPr>
                <a:xfrm>
                  <a:off x="8043067" y="3244040"/>
                  <a:ext cx="26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7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BFDF687-5CAB-6C8E-5EFB-37269F707D1C}"/>
                    </a:ext>
                  </a:extLst>
                </p14:cNvPr>
                <p14:cNvContentPartPr/>
                <p14:nvPr/>
              </p14:nvContentPartPr>
              <p14:xfrm>
                <a:off x="8745787" y="3347000"/>
                <a:ext cx="69480" cy="1328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BFDF687-5CAB-6C8E-5EFB-37269F707D1C}"/>
                    </a:ext>
                  </a:extLst>
                </p:cNvPr>
                <p:cNvPicPr/>
                <p:nvPr/>
              </p:nvPicPr>
              <p:blipFill>
                <a:blip r:embed="rId58"/>
                <a:stretch>
                  <a:fillRect/>
                </a:stretch>
              </p:blipFill>
              <p:spPr>
                <a:xfrm>
                  <a:off x="8736787" y="3338360"/>
                  <a:ext cx="8712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59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7159959-128A-221C-70D0-EFFB072659DA}"/>
                    </a:ext>
                  </a:extLst>
                </p14:cNvPr>
                <p14:cNvContentPartPr/>
                <p14:nvPr/>
              </p14:nvContentPartPr>
              <p14:xfrm>
                <a:off x="8881507" y="3335120"/>
                <a:ext cx="109080" cy="137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7159959-128A-221C-70D0-EFFB072659DA}"/>
                    </a:ext>
                  </a:extLst>
                </p:cNvPr>
                <p:cNvPicPr/>
                <p:nvPr/>
              </p:nvPicPr>
              <p:blipFill>
                <a:blip r:embed="rId60"/>
                <a:stretch>
                  <a:fillRect/>
                </a:stretch>
              </p:blipFill>
              <p:spPr>
                <a:xfrm>
                  <a:off x="8872507" y="3326480"/>
                  <a:ext cx="126720" cy="15516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43" name="Speech Bubble: Oval 42">
            <a:extLst>
              <a:ext uri="{FF2B5EF4-FFF2-40B4-BE49-F238E27FC236}">
                <a16:creationId xmlns:a16="http://schemas.microsoft.com/office/drawing/2014/main" id="{0CCA3E79-4B35-EF75-7680-6D61172CF2CD}"/>
              </a:ext>
            </a:extLst>
          </p:cNvPr>
          <p:cNvSpPr/>
          <p:nvPr/>
        </p:nvSpPr>
        <p:spPr>
          <a:xfrm>
            <a:off x="8530507" y="2361860"/>
            <a:ext cx="826508" cy="721800"/>
          </a:xfrm>
          <a:prstGeom prst="wedgeEllipseCallou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800" dirty="0"/>
              <a:t>Mới đầu con </a:t>
            </a:r>
            <a:r>
              <a:rPr lang="en-US" sz="800" dirty="0" err="1"/>
              <a:t>nháy</a:t>
            </a:r>
            <a:r>
              <a:rPr lang="en-US" sz="800" dirty="0"/>
              <a:t> ở cuối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1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7DD31ABD-9B0B-97BF-0EC0-BD841041F6B5}"/>
                  </a:ext>
                </a:extLst>
              </p14:cNvPr>
              <p14:cNvContentPartPr/>
              <p14:nvPr/>
            </p14:nvContentPartPr>
            <p14:xfrm>
              <a:off x="5808187" y="2531240"/>
              <a:ext cx="2367360" cy="44856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7DD31ABD-9B0B-97BF-0EC0-BD841041F6B5}"/>
                  </a:ext>
                </a:extLst>
              </p:cNvPr>
              <p:cNvPicPr/>
              <p:nvPr/>
            </p:nvPicPr>
            <p:blipFill>
              <a:blip r:embed="rId62"/>
              <a:stretch>
                <a:fillRect/>
              </a:stretch>
            </p:blipFill>
            <p:spPr>
              <a:xfrm>
                <a:off x="5790187" y="2423600"/>
                <a:ext cx="2403000" cy="66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63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B5293338-BA3F-2BA3-3110-970D97EF0ABC}"/>
                  </a:ext>
                </a:extLst>
              </p14:cNvPr>
              <p14:cNvContentPartPr/>
              <p14:nvPr/>
            </p14:nvContentPartPr>
            <p14:xfrm>
              <a:off x="5751307" y="2483360"/>
              <a:ext cx="273240" cy="216000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B5293338-BA3F-2BA3-3110-970D97EF0ABC}"/>
                  </a:ext>
                </a:extLst>
              </p:cNvPr>
              <p:cNvPicPr/>
              <p:nvPr/>
            </p:nvPicPr>
            <p:blipFill>
              <a:blip r:embed="rId64"/>
              <a:stretch>
                <a:fillRect/>
              </a:stretch>
            </p:blipFill>
            <p:spPr>
              <a:xfrm>
                <a:off x="5733307" y="2375720"/>
                <a:ext cx="308880" cy="431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38</a:t>
            </a:fld>
            <a:endParaRPr kumimoji="0"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3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Box 10"/>
          <p:cNvSpPr txBox="1"/>
          <p:nvPr/>
        </p:nvSpPr>
        <p:spPr>
          <a:xfrm>
            <a:off x="304800" y="5486400"/>
            <a:ext cx="8153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method </a:t>
            </a:r>
            <a:r>
              <a:rPr lang="en-US" b="1" dirty="0" err="1">
                <a:solidFill>
                  <a:schemeClr val="bg1"/>
                </a:solidFill>
              </a:rPr>
              <a:t>println</a:t>
            </a:r>
            <a:r>
              <a:rPr lang="en-US" b="1" dirty="0">
                <a:solidFill>
                  <a:schemeClr val="bg1"/>
                </a:solidFill>
              </a:rPr>
              <a:t>(…) of the </a:t>
            </a:r>
            <a:r>
              <a:rPr lang="en-US" b="1" dirty="0" err="1">
                <a:solidFill>
                  <a:schemeClr val="bg1"/>
                </a:solidFill>
              </a:rPr>
              <a:t>PrintWriter</a:t>
            </a:r>
            <a:r>
              <a:rPr lang="en-US" b="1" dirty="0">
                <a:solidFill>
                  <a:schemeClr val="bg1"/>
                </a:solidFill>
              </a:rPr>
              <a:t> class will automatically add the code of the NEWLINE character to the end of parameter. 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524000"/>
            <a:ext cx="9144000" cy="34499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2" name="Straight Arrow Connector 11"/>
          <p:cNvCxnSpPr/>
          <p:nvPr/>
        </p:nvCxnSpPr>
        <p:spPr>
          <a:xfrm flipH="1" flipV="1">
            <a:off x="2590800" y="2286000"/>
            <a:ext cx="1752600" cy="3124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39</a:t>
            </a:fld>
            <a:endParaRPr kumimoji="0"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3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04924"/>
            <a:ext cx="7578294" cy="48672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1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553200" y="3657600"/>
            <a:ext cx="2400300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895600" y="9144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C000"/>
                </a:solidFill>
              </a:rPr>
              <a:t>Testing</a:t>
            </a:r>
          </a:p>
        </p:txBody>
      </p:sp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24625" y="2057400"/>
            <a:ext cx="2619375" cy="1343025"/>
          </a:xfrm>
          <a:prstGeom prst="rect">
            <a:avLst/>
          </a:prstGeom>
          <a:noFill/>
          <a:ln w="9525">
            <a:solidFill>
              <a:srgbClr val="FFCC00"/>
            </a:solidFill>
            <a:miter lim="800000"/>
            <a:headEnd/>
            <a:tailEnd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40</a:t>
            </a:fld>
            <a:endParaRPr kumimoji="0"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3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95400"/>
            <a:ext cx="9144000" cy="3534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18924" y="4905375"/>
            <a:ext cx="3848276" cy="1571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727724" y="5210175"/>
            <a:ext cx="4111476" cy="6572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2895600" y="9144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C000"/>
                </a:solidFill>
              </a:rPr>
              <a:t>Testing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41</a:t>
            </a:fld>
            <a:endParaRPr kumimoji="0"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3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79810"/>
            <a:ext cx="9144000" cy="30635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7924" y="4648200"/>
            <a:ext cx="3848276" cy="15716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400424" y="4452141"/>
            <a:ext cx="5743576" cy="19637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895600" y="9144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C000"/>
                </a:solidFill>
              </a:rPr>
              <a:t>Testing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Singly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42</a:t>
            </a:fld>
            <a:endParaRPr kumimoji="0" lang="en-US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2019300" cy="117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676400" y="1295400"/>
            <a:ext cx="6012116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2475" y="2971800"/>
            <a:ext cx="7639050" cy="198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76200" y="5029200"/>
            <a:ext cx="8991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We can read  data in the file </a:t>
            </a:r>
            <a:r>
              <a:rPr lang="en-US" b="1" u="sng" dirty="0">
                <a:solidFill>
                  <a:schemeClr val="bg1"/>
                </a:solidFill>
              </a:rPr>
              <a:t>results.txt</a:t>
            </a:r>
            <a:r>
              <a:rPr lang="en-US" dirty="0">
                <a:solidFill>
                  <a:schemeClr val="bg1"/>
                </a:solidFill>
              </a:rPr>
              <a:t> because data in this file are codes of characters.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600" y="9144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C000"/>
                </a:solidFill>
              </a:rPr>
              <a:t>Testing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43</a:t>
            </a:fld>
            <a:endParaRPr kumimoji="0"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325880"/>
            <a:ext cx="4876800" cy="30328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5867400" y="1249680"/>
            <a:ext cx="3200400" cy="4389120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 list of flowers managed using a Doubly Linked List.</a:t>
            </a:r>
          </a:p>
          <a:p>
            <a:r>
              <a:rPr lang="en-US" dirty="0"/>
              <a:t>Flower: Class for a flower </a:t>
            </a:r>
          </a:p>
          <a:p>
            <a:r>
              <a:rPr lang="en-US" dirty="0" err="1"/>
              <a:t>DLL_Node</a:t>
            </a:r>
            <a:r>
              <a:rPr lang="en-US" dirty="0"/>
              <a:t>: Class for a node in a DLL.</a:t>
            </a:r>
          </a:p>
          <a:p>
            <a:r>
              <a:rPr lang="en-US" dirty="0" err="1"/>
              <a:t>DLL_FlowerList</a:t>
            </a:r>
            <a:r>
              <a:rPr lang="en-US" dirty="0"/>
              <a:t>: Class for a DLL of flowers.</a:t>
            </a:r>
          </a:p>
          <a:p>
            <a:r>
              <a:rPr lang="en-US" dirty="0"/>
              <a:t>Class for testing: </a:t>
            </a:r>
            <a:r>
              <a:rPr lang="en-US" dirty="0" err="1"/>
              <a:t>DLL_Flower_Tester</a:t>
            </a:r>
            <a:endParaRPr lang="en-US" dirty="0"/>
          </a:p>
          <a:p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152400" y="4450080"/>
            <a:ext cx="50292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FF99"/>
                </a:solidFill>
              </a:rPr>
              <a:t>In a practical exam, methods in the class for a linked list  are usually let empty. You must implement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4800" y="5754469"/>
            <a:ext cx="8458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20000"/>
                    <a:lumOff val="80000"/>
                  </a:schemeClr>
                </a:solidFill>
              </a:rPr>
              <a:t>In this demonstration, write-to-file operations  are not implemented. You can do them by yourself. 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44</a:t>
            </a:fld>
            <a:endParaRPr kumimoji="0"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145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2625" y="1085850"/>
            <a:ext cx="62769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45</a:t>
            </a:fld>
            <a:endParaRPr kumimoji="0"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14525" cy="121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52625" y="1085850"/>
            <a:ext cx="6276975" cy="5467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46</a:t>
            </a:fld>
            <a:endParaRPr kumimoji="0" lang="en-US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885950" cy="119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550" y="1828800"/>
            <a:ext cx="8978900" cy="32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47</a:t>
            </a:fld>
            <a:endParaRPr kumimoji="0"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1594301"/>
            <a:ext cx="9144000" cy="366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48</a:t>
            </a:fld>
            <a:endParaRPr kumimoji="0"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990600"/>
            <a:ext cx="9144000" cy="40748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505200" y="54102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505200" y="57150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505200" y="60198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76800" y="54102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76800" y="57150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76800" y="60198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5200" y="51054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newNode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5029200" y="5105400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head</a:t>
            </a:r>
          </a:p>
        </p:txBody>
      </p:sp>
      <p:cxnSp>
        <p:nvCxnSpPr>
          <p:cNvPr id="15" name="Straight Arrow Connector 14"/>
          <p:cNvCxnSpPr>
            <a:stCxn id="8" idx="3"/>
            <a:endCxn id="11" idx="1"/>
          </p:cNvCxnSpPr>
          <p:nvPr/>
        </p:nvCxnSpPr>
        <p:spPr>
          <a:xfrm>
            <a:off x="4572000" y="5867400"/>
            <a:ext cx="304800" cy="1588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1"/>
            <a:endCxn id="9" idx="3"/>
          </p:cNvCxnSpPr>
          <p:nvPr/>
        </p:nvCxnSpPr>
        <p:spPr>
          <a:xfrm rot="10800000">
            <a:off x="4572000" y="6172200"/>
            <a:ext cx="304800" cy="1588"/>
          </a:xfrm>
          <a:prstGeom prst="straightConnector1">
            <a:avLst/>
          </a:prstGeom>
          <a:ln w="28575">
            <a:solidFill>
              <a:srgbClr val="FFFF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D512B4C-A20A-4D87-E332-2FB63E38AD73}"/>
              </a:ext>
            </a:extLst>
          </p:cNvPr>
          <p:cNvGrpSpPr/>
          <p:nvPr/>
        </p:nvGrpSpPr>
        <p:grpSpPr>
          <a:xfrm>
            <a:off x="9067627" y="152000"/>
            <a:ext cx="59760" cy="42840"/>
            <a:chOff x="9067627" y="152000"/>
            <a:chExt cx="59760" cy="42840"/>
          </a:xfrm>
        </p:grpSpPr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D8B00A2-F986-F1AF-E3E4-96BE7518A8E7}"/>
                    </a:ext>
                  </a:extLst>
                </p14:cNvPr>
                <p14:cNvContentPartPr/>
                <p14:nvPr/>
              </p14:nvContentPartPr>
              <p14:xfrm>
                <a:off x="9127027" y="194480"/>
                <a:ext cx="360" cy="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D8B00A2-F986-F1AF-E3E4-96BE7518A8E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109027" y="8684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A8EDE7D-CD98-64E5-27EF-211EEBFB6A5E}"/>
                    </a:ext>
                  </a:extLst>
                </p14:cNvPr>
                <p14:cNvContentPartPr/>
                <p14:nvPr/>
              </p14:nvContentPartPr>
              <p14:xfrm>
                <a:off x="9076267" y="152000"/>
                <a:ext cx="360" cy="3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A8EDE7D-CD98-64E5-27EF-211EEBFB6A5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9058267" y="4436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xmlns:aink="http://schemas.microsoft.com/office/drawing/2016/ink" Requires="p14 aink">
            <p:contentPart p14:bwMode="auto" r:id="rId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83EECE6-D468-4E88-C051-1C28C5A91725}"/>
                    </a:ext>
                  </a:extLst>
                </p14:cNvPr>
                <p14:cNvContentPartPr/>
                <p14:nvPr/>
              </p14:nvContentPartPr>
              <p14:xfrm>
                <a:off x="9067627" y="152000"/>
                <a:ext cx="360" cy="36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83EECE6-D468-4E88-C051-1C28C5A9172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9049987" y="44360"/>
                  <a:ext cx="36000" cy="21600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49</a:t>
            </a:fld>
            <a:endParaRPr kumimoji="0"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762000"/>
            <a:ext cx="9144000" cy="4190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6"/>
          <p:cNvSpPr/>
          <p:nvPr/>
        </p:nvSpPr>
        <p:spPr>
          <a:xfrm>
            <a:off x="3657600" y="54102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0" y="57150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60198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0" y="54102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0" y="57150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next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6019800"/>
            <a:ext cx="1066800" cy="304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previous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0000" y="5105400"/>
            <a:ext cx="838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>
                <a:solidFill>
                  <a:schemeClr val="bg1"/>
                </a:solidFill>
              </a:rPr>
              <a:t>tail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105400"/>
            <a:ext cx="1066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err="1">
                <a:solidFill>
                  <a:schemeClr val="bg1"/>
                </a:solidFill>
              </a:rPr>
              <a:t>newNode</a:t>
            </a:r>
            <a:endParaRPr lang="en-US" sz="1400" dirty="0">
              <a:solidFill>
                <a:schemeClr val="bg1"/>
              </a:solidFill>
            </a:endParaRPr>
          </a:p>
        </p:txBody>
      </p:sp>
      <p:cxnSp>
        <p:nvCxnSpPr>
          <p:cNvPr id="15" name="Straight Arrow Connector 14"/>
          <p:cNvCxnSpPr>
            <a:stCxn id="8" idx="3"/>
            <a:endCxn id="11" idx="1"/>
          </p:cNvCxnSpPr>
          <p:nvPr/>
        </p:nvCxnSpPr>
        <p:spPr>
          <a:xfrm>
            <a:off x="4724400" y="5867400"/>
            <a:ext cx="304800" cy="1588"/>
          </a:xfrm>
          <a:prstGeom prst="straightConnector1">
            <a:avLst/>
          </a:prstGeom>
          <a:ln w="38100">
            <a:solidFill>
              <a:schemeClr val="bg2">
                <a:lumMod val="9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>
            <a:stCxn id="12" idx="1"/>
            <a:endCxn id="9" idx="3"/>
          </p:cNvCxnSpPr>
          <p:nvPr/>
        </p:nvCxnSpPr>
        <p:spPr>
          <a:xfrm rot="10800000">
            <a:off x="4724400" y="6172200"/>
            <a:ext cx="304800" cy="1588"/>
          </a:xfrm>
          <a:prstGeom prst="straightConnector1">
            <a:avLst/>
          </a:prstGeom>
          <a:ln w="28575">
            <a:solidFill>
              <a:srgbClr val="FFFF99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50</a:t>
            </a:fld>
            <a:endParaRPr kumimoji="0"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" y="914400"/>
            <a:ext cx="9144000" cy="40771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5" name="Group 14"/>
          <p:cNvGrpSpPr/>
          <p:nvPr/>
        </p:nvGrpSpPr>
        <p:grpSpPr>
          <a:xfrm>
            <a:off x="3429000" y="5105400"/>
            <a:ext cx="2819400" cy="1143000"/>
            <a:chOff x="6248400" y="4800600"/>
            <a:chExt cx="2819400" cy="1143000"/>
          </a:xfrm>
        </p:grpSpPr>
        <p:sp>
          <p:nvSpPr>
            <p:cNvPr id="16" name="Rectangle 15"/>
            <p:cNvSpPr/>
            <p:nvPr/>
          </p:nvSpPr>
          <p:spPr>
            <a:xfrm>
              <a:off x="6248400" y="4800600"/>
              <a:ext cx="1066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before</a:t>
              </a: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8153400" y="48006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p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162800" y="5486400"/>
              <a:ext cx="1066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newNode</a:t>
              </a:r>
              <a:endParaRPr lang="en-US" sz="1600" dirty="0"/>
            </a:p>
          </p:txBody>
        </p:sp>
        <p:cxnSp>
          <p:nvCxnSpPr>
            <p:cNvPr id="19" name="Straight Arrow Connector 18"/>
            <p:cNvCxnSpPr>
              <a:stCxn id="16" idx="3"/>
              <a:endCxn id="18" idx="0"/>
            </p:cNvCxnSpPr>
            <p:nvPr/>
          </p:nvCxnSpPr>
          <p:spPr>
            <a:xfrm>
              <a:off x="7315200" y="5029200"/>
              <a:ext cx="381000" cy="457200"/>
            </a:xfrm>
            <a:prstGeom prst="straightConnector1">
              <a:avLst/>
            </a:prstGeom>
            <a:ln w="38100">
              <a:solidFill>
                <a:schemeClr val="bg2">
                  <a:lumMod val="9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stCxn id="18" idx="1"/>
            </p:cNvCxnSpPr>
            <p:nvPr/>
          </p:nvCxnSpPr>
          <p:spPr>
            <a:xfrm flipH="1" flipV="1">
              <a:off x="7086600" y="5257800"/>
              <a:ext cx="76200" cy="457200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8" idx="0"/>
              <a:endCxn id="17" idx="1"/>
            </p:cNvCxnSpPr>
            <p:nvPr/>
          </p:nvCxnSpPr>
          <p:spPr>
            <a:xfrm flipV="1">
              <a:off x="7696200" y="4991100"/>
              <a:ext cx="457200" cy="495300"/>
            </a:xfrm>
            <a:prstGeom prst="straightConnector1">
              <a:avLst/>
            </a:prstGeom>
            <a:ln w="38100">
              <a:solidFill>
                <a:schemeClr val="bg2">
                  <a:lumMod val="9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7" idx="2"/>
              <a:endCxn id="18" idx="3"/>
            </p:cNvCxnSpPr>
            <p:nvPr/>
          </p:nvCxnSpPr>
          <p:spPr>
            <a:xfrm flipH="1">
              <a:off x="8229600" y="5181600"/>
              <a:ext cx="381000" cy="533400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51</a:t>
            </a:fld>
            <a:endParaRPr kumimoji="0"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838200"/>
            <a:ext cx="9144000" cy="39688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3581400" y="5105400"/>
            <a:ext cx="2590800" cy="1143000"/>
            <a:chOff x="6553200" y="1828800"/>
            <a:chExt cx="2590800" cy="1143000"/>
          </a:xfrm>
        </p:grpSpPr>
        <p:sp>
          <p:nvSpPr>
            <p:cNvPr id="8" name="Rectangle 7"/>
            <p:cNvSpPr/>
            <p:nvPr/>
          </p:nvSpPr>
          <p:spPr>
            <a:xfrm>
              <a:off x="6553200" y="1828800"/>
              <a:ext cx="8382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p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29600" y="1828800"/>
              <a:ext cx="914400" cy="3810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after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7315200" y="2514600"/>
              <a:ext cx="1066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err="1"/>
                <a:t>newNode</a:t>
              </a:r>
              <a:endParaRPr lang="en-US" sz="1600" dirty="0"/>
            </a:p>
          </p:txBody>
        </p:sp>
        <p:cxnSp>
          <p:nvCxnSpPr>
            <p:cNvPr id="11" name="Straight Arrow Connector 10"/>
            <p:cNvCxnSpPr>
              <a:stCxn id="8" idx="3"/>
            </p:cNvCxnSpPr>
            <p:nvPr/>
          </p:nvCxnSpPr>
          <p:spPr>
            <a:xfrm>
              <a:off x="7391400" y="2057400"/>
              <a:ext cx="152400" cy="457200"/>
            </a:xfrm>
            <a:prstGeom prst="straightConnector1">
              <a:avLst/>
            </a:prstGeom>
            <a:ln w="38100">
              <a:solidFill>
                <a:schemeClr val="bg2">
                  <a:lumMod val="9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/>
            <p:cNvCxnSpPr>
              <a:stCxn id="10" idx="1"/>
            </p:cNvCxnSpPr>
            <p:nvPr/>
          </p:nvCxnSpPr>
          <p:spPr>
            <a:xfrm flipH="1" flipV="1">
              <a:off x="7086600" y="2286000"/>
              <a:ext cx="228600" cy="457200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endCxn id="9" idx="1"/>
            </p:cNvCxnSpPr>
            <p:nvPr/>
          </p:nvCxnSpPr>
          <p:spPr>
            <a:xfrm flipV="1">
              <a:off x="8077200" y="2019300"/>
              <a:ext cx="152400" cy="495300"/>
            </a:xfrm>
            <a:prstGeom prst="straightConnector1">
              <a:avLst/>
            </a:prstGeom>
            <a:ln w="38100">
              <a:solidFill>
                <a:schemeClr val="bg2">
                  <a:lumMod val="90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9" idx="2"/>
              <a:endCxn id="10" idx="3"/>
            </p:cNvCxnSpPr>
            <p:nvPr/>
          </p:nvCxnSpPr>
          <p:spPr>
            <a:xfrm flipH="1">
              <a:off x="8382000" y="2209800"/>
              <a:ext cx="304800" cy="533400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52</a:t>
            </a:fld>
            <a:endParaRPr kumimoji="0"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685800"/>
            <a:ext cx="8534400" cy="5878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7" name="Group 6"/>
          <p:cNvGrpSpPr/>
          <p:nvPr/>
        </p:nvGrpSpPr>
        <p:grpSpPr>
          <a:xfrm>
            <a:off x="6096000" y="4800600"/>
            <a:ext cx="2667000" cy="1524000"/>
            <a:chOff x="6400800" y="2895600"/>
            <a:chExt cx="2667000" cy="1524000"/>
          </a:xfrm>
        </p:grpSpPr>
        <p:sp>
          <p:nvSpPr>
            <p:cNvPr id="8" name="Rectangle 7"/>
            <p:cNvSpPr/>
            <p:nvPr/>
          </p:nvSpPr>
          <p:spPr>
            <a:xfrm>
              <a:off x="6400800" y="35052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7391400" y="35052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bg1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8382000" y="35052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400800" y="32004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head</a:t>
              </a:r>
            </a:p>
          </p:txBody>
        </p:sp>
        <p:cxnSp>
          <p:nvCxnSpPr>
            <p:cNvPr id="12" name="Straight Arrow Connector 11"/>
            <p:cNvCxnSpPr/>
            <p:nvPr/>
          </p:nvCxnSpPr>
          <p:spPr>
            <a:xfrm>
              <a:off x="7086600" y="3581400"/>
              <a:ext cx="304800" cy="158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8077200" y="3581400"/>
              <a:ext cx="304800" cy="1588"/>
            </a:xfrm>
            <a:prstGeom prst="straightConnector1">
              <a:avLst/>
            </a:prstGeom>
            <a:ln w="38100">
              <a:solidFill>
                <a:schemeClr val="accent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 rot="10800000">
              <a:off x="7086600" y="3886200"/>
              <a:ext cx="304800" cy="1588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 rot="10800000">
              <a:off x="8077201" y="3886200"/>
              <a:ext cx="304800" cy="1588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Arc 15"/>
            <p:cNvSpPr/>
            <p:nvPr/>
          </p:nvSpPr>
          <p:spPr>
            <a:xfrm>
              <a:off x="6781800" y="2895600"/>
              <a:ext cx="457200" cy="1524000"/>
            </a:xfrm>
            <a:prstGeom prst="arc">
              <a:avLst>
                <a:gd name="adj1" fmla="val 16200000"/>
                <a:gd name="adj2" fmla="val 5330562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391400" y="3200400"/>
              <a:ext cx="8382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rgbClr val="FF0000"/>
                  </a:solidFill>
                </a:rPr>
                <a:t>newHead</a:t>
              </a:r>
              <a:endParaRPr lang="en-US" sz="1200" dirty="0">
                <a:solidFill>
                  <a:srgbClr val="FF0000"/>
                </a:solidFill>
              </a:endParaRPr>
            </a:p>
          </p:txBody>
        </p: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53</a:t>
            </a:fld>
            <a:endParaRPr kumimoji="0"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6200" y="771886"/>
            <a:ext cx="8839200" cy="57813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6" name="Group 15"/>
          <p:cNvGrpSpPr/>
          <p:nvPr/>
        </p:nvGrpSpPr>
        <p:grpSpPr>
          <a:xfrm>
            <a:off x="5943600" y="2133600"/>
            <a:ext cx="2667000" cy="990600"/>
            <a:chOff x="6019800" y="1143000"/>
            <a:chExt cx="2667000" cy="990600"/>
          </a:xfrm>
        </p:grpSpPr>
        <p:sp>
          <p:nvSpPr>
            <p:cNvPr id="17" name="Rectangle 16"/>
            <p:cNvSpPr/>
            <p:nvPr/>
          </p:nvSpPr>
          <p:spPr>
            <a:xfrm>
              <a:off x="6019800" y="14478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010400" y="14478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001000" y="14478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6934200" y="1143000"/>
              <a:ext cx="9906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newTail</a:t>
              </a:r>
              <a:endParaRPr lang="en-US" sz="1400" dirty="0">
                <a:solidFill>
                  <a:srgbClr val="FF0000"/>
                </a:solidFill>
              </a:endParaRPr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>
              <a:off x="6705600" y="1524000"/>
              <a:ext cx="304800" cy="1588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>
              <a:off x="7696200" y="1524000"/>
              <a:ext cx="304800" cy="1588"/>
            </a:xfrm>
            <a:prstGeom prst="straightConnector1">
              <a:avLst/>
            </a:prstGeom>
            <a:ln w="38100">
              <a:solidFill>
                <a:schemeClr val="tx2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 rot="10800000">
              <a:off x="6705600" y="1828800"/>
              <a:ext cx="304800" cy="1588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Arrow Connector 23"/>
            <p:cNvCxnSpPr/>
            <p:nvPr/>
          </p:nvCxnSpPr>
          <p:spPr>
            <a:xfrm rot="10800000">
              <a:off x="7696201" y="1828800"/>
              <a:ext cx="304800" cy="1588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Arc 24"/>
            <p:cNvSpPr/>
            <p:nvPr/>
          </p:nvSpPr>
          <p:spPr>
            <a:xfrm flipH="1">
              <a:off x="7848600" y="1143000"/>
              <a:ext cx="762000" cy="990600"/>
            </a:xfrm>
            <a:prstGeom prst="arc">
              <a:avLst>
                <a:gd name="adj1" fmla="val 16200000"/>
                <a:gd name="adj2" fmla="val 5330562"/>
              </a:avLst>
            </a:prstGeom>
            <a:ln w="28575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8153400" y="1143000"/>
              <a:ext cx="53340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tail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5867400" y="4343400"/>
            <a:ext cx="2743200" cy="1143000"/>
            <a:chOff x="457200" y="4343400"/>
            <a:chExt cx="2743200" cy="1143000"/>
          </a:xfrm>
        </p:grpSpPr>
        <p:sp>
          <p:nvSpPr>
            <p:cNvPr id="28" name="Rectangle 27"/>
            <p:cNvSpPr/>
            <p:nvPr/>
          </p:nvSpPr>
          <p:spPr>
            <a:xfrm>
              <a:off x="457200" y="47244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1447800" y="47244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Rectangle 29"/>
            <p:cNvSpPr/>
            <p:nvPr/>
          </p:nvSpPr>
          <p:spPr>
            <a:xfrm>
              <a:off x="2438400" y="4724400"/>
              <a:ext cx="685800" cy="457200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1676400" y="4419600"/>
              <a:ext cx="6096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p</a:t>
              </a:r>
            </a:p>
          </p:txBody>
        </p:sp>
        <p:cxnSp>
          <p:nvCxnSpPr>
            <p:cNvPr id="32" name="Straight Arrow Connector 31"/>
            <p:cNvCxnSpPr/>
            <p:nvPr/>
          </p:nvCxnSpPr>
          <p:spPr>
            <a:xfrm>
              <a:off x="1143000" y="4800600"/>
              <a:ext cx="304800" cy="1588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/>
            <p:cNvCxnSpPr/>
            <p:nvPr/>
          </p:nvCxnSpPr>
          <p:spPr>
            <a:xfrm>
              <a:off x="2133600" y="4800600"/>
              <a:ext cx="304800" cy="1588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 rot="10800000">
              <a:off x="1143000" y="5105400"/>
              <a:ext cx="304800" cy="1588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 rot="10800000">
              <a:off x="2133601" y="5105400"/>
              <a:ext cx="304800" cy="1588"/>
            </a:xfrm>
            <a:prstGeom prst="straightConnector1">
              <a:avLst/>
            </a:prstGeom>
            <a:ln w="38100">
              <a:solidFill>
                <a:srgbClr val="FFCC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" name="TextBox 35"/>
            <p:cNvSpPr txBox="1"/>
            <p:nvPr/>
          </p:nvSpPr>
          <p:spPr>
            <a:xfrm>
              <a:off x="2514600" y="4419600"/>
              <a:ext cx="6858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after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457200" y="4419600"/>
              <a:ext cx="76200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solidFill>
                    <a:srgbClr val="FF0000"/>
                  </a:solidFill>
                </a:rPr>
                <a:t>before</a:t>
              </a:r>
            </a:p>
          </p:txBody>
        </p:sp>
        <p:sp>
          <p:nvSpPr>
            <p:cNvPr id="38" name="Oval 37"/>
            <p:cNvSpPr/>
            <p:nvPr/>
          </p:nvSpPr>
          <p:spPr>
            <a:xfrm>
              <a:off x="1295400" y="4343400"/>
              <a:ext cx="990600" cy="1143000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54</a:t>
            </a:fld>
            <a:endParaRPr kumimoji="0"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6803" y="2667000"/>
            <a:ext cx="9157608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55</a:t>
            </a:fld>
            <a:endParaRPr kumimoji="0" lang="en-US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73355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29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-12700" y="762000"/>
            <a:ext cx="9169400" cy="5791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56</a:t>
            </a:fld>
            <a:endParaRPr kumimoji="0"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335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362828"/>
            <a:ext cx="8839200" cy="47331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781800" y="1828800"/>
            <a:ext cx="2400300" cy="261937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895600" y="9144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C000"/>
                </a:solidFill>
              </a:rPr>
              <a:t>Testing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57</a:t>
            </a:fld>
            <a:endParaRPr kumimoji="0"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335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592" y="1524000"/>
            <a:ext cx="9043208" cy="22920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433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31649" y="3876675"/>
            <a:ext cx="4347302" cy="847726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2895600" y="9144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C000"/>
                </a:solidFill>
              </a:rPr>
              <a:t>Testing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2: Doubly Linked List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Linked Lists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58</a:t>
            </a:fld>
            <a:endParaRPr kumimoji="0" lang="en-US"/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933575" cy="1162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143000"/>
            <a:ext cx="8382000" cy="54499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010400" y="1276350"/>
            <a:ext cx="1704975" cy="21526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5364" name="Picture 4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76950" y="3505200"/>
            <a:ext cx="3067050" cy="49530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pic>
        <p:nvPicPr>
          <p:cNvPr id="15365" name="Picture 5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315200" y="5791200"/>
            <a:ext cx="1628775" cy="47625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</p:pic>
      <p:sp>
        <p:nvSpPr>
          <p:cNvPr id="10" name="TextBox 9"/>
          <p:cNvSpPr txBox="1"/>
          <p:nvPr/>
        </p:nvSpPr>
        <p:spPr>
          <a:xfrm>
            <a:off x="2895600" y="762000"/>
            <a:ext cx="6248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000" b="1" dirty="0">
                <a:solidFill>
                  <a:srgbClr val="FFC000"/>
                </a:solidFill>
              </a:rPr>
              <a:t>Testing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7- Where a linked list should be used?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990600"/>
            <a:ext cx="8229600" cy="2514600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(1) From advantages of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LLs, a LL should</a:t>
            </a:r>
            <a:r>
              <a:rPr kumimoji="0" lang="en-US" sz="2800" b="1" i="0" u="none" strike="noStrike" kern="1200" cap="none" spc="0" normalizeH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be used when</a:t>
            </a: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:</a:t>
            </a:r>
            <a:endParaRPr lang="en-US" sz="2800" b="1" dirty="0">
              <a:solidFill>
                <a:srgbClr val="FFFF00"/>
              </a:solidFill>
              <a:latin typeface="Arial" pitchFamily="34" charset="0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Number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of items is not known in advance 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  <a:sym typeface="Wingdings" pitchFamily="2" charset="2"/>
              </a:rPr>
              <a:t> Memory can not be allocated in advance.</a:t>
            </a: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r>
              <a:rPr lang="en-US" sz="2800" noProof="0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Add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and remove operations are frequently used.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b="1" dirty="0">
                <a:solidFill>
                  <a:srgbClr val="FFFF00"/>
                </a:solidFill>
                <a:latin typeface="Arial" pitchFamily="34" charset="0"/>
                <a:cs typeface="Arial" pitchFamily="34" charset="0"/>
              </a:rPr>
              <a:t>(2) LL is suitable to store a sparse table/ sparse matrix </a:t>
            </a:r>
          </a:p>
          <a:p>
            <a:pPr marL="342900" indent="-342900">
              <a:spcBef>
                <a:spcPct val="20000"/>
              </a:spcBef>
            </a:pPr>
            <a:r>
              <a:rPr lang="en-US" sz="2800" dirty="0">
                <a:solidFill>
                  <a:schemeClr val="bg1"/>
                </a:solidFill>
                <a:latin typeface="Arial" pitchFamily="34" charset="0"/>
                <a:cs typeface="Arial" pitchFamily="34" charset="0"/>
                <a:sym typeface="Wingdings" pitchFamily="2" charset="2"/>
              </a:rPr>
              <a:t>	A sparse table is a large-size 2D array in which number of valuable values is very small</a:t>
            </a:r>
            <a:endParaRPr kumimoji="0" lang="en-US" sz="2800" b="0" i="0" u="none" strike="noStrike" kern="1200" cap="none" spc="0" normalizeH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800100" lvl="1" indent="-342900">
              <a:spcBef>
                <a:spcPct val="20000"/>
              </a:spcBef>
              <a:buFont typeface="Arial" pitchFamily="34" charset="0"/>
              <a:buChar char="•"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92480" y="3804920"/>
          <a:ext cx="507492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2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1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77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248400" y="4113074"/>
            <a:ext cx="23622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1s are valuable but </a:t>
            </a: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0s.</a:t>
            </a:r>
          </a:p>
          <a:p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Almost of values in the table is 0.</a:t>
            </a:r>
          </a:p>
          <a:p>
            <a:pPr>
              <a:buFont typeface="Wingdings"/>
              <a:buChar char="è"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0s need not to be stored.</a:t>
            </a:r>
          </a:p>
          <a:p>
            <a:pPr>
              <a:buFont typeface="Wingdings"/>
              <a:buChar char="è"/>
            </a:pPr>
            <a:r>
              <a: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Linked list is suitable.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59</a:t>
            </a:fld>
            <a:endParaRPr kumimoji="0"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76F0D4B0-E716-7935-0C8B-D23BF191B498}"/>
                  </a:ext>
                </a:extLst>
              </p14:cNvPr>
              <p14:cNvContentPartPr/>
              <p14:nvPr/>
            </p14:nvContentPartPr>
            <p14:xfrm>
              <a:off x="1312147" y="1498400"/>
              <a:ext cx="360" cy="36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76F0D4B0-E716-7935-0C8B-D23BF191B49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94507" y="1390760"/>
                <a:ext cx="36000" cy="2160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Where a linked list should be used?...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81000" y="990600"/>
            <a:ext cx="8229600" cy="6096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2400" b="1" dirty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Using LLs instead of a s</a:t>
            </a: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parse</a:t>
            </a:r>
            <a:r>
              <a:rPr kumimoji="0" lang="en-US" sz="2400" b="1" i="0" u="none" strike="noStrike" kern="1200" cap="none" spc="0" normalizeH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matrix: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2077092"/>
          <a:ext cx="3810001" cy="27997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22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1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42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315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5454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sz="1800" b="1" kern="1200" dirty="0">
                          <a:solidFill>
                            <a:schemeClr val="lt1"/>
                          </a:solidFill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9999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4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4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44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4458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5454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9999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1" name="Slide Number Placeholder 5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60</a:t>
            </a:fld>
            <a:endParaRPr kumimoji="0" lang="en-US"/>
          </a:p>
        </p:txBody>
      </p:sp>
      <p:sp>
        <p:nvSpPr>
          <p:cNvPr id="63" name="Footer Placeholder 6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grpSp>
        <p:nvGrpSpPr>
          <p:cNvPr id="80" name="Group 79"/>
          <p:cNvGrpSpPr/>
          <p:nvPr/>
        </p:nvGrpSpPr>
        <p:grpSpPr>
          <a:xfrm>
            <a:off x="3962400" y="2209800"/>
            <a:ext cx="5105400" cy="3417332"/>
            <a:chOff x="3962400" y="2209800"/>
            <a:chExt cx="5105400" cy="3417332"/>
          </a:xfrm>
        </p:grpSpPr>
        <p:sp>
          <p:nvSpPr>
            <p:cNvPr id="10" name="Rectangle 9"/>
            <p:cNvSpPr/>
            <p:nvPr/>
          </p:nvSpPr>
          <p:spPr>
            <a:xfrm>
              <a:off x="4305300" y="2209800"/>
              <a:ext cx="762000" cy="3810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head0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4305300" y="2590800"/>
              <a:ext cx="762000" cy="3810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head1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305300" y="2971800"/>
              <a:ext cx="762000" cy="3810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head2</a:t>
              </a:r>
            </a:p>
          </p:txBody>
        </p:sp>
        <p:sp>
          <p:nvSpPr>
            <p:cNvPr id="13" name="Rectangle 12"/>
            <p:cNvSpPr/>
            <p:nvPr/>
          </p:nvSpPr>
          <p:spPr>
            <a:xfrm>
              <a:off x="4305300" y="3352800"/>
              <a:ext cx="762000" cy="3810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head3</a:t>
              </a: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4305300" y="3733800"/>
              <a:ext cx="762000" cy="3810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headi</a:t>
              </a:r>
              <a:endParaRPr lang="en-US" sz="1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5" name="Rectangle 14"/>
            <p:cNvSpPr/>
            <p:nvPr/>
          </p:nvSpPr>
          <p:spPr>
            <a:xfrm>
              <a:off x="4305300" y="4114800"/>
              <a:ext cx="762000" cy="3810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headn</a:t>
              </a:r>
              <a:endParaRPr lang="en-US" sz="1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372100" y="2286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7" name="Rectangle 16"/>
            <p:cNvSpPr/>
            <p:nvPr/>
          </p:nvSpPr>
          <p:spPr>
            <a:xfrm>
              <a:off x="6324600" y="2286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315200" y="2286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8305800" y="2286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21" name="Straight Arrow Connector 20"/>
            <p:cNvCxnSpPr>
              <a:stCxn id="10" idx="3"/>
              <a:endCxn id="16" idx="1"/>
            </p:cNvCxnSpPr>
            <p:nvPr/>
          </p:nvCxnSpPr>
          <p:spPr>
            <a:xfrm>
              <a:off x="5067300" y="2400300"/>
              <a:ext cx="30480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stCxn id="16" idx="3"/>
              <a:endCxn id="17" idx="1"/>
            </p:cNvCxnSpPr>
            <p:nvPr/>
          </p:nvCxnSpPr>
          <p:spPr>
            <a:xfrm>
              <a:off x="6134100" y="2400300"/>
              <a:ext cx="1905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/>
            <p:cNvCxnSpPr>
              <a:stCxn id="17" idx="3"/>
              <a:endCxn id="18" idx="1"/>
            </p:cNvCxnSpPr>
            <p:nvPr/>
          </p:nvCxnSpPr>
          <p:spPr>
            <a:xfrm>
              <a:off x="7086600" y="2400300"/>
              <a:ext cx="2286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>
              <a:stCxn id="18" idx="3"/>
              <a:endCxn id="19" idx="1"/>
            </p:cNvCxnSpPr>
            <p:nvPr/>
          </p:nvCxnSpPr>
          <p:spPr>
            <a:xfrm>
              <a:off x="8077200" y="2400300"/>
              <a:ext cx="2286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stCxn id="11" idx="3"/>
            </p:cNvCxnSpPr>
            <p:nvPr/>
          </p:nvCxnSpPr>
          <p:spPr>
            <a:xfrm>
              <a:off x="5067300" y="2781300"/>
              <a:ext cx="34290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0" name="Rectangle 39"/>
            <p:cNvSpPr/>
            <p:nvPr/>
          </p:nvSpPr>
          <p:spPr>
            <a:xfrm>
              <a:off x="5372100" y="3810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6324600" y="3810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2" name="Rectangle 41"/>
            <p:cNvSpPr/>
            <p:nvPr/>
          </p:nvSpPr>
          <p:spPr>
            <a:xfrm>
              <a:off x="7315200" y="3810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3" name="Straight Arrow Connector 42"/>
            <p:cNvCxnSpPr>
              <a:endCxn id="40" idx="1"/>
            </p:cNvCxnSpPr>
            <p:nvPr/>
          </p:nvCxnSpPr>
          <p:spPr>
            <a:xfrm>
              <a:off x="5067300" y="3924300"/>
              <a:ext cx="30480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stCxn id="40" idx="3"/>
              <a:endCxn id="41" idx="1"/>
            </p:cNvCxnSpPr>
            <p:nvPr/>
          </p:nvCxnSpPr>
          <p:spPr>
            <a:xfrm>
              <a:off x="6134100" y="3924300"/>
              <a:ext cx="1905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stCxn id="41" idx="3"/>
              <a:endCxn id="42" idx="1"/>
            </p:cNvCxnSpPr>
            <p:nvPr/>
          </p:nvCxnSpPr>
          <p:spPr>
            <a:xfrm>
              <a:off x="7086600" y="3924300"/>
              <a:ext cx="2286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Rectangle 45"/>
            <p:cNvSpPr/>
            <p:nvPr/>
          </p:nvSpPr>
          <p:spPr>
            <a:xfrm>
              <a:off x="5372100" y="3429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6324600" y="3429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49" name="Straight Arrow Connector 48"/>
            <p:cNvCxnSpPr>
              <a:endCxn id="46" idx="1"/>
            </p:cNvCxnSpPr>
            <p:nvPr/>
          </p:nvCxnSpPr>
          <p:spPr>
            <a:xfrm>
              <a:off x="5067300" y="3543300"/>
              <a:ext cx="30480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Arrow Connector 49"/>
            <p:cNvCxnSpPr>
              <a:stCxn id="46" idx="3"/>
              <a:endCxn id="47" idx="1"/>
            </p:cNvCxnSpPr>
            <p:nvPr/>
          </p:nvCxnSpPr>
          <p:spPr>
            <a:xfrm>
              <a:off x="6134100" y="3543300"/>
              <a:ext cx="1905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Rectangle 51"/>
            <p:cNvSpPr/>
            <p:nvPr/>
          </p:nvSpPr>
          <p:spPr>
            <a:xfrm>
              <a:off x="5372100" y="4191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6324600" y="4191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4" name="Rectangle 53"/>
            <p:cNvSpPr/>
            <p:nvPr/>
          </p:nvSpPr>
          <p:spPr>
            <a:xfrm>
              <a:off x="7315200" y="4191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55" name="Rectangle 54"/>
            <p:cNvSpPr/>
            <p:nvPr/>
          </p:nvSpPr>
          <p:spPr>
            <a:xfrm>
              <a:off x="8305800" y="4191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56" name="Straight Arrow Connector 55"/>
            <p:cNvCxnSpPr>
              <a:endCxn id="52" idx="1"/>
            </p:cNvCxnSpPr>
            <p:nvPr/>
          </p:nvCxnSpPr>
          <p:spPr>
            <a:xfrm>
              <a:off x="5067300" y="4305300"/>
              <a:ext cx="30480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/>
            <p:cNvCxnSpPr>
              <a:stCxn id="52" idx="3"/>
              <a:endCxn id="53" idx="1"/>
            </p:cNvCxnSpPr>
            <p:nvPr/>
          </p:nvCxnSpPr>
          <p:spPr>
            <a:xfrm>
              <a:off x="6134100" y="4305300"/>
              <a:ext cx="1905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/>
            <p:cNvCxnSpPr>
              <a:stCxn id="53" idx="3"/>
              <a:endCxn id="54" idx="1"/>
            </p:cNvCxnSpPr>
            <p:nvPr/>
          </p:nvCxnSpPr>
          <p:spPr>
            <a:xfrm>
              <a:off x="7086600" y="4305300"/>
              <a:ext cx="2286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/>
            <p:cNvCxnSpPr>
              <a:stCxn id="54" idx="3"/>
              <a:endCxn id="55" idx="1"/>
            </p:cNvCxnSpPr>
            <p:nvPr/>
          </p:nvCxnSpPr>
          <p:spPr>
            <a:xfrm>
              <a:off x="8077200" y="4305300"/>
              <a:ext cx="2286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Rectangle 59"/>
            <p:cNvSpPr/>
            <p:nvPr/>
          </p:nvSpPr>
          <p:spPr>
            <a:xfrm>
              <a:off x="5372100" y="3048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Val, Col </a:t>
              </a:r>
            </a:p>
          </p:txBody>
        </p:sp>
        <p:cxnSp>
          <p:nvCxnSpPr>
            <p:cNvPr id="61" name="Straight Arrow Connector 60"/>
            <p:cNvCxnSpPr>
              <a:endCxn id="60" idx="1"/>
            </p:cNvCxnSpPr>
            <p:nvPr/>
          </p:nvCxnSpPr>
          <p:spPr>
            <a:xfrm>
              <a:off x="5067300" y="3162300"/>
              <a:ext cx="304800" cy="0"/>
            </a:xfrm>
            <a:prstGeom prst="straightConnector1">
              <a:avLst/>
            </a:prstGeom>
            <a:ln w="28575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/>
            <p:cNvSpPr txBox="1"/>
            <p:nvPr/>
          </p:nvSpPr>
          <p:spPr>
            <a:xfrm>
              <a:off x="3962400" y="5257800"/>
              <a:ext cx="2743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N (9999) rows </a:t>
              </a:r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 N lists</a:t>
              </a:r>
              <a:endPara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64" name="Straight Arrow Connector 63"/>
            <p:cNvCxnSpPr/>
            <p:nvPr/>
          </p:nvCxnSpPr>
          <p:spPr>
            <a:xfrm rot="5400000" flipH="1" flipV="1">
              <a:off x="4057650" y="4857750"/>
              <a:ext cx="609600" cy="190500"/>
            </a:xfrm>
            <a:prstGeom prst="straightConnector1">
              <a:avLst/>
            </a:prstGeom>
            <a:ln w="38100">
              <a:solidFill>
                <a:srgbClr val="FFFF99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TextBox 64"/>
            <p:cNvSpPr txBox="1"/>
            <p:nvPr/>
          </p:nvSpPr>
          <p:spPr>
            <a:xfrm>
              <a:off x="5372100" y="4736068"/>
              <a:ext cx="3048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  <a:sym typeface="Wingdings" pitchFamily="2" charset="2"/>
                </a:rPr>
                <a:t>Sorted lists based on column</a:t>
              </a:r>
              <a:endParaRPr lang="en-US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66" name="Right Brace 65"/>
            <p:cNvSpPr/>
            <p:nvPr/>
          </p:nvSpPr>
          <p:spPr>
            <a:xfrm rot="5400000">
              <a:off x="6743700" y="3048000"/>
              <a:ext cx="304800" cy="3200400"/>
            </a:xfrm>
            <a:prstGeom prst="rightBrace">
              <a:avLst/>
            </a:prstGeom>
            <a:ln w="28575">
              <a:solidFill>
                <a:srgbClr val="FFFF9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74" name="Rectangle 73"/>
            <p:cNvSpPr/>
            <p:nvPr/>
          </p:nvSpPr>
          <p:spPr>
            <a:xfrm>
              <a:off x="5372100" y="2667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6324600" y="2667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76" name="Rectangle 75"/>
            <p:cNvSpPr/>
            <p:nvPr/>
          </p:nvSpPr>
          <p:spPr>
            <a:xfrm>
              <a:off x="7315200" y="2667000"/>
              <a:ext cx="762000" cy="228600"/>
            </a:xfrm>
            <a:prstGeom prst="rect">
              <a:avLst/>
            </a:prstGeom>
            <a:solidFill>
              <a:srgbClr val="0000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dirty="0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Col, </a:t>
              </a:r>
              <a:r>
                <a:rPr lang="en-US" sz="1200" dirty="0" err="1">
                  <a:solidFill>
                    <a:schemeClr val="bg1"/>
                  </a:solidFill>
                  <a:latin typeface="Times New Roman" pitchFamily="18" charset="0"/>
                  <a:cs typeface="Times New Roman" pitchFamily="18" charset="0"/>
                </a:rPr>
                <a:t>val</a:t>
              </a:r>
              <a:endParaRPr lang="en-US" sz="12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cxnSp>
          <p:nvCxnSpPr>
            <p:cNvPr id="77" name="Straight Arrow Connector 76"/>
            <p:cNvCxnSpPr>
              <a:stCxn id="74" idx="3"/>
              <a:endCxn id="75" idx="1"/>
            </p:cNvCxnSpPr>
            <p:nvPr/>
          </p:nvCxnSpPr>
          <p:spPr>
            <a:xfrm>
              <a:off x="6134100" y="2781300"/>
              <a:ext cx="1905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75" idx="3"/>
              <a:endCxn id="76" idx="1"/>
            </p:cNvCxnSpPr>
            <p:nvPr/>
          </p:nvCxnSpPr>
          <p:spPr>
            <a:xfrm>
              <a:off x="7086600" y="2781300"/>
              <a:ext cx="228600" cy="0"/>
            </a:xfrm>
            <a:prstGeom prst="straightConnector1">
              <a:avLst/>
            </a:prstGeom>
            <a:ln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8: Managing groups using the java API</a:t>
            </a:r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7404338"/>
              </p:ext>
            </p:extLst>
          </p:nvPr>
        </p:nvGraphicFramePr>
        <p:xfrm>
          <a:off x="228600" y="2690553"/>
          <a:ext cx="8686800" cy="37102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5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r>
                        <a:rPr lang="en-US" baseline="0" dirty="0"/>
                        <a:t>structure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Characteristics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When is</a:t>
                      </a:r>
                      <a:r>
                        <a:rPr lang="en-US" baseline="0" dirty="0"/>
                        <a:t> it used?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r>
                        <a:rPr lang="en-US" dirty="0"/>
                        <a:t>Dynamic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Vector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Accessing an element using its index.</a:t>
                      </a:r>
                    </a:p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Thread safe is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supported</a:t>
                      </a:r>
                    </a:p>
                    <a:p>
                      <a:r>
                        <a:rPr lang="en-US" baseline="0" dirty="0"/>
                        <a:t>All basic operations are implemented.</a:t>
                      </a:r>
                    </a:p>
                    <a:p>
                      <a:r>
                        <a:rPr lang="en-US" baseline="0" dirty="0"/>
                        <a:t>[Hỗ trợ đa luồng]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Data group</a:t>
                      </a:r>
                      <a:r>
                        <a:rPr lang="en-US" baseline="0" dirty="0"/>
                        <a:t> for single or multi-thread applications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Dynamic Array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ArrayList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Accessing an element using its index. 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Thread safe (synchronized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technique)</a:t>
                      </a:r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 is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NOT supported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/>
                        <a:t>All basic operations are implemented.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Single</a:t>
                      </a:r>
                      <a:r>
                        <a:rPr lang="en-US" baseline="0" dirty="0"/>
                        <a:t> -thread application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36567">
                <a:tc>
                  <a:txBody>
                    <a:bodyPr/>
                    <a:lstStyle/>
                    <a:p>
                      <a:r>
                        <a:rPr lang="en-US" dirty="0"/>
                        <a:t>Double</a:t>
                      </a:r>
                      <a:r>
                        <a:rPr lang="en-US" baseline="0" dirty="0"/>
                        <a:t> linked 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LinkedList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rgbClr val="FF0000"/>
                          </a:solidFill>
                        </a:rPr>
                        <a:t>Thread safe (synchronized</a:t>
                      </a:r>
                      <a:r>
                        <a:rPr lang="en-US" baseline="0" dirty="0">
                          <a:solidFill>
                            <a:srgbClr val="FF0000"/>
                          </a:solidFill>
                        </a:rPr>
                        <a:t> technique) is NOT supported. </a:t>
                      </a:r>
                      <a:r>
                        <a:rPr lang="en-US" baseline="0" dirty="0">
                          <a:solidFill>
                            <a:schemeClr val="tx1"/>
                          </a:solidFill>
                        </a:rPr>
                        <a:t>All basic operations are implemented.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Single</a:t>
                      </a:r>
                      <a:r>
                        <a:rPr lang="en-US" baseline="0" dirty="0"/>
                        <a:t> -thread application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1143000"/>
            <a:ext cx="8458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FF99"/>
                </a:solidFill>
              </a:rPr>
              <a:t>In the </a:t>
            </a:r>
            <a:r>
              <a:rPr lang="en-US" sz="2400" dirty="0" err="1">
                <a:solidFill>
                  <a:srgbClr val="FFFF99"/>
                </a:solidFill>
              </a:rPr>
              <a:t>java.util</a:t>
            </a:r>
            <a:r>
              <a:rPr lang="en-US" sz="2400" dirty="0">
                <a:solidFill>
                  <a:srgbClr val="FFFF99"/>
                </a:solidFill>
              </a:rPr>
              <a:t> package, basic classes for a collection: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61</a:t>
            </a:fld>
            <a:endParaRPr kumimoji="0"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400" y="1607403"/>
            <a:ext cx="8991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Dynamic arrays: Initial, 10 elements are allocated, when arrays are full, user program will be paused and memory manager allocates double –size memory </a:t>
            </a:r>
            <a:r>
              <a:rPr lang="en-US" sz="1600" dirty="0">
                <a:solidFill>
                  <a:schemeClr val="bg1"/>
                </a:solidFill>
                <a:sym typeface="Wingdings" pitchFamily="2" charset="2"/>
              </a:rPr>
              <a:t> (10 20, 20  40, …). Steps: (1) Allocating new double-size memory block (2) Copy old array to new array (3) De-allocate old array.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 </a:t>
            </a:r>
            <a:fld id="{4E5C87A8-EDDD-4372-B909-A9838AC27AD6}" type="slidenum">
              <a:rPr lang="en-US" smtClean="0"/>
              <a:pPr/>
              <a:t>62</a:t>
            </a:fld>
            <a:endParaRPr lang="en-US" dirty="0"/>
          </a:p>
        </p:txBody>
      </p:sp>
      <p:sp>
        <p:nvSpPr>
          <p:cNvPr id="44035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39762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/>
              <a:t>Summary</a:t>
            </a:r>
          </a:p>
        </p:txBody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4983163"/>
          </a:xfrm>
        </p:spPr>
        <p:txBody>
          <a:bodyPr/>
          <a:lstStyle/>
          <a:p>
            <a:pPr eaLnBrk="1" hangingPunct="1"/>
            <a:r>
              <a:rPr lang="en-US" sz="2200" dirty="0"/>
              <a:t>A linked structure is a collection of nodes storing data and links to other nodes.</a:t>
            </a:r>
          </a:p>
          <a:p>
            <a:pPr eaLnBrk="1" hangingPunct="1"/>
            <a:r>
              <a:rPr lang="en-US" sz="2200" dirty="0"/>
              <a:t>A</a:t>
            </a:r>
            <a:r>
              <a:rPr lang="en-US" sz="2200" i="1" dirty="0"/>
              <a:t> </a:t>
            </a:r>
            <a:r>
              <a:rPr lang="en-US" sz="2200" dirty="0"/>
              <a:t>linked list</a:t>
            </a:r>
            <a:r>
              <a:rPr lang="en-US" sz="2200" i="1" dirty="0"/>
              <a:t> </a:t>
            </a:r>
            <a:r>
              <a:rPr lang="en-US" sz="2200" dirty="0"/>
              <a:t>is a data structure composed of nodes, each node holding some information and a reference to another node in the list.</a:t>
            </a:r>
          </a:p>
          <a:p>
            <a:pPr eaLnBrk="1" hangingPunct="1"/>
            <a:r>
              <a:rPr lang="en-US" sz="2200" dirty="0"/>
              <a:t>In a singly linked list, each node has a link only to its successor in this sequence.</a:t>
            </a:r>
          </a:p>
          <a:p>
            <a:pPr eaLnBrk="1" hangingPunct="1"/>
            <a:r>
              <a:rPr lang="en-US" sz="2200" dirty="0"/>
              <a:t>A list is called as circular list</a:t>
            </a:r>
            <a:r>
              <a:rPr lang="en-US" sz="2200" i="1" dirty="0"/>
              <a:t> </a:t>
            </a:r>
            <a:r>
              <a:rPr lang="en-US" sz="2200" dirty="0"/>
              <a:t>when nodes form a ring.</a:t>
            </a:r>
          </a:p>
          <a:p>
            <a:pPr eaLnBrk="1" hangingPunct="1"/>
            <a:r>
              <a:rPr lang="en-US" sz="2200" dirty="0"/>
              <a:t>LL Advantages: Insert, remove operations are performed efficiently.</a:t>
            </a:r>
          </a:p>
          <a:p>
            <a:pPr eaLnBrk="1" hangingPunct="1"/>
            <a:r>
              <a:rPr lang="en-US" sz="2200" dirty="0"/>
              <a:t>LL Disadvantages: Search operation is not performed effectively because of sequential scanning.</a:t>
            </a:r>
          </a:p>
          <a:p>
            <a:pPr eaLnBrk="1" hangingPunct="1"/>
            <a:endParaRPr lang="en-US" sz="220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r>
              <a:rPr lang="en-US" dirty="0"/>
              <a:t> </a:t>
            </a:r>
            <a:fld id="{89385F03-CAC6-4D1A-8DCD-2CF44D99E701}" type="slidenum">
              <a:rPr lang="en-US" smtClean="0"/>
              <a:pPr/>
              <a:t>63</a:t>
            </a:fld>
            <a:endParaRPr lang="en-US" dirty="0"/>
          </a:p>
        </p:txBody>
      </p:sp>
      <p:sp>
        <p:nvSpPr>
          <p:cNvPr id="4608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/>
              <a:t>Summary (continued)</a:t>
            </a:r>
          </a:p>
        </p:txBody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dirty="0"/>
              <a:t>A sparse table refers to a table that is populated sparsely by data and most of its cells are empty.</a:t>
            </a:r>
          </a:p>
          <a:p>
            <a:pPr eaLnBrk="1" hangingPunct="1"/>
            <a:r>
              <a:rPr lang="en-US" dirty="0"/>
              <a:t>Linked lists allow easy insertion and deletion of information because such operations have a local impact on the list.</a:t>
            </a:r>
          </a:p>
          <a:p>
            <a:pPr eaLnBrk="1" hangingPunct="1"/>
            <a:r>
              <a:rPr lang="en-US" dirty="0"/>
              <a:t>The advantage of arrays over linked lists is that they allow random accessing.</a:t>
            </a:r>
          </a:p>
          <a:p>
            <a:pPr lvl="1"/>
            <a:r>
              <a:rPr lang="en-US" dirty="0"/>
              <a:t>Random access: given address, data at that address will be accessed </a:t>
            </a:r>
            <a:r>
              <a:rPr lang="en-US" dirty="0">
                <a:sym typeface="Wingdings" pitchFamily="2" charset="2"/>
              </a:rPr>
              <a:t> very fast.</a:t>
            </a:r>
            <a:endParaRPr lang="en-US" dirty="0"/>
          </a:p>
          <a:p>
            <a:pPr eaLnBrk="1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914400"/>
            <a:ext cx="8077200" cy="5562599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dirty="0"/>
              <a:t>LO1.1  Demonstrate the list data structure with basic operations: insert, remove, edit, search, sort,...</a:t>
            </a:r>
          </a:p>
          <a:p>
            <a:pPr>
              <a:buNone/>
            </a:pPr>
            <a:r>
              <a:rPr lang="en-US" dirty="0"/>
              <a:t>LO1.2  Explain two ways of implementing a list: using arrays and using linked lists. </a:t>
            </a:r>
          </a:p>
          <a:p>
            <a:pPr>
              <a:buNone/>
            </a:pPr>
            <a:r>
              <a:rPr lang="en-US" dirty="0"/>
              <a:t>LO1.3  Write programs to implement the singly linked list with basic operations: add (last, first, before, after, at position), search, edit, remove, reverse, sort... )  </a:t>
            </a:r>
          </a:p>
          <a:p>
            <a:pPr>
              <a:buNone/>
            </a:pPr>
            <a:r>
              <a:rPr lang="en-US" dirty="0"/>
              <a:t>LO1.4  Understand the doubly linked-list data structure with basic operations.</a:t>
            </a:r>
          </a:p>
          <a:p>
            <a:pPr>
              <a:buNone/>
            </a:pPr>
            <a:r>
              <a:rPr lang="en-US" dirty="0"/>
              <a:t>LO1.5  Write code snippets which manipulate operations on doubly linked list, and use diagrams to illustrate the effect. </a:t>
            </a:r>
          </a:p>
          <a:p>
            <a:pPr>
              <a:buNone/>
            </a:pPr>
            <a:r>
              <a:rPr lang="en-US" dirty="0"/>
              <a:t>LO1.6  Describe the circularly linked-list data structure with some basic operations like add, remove. </a:t>
            </a:r>
          </a:p>
          <a:p>
            <a:pPr>
              <a:buNone/>
            </a:pPr>
            <a:r>
              <a:rPr lang="en-US" dirty="0"/>
              <a:t>LO1.7  Explain why the Java code library provides the </a:t>
            </a:r>
            <a:r>
              <a:rPr lang="en-US" dirty="0" err="1"/>
              <a:t>ArrayList</a:t>
            </a:r>
            <a:r>
              <a:rPr lang="en-US" dirty="0"/>
              <a:t> and </a:t>
            </a:r>
            <a:r>
              <a:rPr lang="en-US" dirty="0" err="1"/>
              <a:t>LinkedList</a:t>
            </a:r>
            <a:r>
              <a:rPr lang="en-US" dirty="0"/>
              <a:t> classes </a:t>
            </a:r>
            <a:br>
              <a:rPr lang="en-US" dirty="0"/>
            </a:b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228600" y="838200"/>
            <a:ext cx="311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sym typeface="Wingdings"/>
              </a:rPr>
              <a:t>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8600" y="1524000"/>
            <a:ext cx="3048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sym typeface="Wingdings"/>
              </a:rPr>
              <a:t>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28600" y="2205335"/>
            <a:ext cx="311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sym typeface="Wingdings"/>
              </a:rPr>
              <a:t>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28600" y="3195935"/>
            <a:ext cx="311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sym typeface="Wingdings"/>
              </a:rPr>
              <a:t>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28600" y="3886200"/>
            <a:ext cx="311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sym typeface="Wingdings"/>
              </a:rPr>
              <a:t>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8600" y="4495800"/>
            <a:ext cx="311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sym typeface="Wingdings"/>
              </a:rPr>
              <a:t>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28600" y="5181600"/>
            <a:ext cx="31130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FFFF00"/>
                </a:solidFill>
                <a:sym typeface="Wingdings"/>
              </a:rPr>
              <a:t></a:t>
            </a:r>
            <a:endParaRPr lang="en-US" sz="2400" b="1" dirty="0">
              <a:solidFill>
                <a:srgbClr val="FFFF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64</a:t>
            </a:fld>
            <a:endParaRPr kumimoji="0"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Ôn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562600"/>
          </a:xfrm>
        </p:spPr>
        <p:txBody>
          <a:bodyPr>
            <a:normAutofit fontScale="85000" lnSpcReduction="10000"/>
          </a:bodyPr>
          <a:lstStyle/>
          <a:p>
            <a:r>
              <a:rPr lang="en-US" dirty="0" err="1"/>
              <a:t>Viết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vở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mẫu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:</a:t>
            </a:r>
          </a:p>
          <a:p>
            <a:pPr>
              <a:buNone/>
            </a:pPr>
            <a:r>
              <a:rPr lang="en-US" b="1" dirty="0">
                <a:solidFill>
                  <a:srgbClr val="FFFF00"/>
                </a:solidFill>
              </a:rPr>
              <a:t>1- </a:t>
            </a:r>
            <a:r>
              <a:rPr lang="en-US" b="1" dirty="0" err="1">
                <a:solidFill>
                  <a:srgbClr val="FFFF00"/>
                </a:solidFill>
              </a:rPr>
              <a:t>Cấu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trúc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dữ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liệu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liên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kết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là</a:t>
            </a:r>
            <a:r>
              <a:rPr lang="en-US" b="1" dirty="0">
                <a:solidFill>
                  <a:srgbClr val="FFFF00"/>
                </a:solidFill>
              </a:rPr>
              <a:t> </a:t>
            </a:r>
            <a:r>
              <a:rPr lang="en-US" b="1" dirty="0" err="1">
                <a:solidFill>
                  <a:srgbClr val="FFFF00"/>
                </a:solidFill>
              </a:rPr>
              <a:t>gì</a:t>
            </a:r>
            <a:r>
              <a:rPr lang="en-US" b="1" dirty="0">
                <a:solidFill>
                  <a:srgbClr val="FFFF00"/>
                </a:solidFill>
              </a:rPr>
              <a:t>?</a:t>
            </a:r>
          </a:p>
          <a:p>
            <a:pPr marL="273050" indent="14288">
              <a:buNone/>
            </a:pPr>
            <a:r>
              <a:rPr lang="en-US" b="1" dirty="0" err="1"/>
              <a:t>Là</a:t>
            </a:r>
            <a:r>
              <a:rPr lang="en-US" b="1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nhóm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trong</a:t>
            </a:r>
            <a:r>
              <a:rPr lang="en-US" b="1" dirty="0"/>
              <a:t> </a:t>
            </a:r>
            <a:r>
              <a:rPr lang="en-US" b="1" dirty="0" err="1"/>
              <a:t>đó</a:t>
            </a:r>
            <a:r>
              <a:rPr lang="en-US" b="1" dirty="0"/>
              <a:t> </a:t>
            </a:r>
            <a:r>
              <a:rPr lang="en-US" b="1" dirty="0" err="1"/>
              <a:t>mỗi</a:t>
            </a:r>
            <a:r>
              <a:rPr lang="en-US" b="1" dirty="0"/>
              <a:t> </a:t>
            </a:r>
            <a:r>
              <a:rPr lang="en-US" b="1" dirty="0" err="1"/>
              <a:t>phân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có</a:t>
            </a:r>
            <a:r>
              <a:rPr lang="en-US" b="1" dirty="0"/>
              <a:t> </a:t>
            </a:r>
            <a:r>
              <a:rPr lang="en-US" b="1" dirty="0" err="1"/>
              <a:t>liên</a:t>
            </a:r>
            <a:r>
              <a:rPr lang="en-US" b="1" dirty="0"/>
              <a:t> </a:t>
            </a:r>
            <a:r>
              <a:rPr lang="en-US" b="1" dirty="0" err="1"/>
              <a:t>kết</a:t>
            </a:r>
            <a:r>
              <a:rPr lang="en-US" b="1" dirty="0"/>
              <a:t> </a:t>
            </a:r>
            <a:r>
              <a:rPr lang="en-US" b="1" dirty="0" err="1"/>
              <a:t>với</a:t>
            </a:r>
            <a:r>
              <a:rPr lang="en-US" b="1" dirty="0"/>
              <a:t> </a:t>
            </a:r>
            <a:r>
              <a:rPr lang="en-US" b="1" dirty="0" err="1"/>
              <a:t>các</a:t>
            </a:r>
            <a:r>
              <a:rPr lang="en-US" b="1" dirty="0"/>
              <a:t> </a:t>
            </a:r>
            <a:r>
              <a:rPr lang="en-US" b="1" dirty="0" err="1"/>
              <a:t>phần</a:t>
            </a:r>
            <a:r>
              <a:rPr lang="en-US" b="1" dirty="0"/>
              <a:t> </a:t>
            </a:r>
            <a:r>
              <a:rPr lang="en-US" b="1" dirty="0" err="1"/>
              <a:t>tử</a:t>
            </a:r>
            <a:r>
              <a:rPr lang="en-US" b="1" dirty="0"/>
              <a:t> </a:t>
            </a:r>
            <a:r>
              <a:rPr lang="en-US" b="1" dirty="0" err="1"/>
              <a:t>khác</a:t>
            </a:r>
            <a:r>
              <a:rPr lang="en-US" b="1" dirty="0"/>
              <a:t>. </a:t>
            </a:r>
            <a:r>
              <a:rPr lang="en-US" dirty="0"/>
              <a:t>Slide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khảo</a:t>
            </a:r>
            <a:r>
              <a:rPr lang="en-US" dirty="0"/>
              <a:t>:  8</a:t>
            </a:r>
          </a:p>
          <a:p>
            <a:pPr>
              <a:buNone/>
            </a:pPr>
            <a:r>
              <a:rPr lang="en-US" dirty="0"/>
              <a:t>2-Tại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lại</a:t>
            </a:r>
            <a:r>
              <a:rPr lang="en-US" dirty="0"/>
              <a:t> </a:t>
            </a:r>
            <a:r>
              <a:rPr lang="en-US" dirty="0" err="1"/>
              <a:t>cần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3-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4-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trúc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phi </a:t>
            </a:r>
            <a:r>
              <a:rPr lang="en-US" dirty="0" err="1"/>
              <a:t>tuyến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5-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6-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vòng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gì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7- </a:t>
            </a:r>
            <a:r>
              <a:rPr lang="en-US" dirty="0" err="1"/>
              <a:t>Làm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mô</a:t>
            </a:r>
            <a:r>
              <a:rPr lang="en-US" dirty="0"/>
              <a:t> </a:t>
            </a:r>
            <a:r>
              <a:rPr lang="en-US" dirty="0" err="1"/>
              <a:t>tả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nút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danh</a:t>
            </a:r>
            <a:r>
              <a:rPr lang="en-US" dirty="0"/>
              <a:t> </a:t>
            </a:r>
            <a:r>
              <a:rPr lang="en-US" dirty="0" err="1"/>
              <a:t>sách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. Cho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thí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8-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DSLK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quản</a:t>
            </a:r>
            <a:r>
              <a:rPr lang="en-US" dirty="0"/>
              <a:t> </a:t>
            </a:r>
            <a:r>
              <a:rPr lang="en-US" dirty="0" err="1"/>
              <a:t>lý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2 </a:t>
            </a:r>
            <a:r>
              <a:rPr lang="en-US" dirty="0" err="1"/>
              <a:t>tham</a:t>
            </a:r>
            <a:r>
              <a:rPr lang="en-US" dirty="0"/>
              <a:t> </a:t>
            </a:r>
            <a:r>
              <a:rPr lang="en-US" dirty="0" err="1"/>
              <a:t>chiếu</a:t>
            </a:r>
            <a:r>
              <a:rPr lang="en-US" dirty="0"/>
              <a:t> head </a:t>
            </a:r>
            <a:r>
              <a:rPr lang="en-US" dirty="0" err="1"/>
              <a:t>và</a:t>
            </a:r>
            <a:r>
              <a:rPr lang="en-US" dirty="0"/>
              <a:t> tail?</a:t>
            </a:r>
          </a:p>
          <a:p>
            <a:pPr>
              <a:buNone/>
            </a:pPr>
            <a:r>
              <a:rPr lang="en-US" dirty="0"/>
              <a:t>9- </a:t>
            </a:r>
            <a:r>
              <a:rPr lang="en-US" dirty="0" err="1"/>
              <a:t>Hãy</a:t>
            </a:r>
            <a:r>
              <a:rPr lang="en-US" dirty="0"/>
              <a:t> so </a:t>
            </a:r>
            <a:r>
              <a:rPr lang="en-US" dirty="0" err="1"/>
              <a:t>sánh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phức</a:t>
            </a:r>
            <a:r>
              <a:rPr lang="en-US" dirty="0"/>
              <a:t> </a:t>
            </a:r>
            <a:r>
              <a:rPr lang="en-US" dirty="0" err="1"/>
              <a:t>tạp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gian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DSLK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mảng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/ </a:t>
            </a:r>
            <a:r>
              <a:rPr lang="en-US" dirty="0" err="1"/>
              <a:t>tìm</a:t>
            </a:r>
            <a:r>
              <a:rPr lang="en-US" dirty="0"/>
              <a:t>/ </a:t>
            </a:r>
            <a:r>
              <a:rPr lang="en-US" dirty="0" err="1"/>
              <a:t>xoá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tử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dirty="0"/>
              <a:t>10-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cải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tác</a:t>
            </a:r>
            <a:r>
              <a:rPr lang="en-US" dirty="0"/>
              <a:t> </a:t>
            </a:r>
            <a:r>
              <a:rPr lang="en-US" dirty="0" err="1"/>
              <a:t>vụ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kiếm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DSLK, DSLK </a:t>
            </a:r>
            <a:r>
              <a:rPr lang="en-US" dirty="0" err="1"/>
              <a:t>nên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chức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thế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quả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?</a:t>
            </a:r>
          </a:p>
          <a:p>
            <a:pPr>
              <a:buNone/>
            </a:pPr>
            <a:r>
              <a:rPr lang="en-US" dirty="0"/>
              <a:t>11-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DSLK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khuyên</a:t>
            </a:r>
            <a:r>
              <a:rPr lang="en-US" dirty="0"/>
              <a:t> </a:t>
            </a:r>
            <a:r>
              <a:rPr lang="en-US" dirty="0" err="1"/>
              <a:t>dùng</a:t>
            </a:r>
            <a:r>
              <a:rPr lang="en-US" dirty="0"/>
              <a:t>?</a:t>
            </a:r>
          </a:p>
          <a:p>
            <a:pPr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65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/>
              <a:t>Linked Lists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Ôn</a:t>
            </a:r>
            <a:r>
              <a:rPr lang="en-US" dirty="0"/>
              <a:t> </a:t>
            </a:r>
            <a:r>
              <a:rPr lang="en-US" dirty="0" err="1"/>
              <a:t>tập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808037"/>
            <a:ext cx="8153400" cy="55165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2000" dirty="0"/>
              <a:t>12- </a:t>
            </a:r>
            <a:r>
              <a:rPr lang="en-US" sz="2000" dirty="0" err="1"/>
              <a:t>Bảng</a:t>
            </a:r>
            <a:r>
              <a:rPr lang="en-US" sz="2000" dirty="0"/>
              <a:t> </a:t>
            </a:r>
            <a:r>
              <a:rPr lang="en-US" sz="2000" dirty="0" err="1"/>
              <a:t>thưa</a:t>
            </a:r>
            <a:r>
              <a:rPr lang="en-US" sz="2000" dirty="0"/>
              <a:t> </a:t>
            </a:r>
            <a:r>
              <a:rPr lang="en-US" sz="2000" dirty="0" err="1"/>
              <a:t>là</a:t>
            </a:r>
            <a:r>
              <a:rPr lang="en-US" sz="2000" dirty="0"/>
              <a:t>  </a:t>
            </a:r>
            <a:r>
              <a:rPr lang="en-US" sz="2000" dirty="0" err="1"/>
              <a:t>gì</a:t>
            </a:r>
            <a:r>
              <a:rPr lang="en-US" sz="2000" dirty="0"/>
              <a:t>? </a:t>
            </a:r>
            <a:r>
              <a:rPr lang="en-US" sz="2000" dirty="0" err="1"/>
              <a:t>Mô</a:t>
            </a:r>
            <a:r>
              <a:rPr lang="en-US" sz="2000" dirty="0"/>
              <a:t> </a:t>
            </a:r>
            <a:r>
              <a:rPr lang="en-US" sz="2000" dirty="0" err="1"/>
              <a:t>tả</a:t>
            </a:r>
            <a:r>
              <a:rPr lang="en-US" sz="2000" dirty="0"/>
              <a:t> </a:t>
            </a:r>
            <a:r>
              <a:rPr lang="en-US" sz="2000" dirty="0" err="1"/>
              <a:t>bảng</a:t>
            </a:r>
            <a:r>
              <a:rPr lang="en-US" sz="2000" dirty="0"/>
              <a:t> </a:t>
            </a:r>
            <a:r>
              <a:rPr lang="en-US" sz="2000" dirty="0" err="1"/>
              <a:t>thưa</a:t>
            </a:r>
            <a:r>
              <a:rPr lang="en-US" sz="2000" dirty="0"/>
              <a:t> </a:t>
            </a:r>
            <a:r>
              <a:rPr lang="en-US" sz="2000" dirty="0" err="1"/>
              <a:t>như</a:t>
            </a:r>
            <a:r>
              <a:rPr lang="en-US" sz="2000" dirty="0"/>
              <a:t> </a:t>
            </a:r>
            <a:r>
              <a:rPr lang="en-US" sz="2000" dirty="0" err="1"/>
              <a:t>thế</a:t>
            </a:r>
            <a:r>
              <a:rPr lang="en-US" sz="2000" dirty="0"/>
              <a:t> </a:t>
            </a:r>
            <a:r>
              <a:rPr lang="en-US" sz="2000" dirty="0" err="1"/>
              <a:t>nào</a:t>
            </a:r>
            <a:r>
              <a:rPr lang="en-US" sz="2000" dirty="0"/>
              <a:t> </a:t>
            </a:r>
            <a:r>
              <a:rPr lang="en-US" sz="2000" dirty="0" err="1"/>
              <a:t>để</a:t>
            </a:r>
            <a:r>
              <a:rPr lang="en-US" sz="2000" dirty="0"/>
              <a:t> </a:t>
            </a:r>
            <a:r>
              <a:rPr lang="en-US" sz="2000" dirty="0" err="1"/>
              <a:t>tiết</a:t>
            </a:r>
            <a:r>
              <a:rPr lang="en-US" sz="2000" dirty="0"/>
              <a:t> </a:t>
            </a:r>
            <a:r>
              <a:rPr lang="en-US" sz="2000" dirty="0" err="1"/>
              <a:t>kiệm</a:t>
            </a:r>
            <a:r>
              <a:rPr lang="en-US" sz="2000" dirty="0"/>
              <a:t> </a:t>
            </a:r>
            <a:r>
              <a:rPr lang="en-US" sz="2000" dirty="0" err="1"/>
              <a:t>bộ</a:t>
            </a:r>
            <a:r>
              <a:rPr lang="en-US" sz="2000" dirty="0"/>
              <a:t> </a:t>
            </a:r>
            <a:r>
              <a:rPr lang="en-US" sz="2000" dirty="0" err="1"/>
              <a:t>nhớ</a:t>
            </a:r>
            <a:r>
              <a:rPr lang="en-US" sz="2000" dirty="0"/>
              <a:t>.</a:t>
            </a:r>
          </a:p>
          <a:p>
            <a:pPr>
              <a:buNone/>
            </a:pPr>
            <a:r>
              <a:rPr lang="en-US" sz="2000" dirty="0"/>
              <a:t>13- </a:t>
            </a:r>
            <a:r>
              <a:rPr lang="en-US" sz="2000" dirty="0" err="1"/>
              <a:t>Lớp</a:t>
            </a:r>
            <a:r>
              <a:rPr lang="en-US" sz="2000" dirty="0"/>
              <a:t> </a:t>
            </a:r>
            <a:r>
              <a:rPr lang="en-US" sz="2000" dirty="0" err="1"/>
              <a:t>java.util.LinkedList</a:t>
            </a:r>
            <a:r>
              <a:rPr lang="en-US" sz="2000" dirty="0"/>
              <a:t> </a:t>
            </a:r>
            <a:r>
              <a:rPr lang="en-US" sz="2000" dirty="0" err="1"/>
              <a:t>thuộc</a:t>
            </a:r>
            <a:r>
              <a:rPr lang="en-US" sz="2000" dirty="0"/>
              <a:t> </a:t>
            </a:r>
            <a:r>
              <a:rPr lang="en-US" sz="2000" dirty="0" err="1"/>
              <a:t>loại</a:t>
            </a:r>
            <a:r>
              <a:rPr lang="en-US" sz="2000" dirty="0"/>
              <a:t> DSLK </a:t>
            </a:r>
            <a:r>
              <a:rPr lang="en-US" sz="2000" dirty="0" err="1"/>
              <a:t>nào</a:t>
            </a:r>
            <a:r>
              <a:rPr lang="en-US" sz="2000" dirty="0"/>
              <a:t>? </a:t>
            </a:r>
            <a:r>
              <a:rPr lang="en-US" sz="2000" dirty="0" err="1"/>
              <a:t>Có</a:t>
            </a:r>
            <a:r>
              <a:rPr lang="en-US" sz="2000" dirty="0"/>
              <a:t> </a:t>
            </a:r>
            <a:r>
              <a:rPr lang="en-US" sz="2000" dirty="0" err="1"/>
              <a:t>hỗ</a:t>
            </a:r>
            <a:r>
              <a:rPr lang="en-US" sz="2000" dirty="0"/>
              <a:t> </a:t>
            </a:r>
            <a:r>
              <a:rPr lang="en-US" sz="2000" dirty="0" err="1"/>
              <a:t>trợ</a:t>
            </a:r>
            <a:r>
              <a:rPr lang="en-US" sz="2000" dirty="0"/>
              <a:t> </a:t>
            </a:r>
            <a:r>
              <a:rPr lang="en-US" sz="2000" dirty="0" err="1"/>
              <a:t>kỹ</a:t>
            </a:r>
            <a:r>
              <a:rPr lang="en-US" sz="2000" dirty="0"/>
              <a:t> </a:t>
            </a:r>
            <a:r>
              <a:rPr lang="en-US" sz="2000" dirty="0" err="1"/>
              <a:t>thuật</a:t>
            </a:r>
            <a:r>
              <a:rPr lang="en-US" sz="2000" dirty="0"/>
              <a:t> an </a:t>
            </a:r>
            <a:r>
              <a:rPr lang="en-US" sz="2000" dirty="0" err="1"/>
              <a:t>toàn</a:t>
            </a:r>
            <a:r>
              <a:rPr lang="en-US" sz="2000" dirty="0"/>
              <a:t> </a:t>
            </a:r>
            <a:r>
              <a:rPr lang="en-US" sz="2000" dirty="0" err="1"/>
              <a:t>về</a:t>
            </a:r>
            <a:r>
              <a:rPr lang="en-US" sz="2000" dirty="0"/>
              <a:t> </a:t>
            </a:r>
            <a:r>
              <a:rPr lang="en-US" sz="2000" dirty="0" err="1"/>
              <a:t>luồng</a:t>
            </a:r>
            <a:r>
              <a:rPr lang="en-US" sz="2000" dirty="0"/>
              <a:t> hay </a:t>
            </a:r>
            <a:r>
              <a:rPr lang="en-US" sz="2000" dirty="0" err="1"/>
              <a:t>không</a:t>
            </a:r>
            <a:r>
              <a:rPr lang="en-US" sz="2000" dirty="0"/>
              <a:t>?</a:t>
            </a:r>
          </a:p>
          <a:p>
            <a:pPr>
              <a:buNone/>
            </a:pPr>
            <a:r>
              <a:rPr lang="en-US" sz="2000" dirty="0">
                <a:solidFill>
                  <a:srgbClr val="FFFF00"/>
                </a:solidFill>
              </a:rPr>
              <a:t>Given a linked list of positive integers and it is managed using head and tail references:      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5 __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7 __ 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1 __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6 __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9 __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2 __ 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4 __ 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10 __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</a:rPr>
              <a:t> 8 __</a:t>
            </a:r>
            <a:r>
              <a:rPr lang="en-US" sz="2000" dirty="0">
                <a:solidFill>
                  <a:srgbClr val="FFFF00"/>
                </a:solidFill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 3</a:t>
            </a:r>
          </a:p>
          <a:p>
            <a:pPr>
              <a:buNone/>
            </a:pPr>
            <a:r>
              <a:rPr lang="en-US" sz="2000" dirty="0">
                <a:sym typeface="Wingdings" pitchFamily="2" charset="2"/>
              </a:rPr>
              <a:t>14- If following codes perform, the value in S is ___ </a:t>
            </a:r>
          </a:p>
          <a:p>
            <a:pPr marL="736600" indent="-27305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S=10;</a:t>
            </a:r>
          </a:p>
          <a:p>
            <a:pPr marL="736600" indent="-27305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for (t=head;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t.nexr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!=null; t=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t.next</a:t>
            </a:r>
            <a:r>
              <a:rPr lang="en-US" sz="2000" dirty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) </a:t>
            </a:r>
          </a:p>
          <a:p>
            <a:pPr marL="736600" indent="-27305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 if (t.data%2!=0) S +=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t.data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>
              <a:buNone/>
            </a:pPr>
            <a:r>
              <a:rPr lang="en-US" sz="2000" dirty="0"/>
              <a:t>15- </a:t>
            </a:r>
            <a:r>
              <a:rPr lang="en-US" sz="2000" dirty="0">
                <a:sym typeface="Wingdings" pitchFamily="2" charset="2"/>
              </a:rPr>
              <a:t>If following codes perform, the value in S is ___</a:t>
            </a:r>
            <a:endParaRPr lang="en-US" sz="2000" dirty="0"/>
          </a:p>
          <a:p>
            <a:pPr marL="46355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S=0;</a:t>
            </a:r>
          </a:p>
          <a:p>
            <a:pPr marL="46355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 = tail;</a:t>
            </a:r>
          </a:p>
          <a:p>
            <a:pPr marL="46355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while (t!=null) {</a:t>
            </a:r>
          </a:p>
          <a:p>
            <a:pPr marL="46355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if ((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t.data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&amp; (t.data-1))==0)  S +=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t.data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63550" indent="0">
              <a:buNone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      t =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t.previous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;</a:t>
            </a:r>
          </a:p>
          <a:p>
            <a:pPr marL="463550" indent="0">
              <a:buNone/>
            </a:pPr>
            <a:r>
              <a:rPr lang="en-US" sz="2000" dirty="0"/>
              <a:t>}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AED99-7FB4-404E-8A97-64753DCE42EC}" type="slidenum">
              <a:rPr kumimoji="0" lang="en-US" smtClean="0"/>
              <a:pPr/>
              <a:t>66</a:t>
            </a:fld>
            <a:endParaRPr kumimoji="0"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kumimoji="0" lang="en-US" dirty="0"/>
              <a:t>Linked Lists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1686</TotalTime>
  <Words>4480</Words>
  <Application>Microsoft Office PowerPoint</Application>
  <PresentationFormat>On-screen Show (4:3)</PresentationFormat>
  <Paragraphs>1031</Paragraphs>
  <Slides>66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66</vt:i4>
      </vt:variant>
    </vt:vector>
  </HeadingPairs>
  <TitlesOfParts>
    <vt:vector size="74" baseType="lpstr">
      <vt:lpstr>Arial</vt:lpstr>
      <vt:lpstr>Arial Narrow</vt:lpstr>
      <vt:lpstr>Calibri</vt:lpstr>
      <vt:lpstr>Constantia</vt:lpstr>
      <vt:lpstr>Times New Roman</vt:lpstr>
      <vt:lpstr>Wingdings</vt:lpstr>
      <vt:lpstr>Wingdings 2</vt:lpstr>
      <vt:lpstr>Flow</vt:lpstr>
      <vt:lpstr>Slot 2&amp;3 Linked Lists</vt:lpstr>
      <vt:lpstr>Learning Outcomes</vt:lpstr>
      <vt:lpstr>Contents</vt:lpstr>
      <vt:lpstr>1- Basic operations on a group</vt:lpstr>
      <vt:lpstr>2: Drawbacks of Arrays</vt:lpstr>
      <vt:lpstr>Drawbacks of Arrays…</vt:lpstr>
      <vt:lpstr>Drawbacks of Arrays …</vt:lpstr>
      <vt:lpstr>3: Introduction to Linked Data Structures </vt:lpstr>
      <vt:lpstr>3: Intro. to Linked Data Structures </vt:lpstr>
      <vt:lpstr>4: Linked Lists (LLs)</vt:lpstr>
      <vt:lpstr>LLs…</vt:lpstr>
      <vt:lpstr>LLs: Common used LLs</vt:lpstr>
      <vt:lpstr>LLs…: Representing Item/List</vt:lpstr>
      <vt:lpstr>LLs…: Comparing</vt:lpstr>
      <vt:lpstr>LLs…:  Operations</vt:lpstr>
      <vt:lpstr>SLL Operations: Adding</vt:lpstr>
      <vt:lpstr>SLL Operations: Adding…</vt:lpstr>
      <vt:lpstr>SLL Operations: Adding…</vt:lpstr>
      <vt:lpstr>SLL Operations: Searching</vt:lpstr>
      <vt:lpstr>SLL Operations: Removing</vt:lpstr>
      <vt:lpstr>SLL Operations: Traversing</vt:lpstr>
      <vt:lpstr>SLL Operations: Sorting</vt:lpstr>
      <vt:lpstr>SLL Operations: Reversing</vt:lpstr>
      <vt:lpstr>LLs…: Operations- Summary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1: Singly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Demo 2: Doubly Linked List</vt:lpstr>
      <vt:lpstr>7- Where a linked list should be used?</vt:lpstr>
      <vt:lpstr>Where a linked list should be used?...</vt:lpstr>
      <vt:lpstr>8: Managing groups using the java API</vt:lpstr>
      <vt:lpstr>Summary</vt:lpstr>
      <vt:lpstr>Summary (continued)</vt:lpstr>
      <vt:lpstr>Summary</vt:lpstr>
      <vt:lpstr>Ôn tập</vt:lpstr>
      <vt:lpstr>Ôn tập</vt:lpstr>
    </vt:vector>
  </TitlesOfParts>
  <Company>Grizli777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Azure</dc:creator>
  <cp:lastModifiedBy>Thuy Duong Luong Ngoc</cp:lastModifiedBy>
  <cp:revision>117</cp:revision>
  <dcterms:created xsi:type="dcterms:W3CDTF">2021-11-26T02:00:25Z</dcterms:created>
  <dcterms:modified xsi:type="dcterms:W3CDTF">2023-09-14T07:23:46Z</dcterms:modified>
</cp:coreProperties>
</file>