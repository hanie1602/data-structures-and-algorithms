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82" r:id="rId4"/>
    <p:sldId id="283" r:id="rId5"/>
    <p:sldId id="284" r:id="rId6"/>
    <p:sldId id="285" r:id="rId7"/>
    <p:sldId id="286" r:id="rId8"/>
    <p:sldId id="287" r:id="rId9"/>
    <p:sldId id="298" r:id="rId10"/>
    <p:sldId id="288" r:id="rId11"/>
    <p:sldId id="289" r:id="rId12"/>
    <p:sldId id="290" r:id="rId13"/>
    <p:sldId id="291" r:id="rId14"/>
    <p:sldId id="292" r:id="rId15"/>
    <p:sldId id="293" r:id="rId16"/>
    <p:sldId id="294" r:id="rId17"/>
    <p:sldId id="295" r:id="rId18"/>
    <p:sldId id="297" r:id="rId19"/>
    <p:sldId id="307" r:id="rId20"/>
    <p:sldId id="296" r:id="rId21"/>
    <p:sldId id="299" r:id="rId22"/>
    <p:sldId id="300" r:id="rId23"/>
    <p:sldId id="301" r:id="rId24"/>
    <p:sldId id="302" r:id="rId25"/>
    <p:sldId id="303" r:id="rId26"/>
    <p:sldId id="304" r:id="rId27"/>
    <p:sldId id="305" r:id="rId28"/>
    <p:sldId id="30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showPr>
  <p:clrMru>
    <a:srgbClr val="0000CC"/>
    <a:srgbClr val="008000"/>
    <a:srgbClr val="FF0066"/>
    <a:srgbClr val="FFCC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105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468C81-B445-4B6F-98EC-B83CF844BEBB}" type="datetimeFigureOut">
              <a:rPr lang="en-US" smtClean="0"/>
              <a:pPr/>
              <a:t>9/4/2023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55721C-1FE6-4607-823F-1B0923B0E78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19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20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5721C-1FE6-4607-823F-1B0923B0E78C}" type="slidenum">
              <a:rPr lang="en-US" smtClean="0"/>
              <a:pPr/>
              <a:t>21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000" b="1">
                <a:ln>
                  <a:noFill/>
                </a:ln>
                <a:solidFill>
                  <a:schemeClr val="accent3">
                    <a:tint val="90000"/>
                    <a:satMod val="120000"/>
                  </a:schemeClr>
                </a:solidFill>
                <a:effectLst>
                  <a:outerShdw blurRad="38100" dist="25400" dir="5400000" algn="tl" rotWithShape="0">
                    <a:srgbClr val="000000">
                      <a:alpha val="43000"/>
                    </a:srgbClr>
                  </a:outerShdw>
                </a:effectLst>
                <a:latin typeface="Times New Roman" pitchFamily="18" charset="0"/>
                <a:ea typeface="+mj-ea"/>
                <a:cs typeface="Times New Roman" pitchFamily="18" charset="0"/>
              </a:defRPr>
            </a:lvl1pPr>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F4BCC5-6C86-4C07-9A93-33A87E05B13E}" type="datetime1">
              <a:rPr lang="en-US" smtClean="0"/>
              <a:pPr/>
              <a:t>9/4/2023</a:t>
            </a:fld>
            <a:endParaRPr lang="en-US"/>
          </a:p>
        </p:txBody>
      </p:sp>
      <p:sp>
        <p:nvSpPr>
          <p:cNvPr id="19" name="Footer Placeholder 18"/>
          <p:cNvSpPr>
            <a:spLocks noGrp="1"/>
          </p:cNvSpPr>
          <p:nvPr>
            <p:ph type="ftr" sz="quarter" idx="11"/>
          </p:nvPr>
        </p:nvSpPr>
        <p:spPr/>
        <p:txBody>
          <a:bodyPr/>
          <a:lstStyle/>
          <a:p>
            <a:r>
              <a:rPr kumimoji="0" lang="en-US" smtClean="0"/>
              <a:t>CSD201 Intro.</a:t>
            </a:r>
            <a:endParaRPr kumimoji="0" lang="en-US"/>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4427035-A2B4-4F8A-B8E7-4BECC8A4CD16}" type="datetime1">
              <a:rPr lang="en-US" smtClean="0"/>
              <a:pPr/>
              <a:t>9/4/2023</a:t>
            </a:fld>
            <a:endParaRPr lang="en-US"/>
          </a:p>
        </p:txBody>
      </p:sp>
      <p:sp>
        <p:nvSpPr>
          <p:cNvPr id="5" name="Footer Placeholder 4"/>
          <p:cNvSpPr>
            <a:spLocks noGrp="1"/>
          </p:cNvSpPr>
          <p:nvPr>
            <p:ph type="ftr" sz="quarter" idx="11"/>
          </p:nvPr>
        </p:nvSpPr>
        <p:spPr/>
        <p:txBody>
          <a:bodyPr/>
          <a:lstStyle>
            <a:lvl1pPr algn="ctr">
              <a:defRPr/>
            </a:lvl1pPr>
          </a:lstStyle>
          <a:p>
            <a:r>
              <a:rPr lang="en-US" smtClean="0"/>
              <a:t>CSD201 Intro.</a:t>
            </a:r>
            <a:endParaRPr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1D01484-A364-4E27-975A-2ADEA1150383}" type="datetime1">
              <a:rPr lang="en-US" smtClean="0"/>
              <a:pPr/>
              <a:t>9/4/2023</a:t>
            </a:fld>
            <a:endParaRPr lang="en-US"/>
          </a:p>
        </p:txBody>
      </p:sp>
      <p:sp>
        <p:nvSpPr>
          <p:cNvPr id="5" name="Footer Placeholder 4"/>
          <p:cNvSpPr>
            <a:spLocks noGrp="1"/>
          </p:cNvSpPr>
          <p:nvPr>
            <p:ph type="ftr" sz="quarter" idx="11"/>
          </p:nvPr>
        </p:nvSpPr>
        <p:spPr/>
        <p:txBody>
          <a:bodyPr/>
          <a:lstStyle/>
          <a:p>
            <a:r>
              <a:rPr kumimoji="0" lang="en-US" smtClean="0"/>
              <a:t>CSD201 Intro.</a:t>
            </a:r>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5943AD9-B4C1-4322-B2B3-CEF2E6734453}" type="datetime1">
              <a:rPr lang="en-US" smtClean="0"/>
              <a:pPr/>
              <a:t>9/4/2023</a:t>
            </a:fld>
            <a:endParaRPr lang="en-US"/>
          </a:p>
        </p:txBody>
      </p:sp>
      <p:sp>
        <p:nvSpPr>
          <p:cNvPr id="6" name="Footer Placeholder 5"/>
          <p:cNvSpPr>
            <a:spLocks noGrp="1"/>
          </p:cNvSpPr>
          <p:nvPr>
            <p:ph type="ftr" sz="quarter" idx="11"/>
          </p:nvPr>
        </p:nvSpPr>
        <p:spPr/>
        <p:txBody>
          <a:bodyPr/>
          <a:lstStyle/>
          <a:p>
            <a:r>
              <a:rPr kumimoji="0" lang="en-US" smtClean="0"/>
              <a:t>CSD201 Intro.</a:t>
            </a:r>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4C7330B-8D76-4D2E-8882-BCCC40014350}" type="datetime1">
              <a:rPr lang="en-US" smtClean="0"/>
              <a:pPr/>
              <a:t>9/4/2023</a:t>
            </a:fld>
            <a:endParaRPr lang="en-US"/>
          </a:p>
        </p:txBody>
      </p:sp>
      <p:sp>
        <p:nvSpPr>
          <p:cNvPr id="8" name="Footer Placeholder 7"/>
          <p:cNvSpPr>
            <a:spLocks noGrp="1"/>
          </p:cNvSpPr>
          <p:nvPr>
            <p:ph type="ftr" sz="quarter" idx="11"/>
          </p:nvPr>
        </p:nvSpPr>
        <p:spPr/>
        <p:txBody>
          <a:bodyPr/>
          <a:lstStyle/>
          <a:p>
            <a:r>
              <a:rPr kumimoji="0" lang="en-US" smtClean="0"/>
              <a:t>CSD201 Intro.</a:t>
            </a:r>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9F37E3F-C08D-4573-95CF-75CE24067B82}" type="datetime1">
              <a:rPr lang="en-US" smtClean="0"/>
              <a:pPr/>
              <a:t>9/4/2023</a:t>
            </a:fld>
            <a:endParaRPr lang="en-US"/>
          </a:p>
        </p:txBody>
      </p:sp>
      <p:sp>
        <p:nvSpPr>
          <p:cNvPr id="4" name="Footer Placeholder 3"/>
          <p:cNvSpPr>
            <a:spLocks noGrp="1"/>
          </p:cNvSpPr>
          <p:nvPr>
            <p:ph type="ftr" sz="quarter" idx="11"/>
          </p:nvPr>
        </p:nvSpPr>
        <p:spPr/>
        <p:txBody>
          <a:bodyPr/>
          <a:lstStyle/>
          <a:p>
            <a:r>
              <a:rPr kumimoji="0" lang="en-US" smtClean="0"/>
              <a:t>CSD201 Intro.</a:t>
            </a:r>
            <a:endParaRPr kumimoji="0"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A026CA-1B68-4B4B-A9FC-CD7BFE36C08A}" type="datetime1">
              <a:rPr lang="en-US" smtClean="0"/>
              <a:pPr/>
              <a:t>9/4/2023</a:t>
            </a:fld>
            <a:endParaRPr lang="en-US"/>
          </a:p>
        </p:txBody>
      </p:sp>
      <p:sp>
        <p:nvSpPr>
          <p:cNvPr id="3" name="Footer Placeholder 2"/>
          <p:cNvSpPr>
            <a:spLocks noGrp="1"/>
          </p:cNvSpPr>
          <p:nvPr>
            <p:ph type="ftr" sz="quarter" idx="11"/>
          </p:nvPr>
        </p:nvSpPr>
        <p:spPr/>
        <p:txBody>
          <a:bodyPr/>
          <a:lstStyle/>
          <a:p>
            <a:r>
              <a:rPr kumimoji="0" lang="en-US" smtClean="0"/>
              <a:t>CSD201 Intro.</a:t>
            </a:r>
            <a:endParaRPr kumimoji="0" lang="en-US"/>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CF96737-8FDB-425B-AC42-A0C20A45B992}" type="datetime1">
              <a:rPr lang="en-US" smtClean="0"/>
              <a:pPr/>
              <a:t>9/4/2023</a:t>
            </a:fld>
            <a:endParaRPr lang="en-US"/>
          </a:p>
        </p:txBody>
      </p:sp>
      <p:sp>
        <p:nvSpPr>
          <p:cNvPr id="6" name="Footer Placeholder 5"/>
          <p:cNvSpPr>
            <a:spLocks noGrp="1"/>
          </p:cNvSpPr>
          <p:nvPr>
            <p:ph type="ftr" sz="quarter" idx="11"/>
          </p:nvPr>
        </p:nvSpPr>
        <p:spPr/>
        <p:txBody>
          <a:bodyPr/>
          <a:lstStyle/>
          <a:p>
            <a:r>
              <a:rPr kumimoji="0" lang="en-US" smtClean="0"/>
              <a:t>CSD201 Intro.</a:t>
            </a:r>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A5467B3-73E1-4D96-BF9A-24653FEA59AE}" type="datetime1">
              <a:rPr lang="en-US" smtClean="0"/>
              <a:pPr/>
              <a:t>9/4/2023</a:t>
            </a:fld>
            <a:endParaRPr lang="en-US"/>
          </a:p>
        </p:txBody>
      </p:sp>
      <p:sp>
        <p:nvSpPr>
          <p:cNvPr id="6" name="Footer Placeholder 5"/>
          <p:cNvSpPr>
            <a:spLocks noGrp="1"/>
          </p:cNvSpPr>
          <p:nvPr>
            <p:ph type="ftr" sz="quarter" idx="11"/>
          </p:nvPr>
        </p:nvSpPr>
        <p:spPr/>
        <p:txBody>
          <a:bodyPr/>
          <a:lstStyle/>
          <a:p>
            <a:r>
              <a:rPr kumimoji="0" lang="en-US" smtClean="0"/>
              <a:t>CSD201 Intro.</a:t>
            </a:r>
            <a:endParaRPr kumimoji="0" lang="en-US"/>
          </a:p>
        </p:txBody>
      </p:sp>
      <p:sp>
        <p:nvSpPr>
          <p:cNvPr id="7" name="Slide Number Placeholder 6"/>
          <p:cNvSpPr>
            <a:spLocks noGrp="1"/>
          </p:cNvSpPr>
          <p:nvPr>
            <p:ph type="sldNum" sz="quarter" idx="12"/>
          </p:nvPr>
        </p:nvSpPr>
        <p:spPr>
          <a:xfrm>
            <a:off x="8077200" y="6356350"/>
            <a:ext cx="6096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5BEB678-7368-4E15-960E-72EC61DF4ABE}" type="datetime1">
              <a:rPr lang="en-US" smtClean="0"/>
              <a:pPr/>
              <a:t>9/4/2023</a:t>
            </a:fld>
            <a:endParaRPr lang="en-US"/>
          </a:p>
        </p:txBody>
      </p:sp>
      <p:sp>
        <p:nvSpPr>
          <p:cNvPr id="5" name="Footer Placeholder 4"/>
          <p:cNvSpPr>
            <a:spLocks noGrp="1"/>
          </p:cNvSpPr>
          <p:nvPr>
            <p:ph type="ftr" sz="quarter" idx="11"/>
          </p:nvPr>
        </p:nvSpPr>
        <p:spPr/>
        <p:txBody>
          <a:bodyPr/>
          <a:lstStyle/>
          <a:p>
            <a:r>
              <a:rPr kumimoji="0" lang="en-US" smtClean="0"/>
              <a:t>CSD201 Intro.</a:t>
            </a:r>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64E4DA4-E71D-4E63-8D77-5755229BDEC1}" type="datetime1">
              <a:rPr lang="en-US" smtClean="0"/>
              <a:pPr/>
              <a:t>9/4/2023</a:t>
            </a:fld>
            <a:endParaRPr lang="en-US"/>
          </a:p>
        </p:txBody>
      </p:sp>
      <p:sp>
        <p:nvSpPr>
          <p:cNvPr id="5" name="Footer Placeholder 4"/>
          <p:cNvSpPr>
            <a:spLocks noGrp="1"/>
          </p:cNvSpPr>
          <p:nvPr>
            <p:ph type="ftr" sz="quarter" idx="11"/>
          </p:nvPr>
        </p:nvSpPr>
        <p:spPr/>
        <p:txBody>
          <a:bodyPr/>
          <a:lstStyle/>
          <a:p>
            <a:r>
              <a:rPr kumimoji="0" lang="en-US" smtClean="0"/>
              <a:t>CSD201 Intro.</a:t>
            </a:r>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6200"/>
            <a:ext cx="8534400" cy="667512"/>
          </a:xfrm>
          <a:prstGeom prst="rect">
            <a:avLst/>
          </a:prstGeom>
        </p:spPr>
        <p:txBody>
          <a:bodyPr vert="horz" lIns="0" rIns="0" bIns="0" anchor="b">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8229600" cy="438912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553200"/>
            <a:ext cx="914400" cy="228600"/>
          </a:xfrm>
          <a:prstGeom prst="rect">
            <a:avLst/>
          </a:prstGeom>
        </p:spPr>
        <p:txBody>
          <a:bodyPr vert="horz" lIns="0" tIns="0" rIns="0" bIns="0" anchor="b"/>
          <a:lstStyle>
            <a:lvl1pPr algn="l" eaLnBrk="1" latinLnBrk="0" hangingPunct="1">
              <a:defRPr kumimoji="0" sz="1200">
                <a:solidFill>
                  <a:schemeClr val="bg1"/>
                </a:solidFill>
                <a:latin typeface="Times New Roman" pitchFamily="18" charset="0"/>
                <a:cs typeface="Times New Roman" pitchFamily="18" charset="0"/>
              </a:defRPr>
            </a:lvl1pPr>
          </a:lstStyle>
          <a:p>
            <a:fld id="{70C04D62-E852-4388-994C-8F5058B2C932}" type="datetime1">
              <a:rPr lang="en-US" smtClean="0"/>
              <a:pPr/>
              <a:t>9/4/2023</a:t>
            </a:fld>
            <a:endParaRPr lang="en-US" dirty="0"/>
          </a:p>
        </p:txBody>
      </p:sp>
      <p:sp>
        <p:nvSpPr>
          <p:cNvPr id="22" name="Footer Placeholder 21"/>
          <p:cNvSpPr>
            <a:spLocks noGrp="1"/>
          </p:cNvSpPr>
          <p:nvPr>
            <p:ph type="ftr" sz="quarter" idx="3"/>
          </p:nvPr>
        </p:nvSpPr>
        <p:spPr>
          <a:xfrm>
            <a:off x="2667000" y="6553200"/>
            <a:ext cx="4495800" cy="244475"/>
          </a:xfrm>
          <a:prstGeom prst="rect">
            <a:avLst/>
          </a:prstGeom>
        </p:spPr>
        <p:txBody>
          <a:bodyPr vert="horz" lIns="0" tIns="0" rIns="0" bIns="0" anchor="b"/>
          <a:lstStyle>
            <a:lvl1pPr algn="l" eaLnBrk="1" latinLnBrk="0" hangingPunct="1">
              <a:defRPr kumimoji="0" sz="1200">
                <a:solidFill>
                  <a:schemeClr val="bg1"/>
                </a:solidFill>
                <a:latin typeface="Times New Roman" pitchFamily="18" charset="0"/>
                <a:cs typeface="Times New Roman" pitchFamily="18" charset="0"/>
              </a:defRPr>
            </a:lvl1pPr>
          </a:lstStyle>
          <a:p>
            <a:r>
              <a:rPr lang="en-US" smtClean="0"/>
              <a:t>CSD201 Intro.</a:t>
            </a:r>
            <a:endParaRPr lang="en-US" dirty="0"/>
          </a:p>
        </p:txBody>
      </p:sp>
      <p:sp>
        <p:nvSpPr>
          <p:cNvPr id="18" name="Slide Number Placeholder 17"/>
          <p:cNvSpPr>
            <a:spLocks noGrp="1"/>
          </p:cNvSpPr>
          <p:nvPr>
            <p:ph type="sldNum" sz="quarter" idx="4"/>
          </p:nvPr>
        </p:nvSpPr>
        <p:spPr>
          <a:xfrm>
            <a:off x="8458200" y="6553200"/>
            <a:ext cx="533400" cy="228600"/>
          </a:xfrm>
          <a:prstGeom prst="rect">
            <a:avLst/>
          </a:prstGeom>
        </p:spPr>
        <p:txBody>
          <a:bodyPr vert="horz" lIns="0" tIns="0" rIns="0" bIns="0" anchor="b"/>
          <a:lstStyle>
            <a:lvl1pPr algn="r" eaLnBrk="1" latinLnBrk="0" hangingPunct="1">
              <a:defRPr kumimoji="0" sz="1200">
                <a:solidFill>
                  <a:schemeClr val="bg1"/>
                </a:solidFill>
                <a:latin typeface="Times New Roman" pitchFamily="18" charset="0"/>
                <a:cs typeface="Times New Roman" pitchFamily="18" charset="0"/>
              </a:defRPr>
            </a:lvl1pPr>
          </a:lstStyle>
          <a:p>
            <a:fld id="{042AED99-7FB4-404E-8A97-64753DCE42EC}"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b="1"/>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b="1"/>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r" rtl="0" eaLnBrk="1" latinLnBrk="0" hangingPunct="1">
        <a:spcBef>
          <a:spcPct val="0"/>
        </a:spcBef>
        <a:buNone/>
        <a:defRPr kumimoji="0" sz="3600" b="1" kern="1200">
          <a:ln>
            <a:noFill/>
          </a:ln>
          <a:solidFill>
            <a:schemeClr val="bg1"/>
          </a:solidFill>
          <a:effectLst/>
          <a:latin typeface="Times New Roman" pitchFamily="18" charset="0"/>
          <a:ea typeface="+mj-ea"/>
          <a:cs typeface="Times New Roman" pitchFamily="18" charset="0"/>
        </a:defRPr>
      </a:lvl1pPr>
    </p:titleStyle>
    <p:bodyStyle>
      <a:lvl1pPr marL="274320" indent="-274320" algn="l" rtl="0" eaLnBrk="1" latinLnBrk="0" hangingPunct="1">
        <a:spcBef>
          <a:spcPct val="20000"/>
        </a:spcBef>
        <a:buClr>
          <a:schemeClr val="accent3"/>
        </a:buClr>
        <a:buSzPct val="95000"/>
        <a:buFont typeface="Wingdings 2"/>
        <a:buChar char=""/>
        <a:defRPr kumimoji="0" sz="2400" kern="1200">
          <a:solidFill>
            <a:schemeClr val="bg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bg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400" kern="1200">
          <a:solidFill>
            <a:schemeClr val="bg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400" kern="1200">
          <a:solidFill>
            <a:schemeClr val="bg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400" kern="1200">
          <a:solidFill>
            <a:schemeClr val="bg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ms-hcmuni.fpt.edu.vn/" TargetMode="External"/><Relationship Id="rId2" Type="http://schemas.openxmlformats.org/officeDocument/2006/relationships/hyperlink" Target="http://coltech.vnu.edu.vn/~sonpb/DSA/Data%20Structures%20and%20Algorithms%20in%20Java,%206th%20Edition,%202014.pdf"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solidFill>
                  <a:schemeClr val="tx1"/>
                </a:solidFill>
              </a:rPr>
              <a:t>CSD201</a:t>
            </a:r>
            <a:br>
              <a:rPr lang="en-US" dirty="0" smtClean="0">
                <a:solidFill>
                  <a:schemeClr val="tx1"/>
                </a:solidFill>
              </a:rPr>
            </a:br>
            <a:r>
              <a:rPr lang="en-US" dirty="0" smtClean="0">
                <a:solidFill>
                  <a:schemeClr val="tx1"/>
                </a:solidFill>
              </a:rPr>
              <a:t>Data Structures and Algorithms using Java</a:t>
            </a:r>
            <a:endParaRPr lang="en-US" dirty="0">
              <a:solidFill>
                <a:schemeClr val="tx1"/>
              </a:solidFill>
            </a:endParaRPr>
          </a:p>
        </p:txBody>
      </p:sp>
      <p:sp>
        <p:nvSpPr>
          <p:cNvPr id="3" name="Subtitle 2"/>
          <p:cNvSpPr>
            <a:spLocks noGrp="1"/>
          </p:cNvSpPr>
          <p:nvPr>
            <p:ph type="subTitle" idx="1"/>
          </p:nvPr>
        </p:nvSpPr>
        <p:spPr/>
        <p:txBody>
          <a:bodyPr/>
          <a:lstStyle/>
          <a:p>
            <a:r>
              <a:rPr lang="en-US" dirty="0" smtClean="0">
                <a:solidFill>
                  <a:schemeClr val="accent2">
                    <a:lumMod val="40000"/>
                    <a:lumOff val="60000"/>
                  </a:schemeClr>
                </a:solidFill>
              </a:rPr>
              <a:t>Lecturer: Thân Văn Sử</a:t>
            </a:r>
          </a:p>
          <a:p>
            <a:r>
              <a:rPr lang="en-US" dirty="0" smtClean="0">
                <a:solidFill>
                  <a:schemeClr val="accent2">
                    <a:lumMod val="40000"/>
                    <a:lumOff val="60000"/>
                  </a:schemeClr>
                </a:solidFill>
              </a:rPr>
              <a:t>(sutv@fpt.edu.vn</a:t>
            </a:r>
            <a:r>
              <a:rPr lang="en-US" dirty="0" smtClean="0"/>
              <a:t>)</a:t>
            </a:r>
            <a:endParaRPr lang="en-US"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a:t>
            </a:fld>
            <a:endParaRPr kumimoji="0" lang="en-US" dirty="0"/>
          </a:p>
        </p:txBody>
      </p:sp>
      <p:sp>
        <p:nvSpPr>
          <p:cNvPr id="5" name="Footer Placeholder 4"/>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normAutofit/>
          </a:bodyPr>
          <a:lstStyle/>
          <a:p>
            <a:pPr>
              <a:buNone/>
            </a:pPr>
            <a:r>
              <a:rPr lang="en-US" sz="3200" dirty="0" smtClean="0">
                <a:latin typeface="Times New Roman" pitchFamily="18" charset="0"/>
                <a:cs typeface="Times New Roman" pitchFamily="18" charset="0"/>
              </a:rPr>
              <a:t>1- Course Introduction</a:t>
            </a:r>
          </a:p>
          <a:p>
            <a:pPr>
              <a:buNone/>
            </a:pPr>
            <a:r>
              <a:rPr lang="en-US" sz="3200" dirty="0" smtClean="0">
                <a:latin typeface="Times New Roman" pitchFamily="18" charset="0"/>
                <a:cs typeface="Times New Roman" pitchFamily="18" charset="0"/>
              </a:rPr>
              <a:t>2- Contents and Learning outcomes</a:t>
            </a:r>
          </a:p>
          <a:p>
            <a:pPr>
              <a:buNone/>
            </a:pPr>
            <a:r>
              <a:rPr lang="en-US" sz="3200" dirty="0" smtClean="0">
                <a:latin typeface="Times New Roman" pitchFamily="18" charset="0"/>
                <a:cs typeface="Times New Roman" pitchFamily="18" charset="0"/>
              </a:rPr>
              <a:t>3- Course Requirements</a:t>
            </a:r>
          </a:p>
          <a:p>
            <a:pPr>
              <a:buNone/>
            </a:pPr>
            <a:r>
              <a:rPr lang="en-US" sz="3200" dirty="0" smtClean="0">
                <a:latin typeface="Times New Roman" pitchFamily="18" charset="0"/>
                <a:cs typeface="Times New Roman" pitchFamily="18" charset="0"/>
              </a:rPr>
              <a:t>4- Read yourself: Sharing</a:t>
            </a:r>
          </a:p>
          <a:p>
            <a:pPr>
              <a:buNone/>
            </a:pPr>
            <a:r>
              <a:rPr lang="en-US" sz="3200" dirty="0" smtClean="0">
                <a:latin typeface="Times New Roman" pitchFamily="18" charset="0"/>
                <a:cs typeface="Times New Roman" pitchFamily="18" charset="0"/>
              </a:rPr>
              <a:t>5- Review on algorithm’s complexity</a:t>
            </a:r>
          </a:p>
          <a:p>
            <a:pPr>
              <a:buNone/>
            </a:pPr>
            <a:r>
              <a:rPr lang="en-US" sz="3200" dirty="0" smtClean="0">
                <a:latin typeface="Times New Roman" pitchFamily="18" charset="0"/>
                <a:cs typeface="Times New Roman" pitchFamily="18" charset="0"/>
              </a:rPr>
              <a:t>6- Evaluating complexity of a given algorithm</a:t>
            </a:r>
            <a:endParaRPr lang="en-US" sz="3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a:t>
            </a:fld>
            <a:endParaRPr kumimoji="0" lang="en-US" dirty="0"/>
          </a:p>
        </p:txBody>
      </p:sp>
      <p:sp>
        <p:nvSpPr>
          <p:cNvPr id="5" name="Footer Placeholder 4"/>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Course Introduction</a:t>
            </a:r>
            <a:endParaRPr lang="en-US" dirty="0"/>
          </a:p>
        </p:txBody>
      </p:sp>
      <p:sp>
        <p:nvSpPr>
          <p:cNvPr id="3" name="Content Placeholder 2"/>
          <p:cNvSpPr>
            <a:spLocks noGrp="1"/>
          </p:cNvSpPr>
          <p:nvPr>
            <p:ph idx="1"/>
          </p:nvPr>
        </p:nvSpPr>
        <p:spPr>
          <a:xfrm>
            <a:off x="457200" y="1600200"/>
            <a:ext cx="8229600" cy="1981200"/>
          </a:xfrm>
        </p:spPr>
        <p:txBody>
          <a:bodyPr>
            <a:normAutofit lnSpcReduction="10000"/>
          </a:bodyPr>
          <a:lstStyle/>
          <a:p>
            <a:r>
              <a:rPr lang="en-US" dirty="0" smtClean="0"/>
              <a:t>A program is a sequence of instructions that can be executed by a computer. The term can refer to the original source code or to the executable (machine language) version(MS Computer Dictionary).</a:t>
            </a:r>
          </a:p>
          <a:p>
            <a:r>
              <a:rPr lang="en-US" dirty="0" smtClean="0"/>
              <a:t>The term usually implies a self-contained entity.</a:t>
            </a:r>
            <a:endParaRPr lang="en-US" dirty="0"/>
          </a:p>
        </p:txBody>
      </p:sp>
      <p:sp>
        <p:nvSpPr>
          <p:cNvPr id="4" name="TextBox 3"/>
          <p:cNvSpPr txBox="1"/>
          <p:nvPr/>
        </p:nvSpPr>
        <p:spPr>
          <a:xfrm>
            <a:off x="457200" y="838200"/>
            <a:ext cx="5943600" cy="492443"/>
          </a:xfrm>
          <a:prstGeom prst="rect">
            <a:avLst/>
          </a:prstGeom>
          <a:noFill/>
        </p:spPr>
        <p:txBody>
          <a:bodyPr wrap="square" rtlCol="0">
            <a:spAutoFit/>
          </a:bodyPr>
          <a:lstStyle/>
          <a:p>
            <a:r>
              <a:rPr lang="en-US" sz="2600" b="1" dirty="0" smtClean="0">
                <a:solidFill>
                  <a:srgbClr val="FFC000"/>
                </a:solidFill>
              </a:rPr>
              <a:t>What is a computer program?</a:t>
            </a:r>
            <a:endParaRPr lang="en-US" sz="2600" b="1" dirty="0">
              <a:solidFill>
                <a:srgbClr val="FFC000"/>
              </a:solidFill>
            </a:endParaRPr>
          </a:p>
        </p:txBody>
      </p:sp>
      <p:sp>
        <p:nvSpPr>
          <p:cNvPr id="5" name="Oval 4"/>
          <p:cNvSpPr/>
          <p:nvPr/>
        </p:nvSpPr>
        <p:spPr>
          <a:xfrm>
            <a:off x="3352800" y="3733800"/>
            <a:ext cx="2971800" cy="2667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3962400" y="4114800"/>
            <a:ext cx="1752600" cy="369332"/>
          </a:xfrm>
          <a:prstGeom prst="rect">
            <a:avLst/>
          </a:prstGeom>
          <a:solidFill>
            <a:schemeClr val="accent5">
              <a:lumMod val="50000"/>
            </a:schemeClr>
          </a:solidFill>
          <a:ln>
            <a:solidFill>
              <a:schemeClr val="bg1"/>
            </a:solidFill>
          </a:ln>
        </p:spPr>
        <p:txBody>
          <a:bodyPr wrap="square" rtlCol="0">
            <a:spAutoFit/>
          </a:bodyPr>
          <a:lstStyle/>
          <a:p>
            <a:r>
              <a:rPr lang="en-US" b="1" dirty="0" smtClean="0">
                <a:solidFill>
                  <a:schemeClr val="bg1"/>
                </a:solidFill>
              </a:rPr>
              <a:t>Data</a:t>
            </a:r>
            <a:endParaRPr lang="en-US" b="1" dirty="0">
              <a:solidFill>
                <a:schemeClr val="bg1"/>
              </a:solidFill>
            </a:endParaRPr>
          </a:p>
        </p:txBody>
      </p:sp>
      <p:sp>
        <p:nvSpPr>
          <p:cNvPr id="7" name="TextBox 6"/>
          <p:cNvSpPr txBox="1"/>
          <p:nvPr/>
        </p:nvSpPr>
        <p:spPr>
          <a:xfrm>
            <a:off x="3962400" y="4583668"/>
            <a:ext cx="1752600" cy="1477328"/>
          </a:xfrm>
          <a:prstGeom prst="rect">
            <a:avLst/>
          </a:prstGeom>
          <a:solidFill>
            <a:srgbClr val="FF0000"/>
          </a:solidFill>
          <a:ln>
            <a:solidFill>
              <a:schemeClr val="bg1"/>
            </a:solidFill>
          </a:ln>
        </p:spPr>
        <p:txBody>
          <a:bodyPr wrap="square" rtlCol="0">
            <a:spAutoFit/>
          </a:bodyPr>
          <a:lstStyle/>
          <a:p>
            <a:r>
              <a:rPr lang="en-US" b="1" dirty="0" smtClean="0">
                <a:solidFill>
                  <a:schemeClr val="bg1"/>
                </a:solidFill>
              </a:rPr>
              <a:t>Instructions</a:t>
            </a:r>
          </a:p>
          <a:p>
            <a:r>
              <a:rPr lang="en-US" b="1" dirty="0" smtClean="0">
                <a:solidFill>
                  <a:schemeClr val="bg1"/>
                </a:solidFill>
              </a:rPr>
              <a:t>-</a:t>
            </a:r>
          </a:p>
          <a:p>
            <a:r>
              <a:rPr lang="en-US" b="1" dirty="0" smtClean="0">
                <a:solidFill>
                  <a:schemeClr val="bg1"/>
                </a:solidFill>
              </a:rPr>
              <a:t>-</a:t>
            </a:r>
          </a:p>
          <a:p>
            <a:r>
              <a:rPr lang="en-US" b="1" dirty="0" smtClean="0">
                <a:solidFill>
                  <a:schemeClr val="bg1"/>
                </a:solidFill>
              </a:rPr>
              <a:t>-</a:t>
            </a:r>
          </a:p>
          <a:p>
            <a:r>
              <a:rPr lang="en-US" b="1" dirty="0" smtClean="0">
                <a:solidFill>
                  <a:schemeClr val="bg1"/>
                </a:solidFill>
              </a:rPr>
              <a:t>-</a:t>
            </a:r>
            <a:endParaRPr lang="en-US" b="1" dirty="0">
              <a:solidFill>
                <a:schemeClr val="bg1"/>
              </a:solidFill>
            </a:endParaRPr>
          </a:p>
        </p:txBody>
      </p:sp>
      <p:sp>
        <p:nvSpPr>
          <p:cNvPr id="8" name="TextBox 7"/>
          <p:cNvSpPr txBox="1"/>
          <p:nvPr/>
        </p:nvSpPr>
        <p:spPr>
          <a:xfrm>
            <a:off x="1143000" y="4736068"/>
            <a:ext cx="1828800" cy="369332"/>
          </a:xfrm>
          <a:prstGeom prst="rect">
            <a:avLst/>
          </a:prstGeom>
          <a:noFill/>
          <a:ln>
            <a:solidFill>
              <a:schemeClr val="bg1"/>
            </a:solidFill>
          </a:ln>
        </p:spPr>
        <p:txBody>
          <a:bodyPr wrap="square" rtlCol="0">
            <a:spAutoFit/>
          </a:bodyPr>
          <a:lstStyle/>
          <a:p>
            <a:pPr algn="ctr"/>
            <a:r>
              <a:rPr lang="en-US" dirty="0" smtClean="0">
                <a:solidFill>
                  <a:schemeClr val="bg1"/>
                </a:solidFill>
              </a:rPr>
              <a:t>Input device</a:t>
            </a:r>
            <a:endParaRPr lang="en-US" dirty="0">
              <a:solidFill>
                <a:schemeClr val="bg1"/>
              </a:solidFill>
            </a:endParaRPr>
          </a:p>
        </p:txBody>
      </p:sp>
      <p:sp>
        <p:nvSpPr>
          <p:cNvPr id="9" name="TextBox 8"/>
          <p:cNvSpPr txBox="1"/>
          <p:nvPr/>
        </p:nvSpPr>
        <p:spPr>
          <a:xfrm>
            <a:off x="6705600" y="4736068"/>
            <a:ext cx="1828800" cy="369332"/>
          </a:xfrm>
          <a:prstGeom prst="rect">
            <a:avLst/>
          </a:prstGeom>
          <a:noFill/>
          <a:ln>
            <a:solidFill>
              <a:schemeClr val="bg1"/>
            </a:solidFill>
          </a:ln>
        </p:spPr>
        <p:txBody>
          <a:bodyPr wrap="square" rtlCol="0">
            <a:spAutoFit/>
          </a:bodyPr>
          <a:lstStyle/>
          <a:p>
            <a:pPr algn="ctr"/>
            <a:r>
              <a:rPr lang="en-US" dirty="0" smtClean="0">
                <a:solidFill>
                  <a:schemeClr val="bg1"/>
                </a:solidFill>
              </a:rPr>
              <a:t>Output device</a:t>
            </a:r>
            <a:endParaRPr lang="en-US" dirty="0">
              <a:solidFill>
                <a:schemeClr val="bg1"/>
              </a:solidFill>
            </a:endParaRPr>
          </a:p>
        </p:txBody>
      </p:sp>
      <p:cxnSp>
        <p:nvCxnSpPr>
          <p:cNvPr id="11" name="Straight Arrow Connector 10"/>
          <p:cNvCxnSpPr>
            <a:stCxn id="8" idx="3"/>
            <a:endCxn id="6" idx="1"/>
          </p:cNvCxnSpPr>
          <p:nvPr/>
        </p:nvCxnSpPr>
        <p:spPr>
          <a:xfrm flipV="1">
            <a:off x="2971800" y="4299466"/>
            <a:ext cx="990600" cy="621268"/>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3"/>
            <a:endCxn id="9" idx="1"/>
          </p:cNvCxnSpPr>
          <p:nvPr/>
        </p:nvCxnSpPr>
        <p:spPr>
          <a:xfrm>
            <a:off x="5715000" y="4299466"/>
            <a:ext cx="990600" cy="621268"/>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5" name="Slide Number Placeholder 14"/>
          <p:cNvSpPr>
            <a:spLocks noGrp="1"/>
          </p:cNvSpPr>
          <p:nvPr>
            <p:ph type="sldNum" sz="quarter" idx="12"/>
          </p:nvPr>
        </p:nvSpPr>
        <p:spPr/>
        <p:txBody>
          <a:bodyPr/>
          <a:lstStyle/>
          <a:p>
            <a:fld id="{042AED99-7FB4-404E-8A97-64753DCE42EC}" type="slidenum">
              <a:rPr kumimoji="0" lang="en-US" smtClean="0"/>
              <a:pPr/>
              <a:t>3</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Content Placeholder 2"/>
          <p:cNvSpPr>
            <a:spLocks noGrp="1"/>
          </p:cNvSpPr>
          <p:nvPr>
            <p:ph idx="1"/>
          </p:nvPr>
        </p:nvSpPr>
        <p:spPr>
          <a:xfrm>
            <a:off x="457200" y="1600200"/>
            <a:ext cx="8229600" cy="1981200"/>
          </a:xfrm>
        </p:spPr>
        <p:txBody>
          <a:bodyPr>
            <a:normAutofit/>
          </a:bodyPr>
          <a:lstStyle/>
          <a:p>
            <a:r>
              <a:rPr lang="en-US" dirty="0" smtClean="0"/>
              <a:t>Small-scale programs: Input data size is small.</a:t>
            </a:r>
          </a:p>
          <a:p>
            <a:r>
              <a:rPr lang="en-US" dirty="0" smtClean="0"/>
              <a:t>Large-scale programs: Input data size is small.</a:t>
            </a:r>
          </a:p>
          <a:p>
            <a:pPr lvl="1"/>
            <a:r>
              <a:rPr lang="en-US" dirty="0" smtClean="0"/>
              <a:t>In a large-scale program, if data are well organized, program performance is improved. </a:t>
            </a:r>
            <a:endParaRPr lang="en-US" dirty="0"/>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Classifying computer programs based on input</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4</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grpSp>
        <p:nvGrpSpPr>
          <p:cNvPr id="17" name="Group 16"/>
          <p:cNvGrpSpPr/>
          <p:nvPr/>
        </p:nvGrpSpPr>
        <p:grpSpPr>
          <a:xfrm>
            <a:off x="838200" y="3657600"/>
            <a:ext cx="7391400" cy="2667000"/>
            <a:chOff x="1143000" y="3810000"/>
            <a:chExt cx="7391400" cy="2667000"/>
          </a:xfrm>
        </p:grpSpPr>
        <p:sp>
          <p:nvSpPr>
            <p:cNvPr id="5" name="Oval 4"/>
            <p:cNvSpPr/>
            <p:nvPr/>
          </p:nvSpPr>
          <p:spPr>
            <a:xfrm>
              <a:off x="3352800" y="3810000"/>
              <a:ext cx="2971800" cy="2667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3962400" y="4583668"/>
              <a:ext cx="1752600" cy="369332"/>
            </a:xfrm>
            <a:prstGeom prst="rect">
              <a:avLst/>
            </a:prstGeom>
            <a:solidFill>
              <a:srgbClr val="008000"/>
            </a:solidFill>
            <a:ln>
              <a:solidFill>
                <a:schemeClr val="bg1"/>
              </a:solidFill>
            </a:ln>
          </p:spPr>
          <p:txBody>
            <a:bodyPr wrap="square" rtlCol="0">
              <a:spAutoFit/>
            </a:bodyPr>
            <a:lstStyle/>
            <a:p>
              <a:r>
                <a:rPr lang="en-US" b="1" dirty="0" smtClean="0">
                  <a:solidFill>
                    <a:schemeClr val="bg1"/>
                  </a:solidFill>
                </a:rPr>
                <a:t>Data</a:t>
              </a:r>
              <a:endParaRPr lang="en-US" b="1" dirty="0">
                <a:solidFill>
                  <a:schemeClr val="bg1"/>
                </a:solidFill>
              </a:endParaRPr>
            </a:p>
          </p:txBody>
        </p:sp>
        <p:sp>
          <p:nvSpPr>
            <p:cNvPr id="7" name="TextBox 6"/>
            <p:cNvSpPr txBox="1"/>
            <p:nvPr/>
          </p:nvSpPr>
          <p:spPr>
            <a:xfrm>
              <a:off x="3962400" y="5096470"/>
              <a:ext cx="1752600" cy="923330"/>
            </a:xfrm>
            <a:prstGeom prst="rect">
              <a:avLst/>
            </a:prstGeom>
            <a:solidFill>
              <a:srgbClr val="FF0000"/>
            </a:solidFill>
            <a:ln>
              <a:solidFill>
                <a:schemeClr val="bg1"/>
              </a:solidFill>
            </a:ln>
          </p:spPr>
          <p:txBody>
            <a:bodyPr wrap="square" rtlCol="0">
              <a:spAutoFit/>
            </a:bodyPr>
            <a:lstStyle/>
            <a:p>
              <a:r>
                <a:rPr lang="en-US" b="1" dirty="0" smtClean="0">
                  <a:solidFill>
                    <a:schemeClr val="bg1"/>
                  </a:solidFill>
                </a:rPr>
                <a:t>Instructions</a:t>
              </a:r>
            </a:p>
            <a:p>
              <a:r>
                <a:rPr lang="en-US" b="1" dirty="0" smtClean="0">
                  <a:solidFill>
                    <a:schemeClr val="bg1"/>
                  </a:solidFill>
                </a:rPr>
                <a:t>-</a:t>
              </a:r>
            </a:p>
            <a:p>
              <a:r>
                <a:rPr lang="en-US" b="1" dirty="0" smtClean="0">
                  <a:solidFill>
                    <a:schemeClr val="bg1"/>
                  </a:solidFill>
                </a:rPr>
                <a:t>-</a:t>
              </a:r>
            </a:p>
          </p:txBody>
        </p:sp>
        <p:sp>
          <p:nvSpPr>
            <p:cNvPr id="8" name="TextBox 7"/>
            <p:cNvSpPr txBox="1"/>
            <p:nvPr/>
          </p:nvSpPr>
          <p:spPr>
            <a:xfrm>
              <a:off x="1143000" y="4736068"/>
              <a:ext cx="1828800" cy="369332"/>
            </a:xfrm>
            <a:prstGeom prst="rect">
              <a:avLst/>
            </a:prstGeom>
            <a:noFill/>
            <a:ln>
              <a:solidFill>
                <a:schemeClr val="bg1"/>
              </a:solidFill>
            </a:ln>
          </p:spPr>
          <p:txBody>
            <a:bodyPr wrap="square" rtlCol="0">
              <a:spAutoFit/>
            </a:bodyPr>
            <a:lstStyle/>
            <a:p>
              <a:pPr algn="ctr"/>
              <a:r>
                <a:rPr lang="en-US" dirty="0" smtClean="0">
                  <a:solidFill>
                    <a:schemeClr val="bg1"/>
                  </a:solidFill>
                </a:rPr>
                <a:t>Input device</a:t>
              </a:r>
              <a:endParaRPr lang="en-US" dirty="0">
                <a:solidFill>
                  <a:schemeClr val="bg1"/>
                </a:solidFill>
              </a:endParaRPr>
            </a:p>
          </p:txBody>
        </p:sp>
        <p:sp>
          <p:nvSpPr>
            <p:cNvPr id="9" name="TextBox 8"/>
            <p:cNvSpPr txBox="1"/>
            <p:nvPr/>
          </p:nvSpPr>
          <p:spPr>
            <a:xfrm>
              <a:off x="6705600" y="4736068"/>
              <a:ext cx="1828800" cy="369332"/>
            </a:xfrm>
            <a:prstGeom prst="rect">
              <a:avLst/>
            </a:prstGeom>
            <a:noFill/>
            <a:ln>
              <a:solidFill>
                <a:schemeClr val="bg1"/>
              </a:solidFill>
            </a:ln>
          </p:spPr>
          <p:txBody>
            <a:bodyPr wrap="square" rtlCol="0">
              <a:spAutoFit/>
            </a:bodyPr>
            <a:lstStyle/>
            <a:p>
              <a:pPr algn="ctr"/>
              <a:r>
                <a:rPr lang="en-US" dirty="0" smtClean="0">
                  <a:solidFill>
                    <a:schemeClr val="bg1"/>
                  </a:solidFill>
                </a:rPr>
                <a:t>Output device</a:t>
              </a:r>
              <a:endParaRPr lang="en-US" dirty="0">
                <a:solidFill>
                  <a:schemeClr val="bg1"/>
                </a:solidFill>
              </a:endParaRPr>
            </a:p>
          </p:txBody>
        </p:sp>
        <p:cxnSp>
          <p:nvCxnSpPr>
            <p:cNvPr id="11" name="Straight Arrow Connector 10"/>
            <p:cNvCxnSpPr>
              <a:stCxn id="8" idx="3"/>
              <a:endCxn id="6" idx="1"/>
            </p:cNvCxnSpPr>
            <p:nvPr/>
          </p:nvCxnSpPr>
          <p:spPr>
            <a:xfrm flipV="1">
              <a:off x="2971800" y="4768334"/>
              <a:ext cx="990600" cy="1524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3"/>
              <a:endCxn id="9" idx="1"/>
            </p:cNvCxnSpPr>
            <p:nvPr/>
          </p:nvCxnSpPr>
          <p:spPr>
            <a:xfrm>
              <a:off x="5715000" y="4768334"/>
              <a:ext cx="990600" cy="1524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962400" y="4114800"/>
              <a:ext cx="1752600" cy="369332"/>
            </a:xfrm>
            <a:prstGeom prst="rect">
              <a:avLst/>
            </a:prstGeom>
            <a:noFill/>
            <a:ln>
              <a:noFill/>
            </a:ln>
          </p:spPr>
          <p:txBody>
            <a:bodyPr wrap="square" rtlCol="0">
              <a:spAutoFit/>
            </a:bodyPr>
            <a:lstStyle/>
            <a:p>
              <a:r>
                <a:rPr lang="en-US" b="1" dirty="0" smtClean="0">
                  <a:solidFill>
                    <a:srgbClr val="FFFF00"/>
                  </a:solidFill>
                </a:rPr>
                <a:t>Program</a:t>
              </a:r>
              <a:endParaRPr lang="en-US" b="1" dirty="0">
                <a:solidFill>
                  <a:srgbClr val="FFFF00"/>
                </a:solidFill>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Content Placeholder 2"/>
          <p:cNvSpPr>
            <a:spLocks noGrp="1"/>
          </p:cNvSpPr>
          <p:nvPr>
            <p:ph idx="1"/>
          </p:nvPr>
        </p:nvSpPr>
        <p:spPr>
          <a:xfrm>
            <a:off x="457200" y="1905000"/>
            <a:ext cx="8229600" cy="990600"/>
          </a:xfrm>
        </p:spPr>
        <p:txBody>
          <a:bodyPr>
            <a:normAutofit/>
          </a:bodyPr>
          <a:lstStyle/>
          <a:p>
            <a:r>
              <a:rPr lang="en-US" dirty="0" smtClean="0"/>
              <a:t>We need to catch knowledge in this subject, Data structures and Algorithms.</a:t>
            </a:r>
          </a:p>
        </p:txBody>
      </p:sp>
      <p:sp>
        <p:nvSpPr>
          <p:cNvPr id="4" name="TextBox 3"/>
          <p:cNvSpPr txBox="1"/>
          <p:nvPr/>
        </p:nvSpPr>
        <p:spPr>
          <a:xfrm>
            <a:off x="457200" y="838200"/>
            <a:ext cx="7696200" cy="892552"/>
          </a:xfrm>
          <a:prstGeom prst="rect">
            <a:avLst/>
          </a:prstGeom>
          <a:noFill/>
        </p:spPr>
        <p:txBody>
          <a:bodyPr wrap="square" rtlCol="0">
            <a:spAutoFit/>
          </a:bodyPr>
          <a:lstStyle/>
          <a:p>
            <a:r>
              <a:rPr lang="en-US" sz="2600" b="1" dirty="0" smtClean="0">
                <a:solidFill>
                  <a:srgbClr val="FFC000"/>
                </a:solidFill>
              </a:rPr>
              <a:t>How can we choose a proper way to store program data?</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5</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
        <p:nvSpPr>
          <p:cNvPr id="14" name="Content Placeholder 2"/>
          <p:cNvSpPr txBox="1">
            <a:spLocks/>
          </p:cNvSpPr>
          <p:nvPr/>
        </p:nvSpPr>
        <p:spPr>
          <a:xfrm>
            <a:off x="443552" y="4038600"/>
            <a:ext cx="8229600" cy="2133600"/>
          </a:xfrm>
          <a:prstGeom prst="rect">
            <a:avLst/>
          </a:prstGeom>
        </p:spPr>
        <p:txBody>
          <a:bodyPr vert="horz">
            <a:normAutofit fontScale="92500" lnSpcReduction="10000"/>
          </a:bodyPr>
          <a:lstStyle/>
          <a:p>
            <a:pPr marL="274320" lvl="0" indent="-274320">
              <a:spcBef>
                <a:spcPct val="20000"/>
              </a:spcBef>
              <a:buClr>
                <a:schemeClr val="accent3"/>
              </a:buClr>
              <a:buSzPct val="95000"/>
              <a:buFont typeface="Wingdings 2"/>
              <a:buChar char=""/>
            </a:pPr>
            <a:r>
              <a:rPr lang="en-US" sz="2400" dirty="0" smtClean="0">
                <a:solidFill>
                  <a:schemeClr val="bg1"/>
                </a:solidFill>
              </a:rPr>
              <a:t>A data structure is a organizational scheme, such as a record or array, that can be applied to data to facilitate interpreting the data or performing operations on it (MS Computer Dictionary).</a:t>
            </a:r>
          </a:p>
          <a:p>
            <a:pPr marL="731520" lvl="1" indent="-274320">
              <a:spcBef>
                <a:spcPct val="20000"/>
              </a:spcBef>
              <a:buClr>
                <a:schemeClr val="accent3"/>
              </a:buClr>
              <a:buSzPct val="95000"/>
              <a:buFont typeface="Wingdings 2"/>
              <a:buChar char=""/>
            </a:pPr>
            <a:r>
              <a:rPr kumimoji="0" lang="en-US" sz="2400" b="0" i="0" u="none" strike="noStrike" kern="1200" cap="none" spc="0" normalizeH="0" baseline="0" noProof="0" dirty="0" smtClean="0">
                <a:ln>
                  <a:noFill/>
                </a:ln>
                <a:solidFill>
                  <a:schemeClr val="bg1"/>
                </a:solidFill>
                <a:effectLst/>
                <a:uLnTx/>
                <a:uFillTx/>
                <a:latin typeface="+mn-lt"/>
                <a:ea typeface="+mn-ea"/>
                <a:cs typeface="+mn-cs"/>
              </a:rPr>
              <a:t>A data structure defines a way to store  and access data .</a:t>
            </a:r>
          </a:p>
          <a:p>
            <a:pPr marL="731520" lvl="1" indent="-274320">
              <a:spcBef>
                <a:spcPct val="20000"/>
              </a:spcBef>
              <a:buClr>
                <a:schemeClr val="accent3"/>
              </a:buClr>
              <a:buSzPct val="95000"/>
              <a:buFont typeface="Wingdings 2"/>
              <a:buChar char=""/>
            </a:pPr>
            <a:r>
              <a:rPr kumimoji="0" lang="en-US" sz="2400" b="0" i="0" u="none" strike="noStrike" kern="1200" cap="none" spc="0" normalizeH="0" baseline="0" noProof="0" dirty="0" smtClean="0">
                <a:ln>
                  <a:noFill/>
                </a:ln>
                <a:solidFill>
                  <a:schemeClr val="bg1"/>
                </a:solidFill>
                <a:effectLst/>
                <a:uLnTx/>
                <a:uFillTx/>
                <a:latin typeface="+mn-lt"/>
                <a:ea typeface="+mn-ea"/>
                <a:cs typeface="+mn-cs"/>
              </a:rPr>
              <a:t> Based on a specific data structure, appropriate</a:t>
            </a:r>
            <a:r>
              <a:rPr kumimoji="0" lang="en-US" sz="2400" b="0" i="0" u="none" strike="noStrike" kern="1200" cap="none" spc="0" normalizeH="0" noProof="0" dirty="0" smtClean="0">
                <a:ln>
                  <a:noFill/>
                </a:ln>
                <a:solidFill>
                  <a:schemeClr val="bg1"/>
                </a:solidFill>
                <a:effectLst/>
                <a:uLnTx/>
                <a:uFillTx/>
                <a:latin typeface="+mn-lt"/>
                <a:ea typeface="+mn-ea"/>
                <a:cs typeface="+mn-cs"/>
              </a:rPr>
              <a:t> algorithms can be performed.</a:t>
            </a:r>
            <a:r>
              <a:rPr kumimoji="0" lang="en-US" sz="2400" b="0" i="0" u="none" strike="noStrike" kern="1200" cap="none" spc="0" normalizeH="0" baseline="0" noProof="0" dirty="0" smtClean="0">
                <a:ln>
                  <a:noFill/>
                </a:ln>
                <a:solidFill>
                  <a:schemeClr val="bg1"/>
                </a:solidFill>
                <a:effectLst/>
                <a:uLnTx/>
                <a:uFillTx/>
                <a:latin typeface="+mn-lt"/>
                <a:ea typeface="+mn-ea"/>
                <a:cs typeface="+mn-cs"/>
              </a:rPr>
              <a:t> </a:t>
            </a:r>
          </a:p>
        </p:txBody>
      </p:sp>
      <p:sp>
        <p:nvSpPr>
          <p:cNvPr id="17" name="TextBox 16"/>
          <p:cNvSpPr txBox="1"/>
          <p:nvPr/>
        </p:nvSpPr>
        <p:spPr>
          <a:xfrm>
            <a:off x="457200" y="3317557"/>
            <a:ext cx="7696200" cy="492443"/>
          </a:xfrm>
          <a:prstGeom prst="rect">
            <a:avLst/>
          </a:prstGeom>
          <a:noFill/>
        </p:spPr>
        <p:txBody>
          <a:bodyPr wrap="square" rtlCol="0">
            <a:spAutoFit/>
          </a:bodyPr>
          <a:lstStyle/>
          <a:p>
            <a:r>
              <a:rPr lang="en-US" sz="2600" b="1" dirty="0" smtClean="0">
                <a:solidFill>
                  <a:srgbClr val="FFC000"/>
                </a:solidFill>
              </a:rPr>
              <a:t>What are data structures?</a:t>
            </a:r>
            <a:endParaRPr lang="en-US" sz="2600" b="1" dirty="0">
              <a:solidFill>
                <a:srgbClr val="FFC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Content Placeholder 2"/>
          <p:cNvSpPr>
            <a:spLocks noGrp="1"/>
          </p:cNvSpPr>
          <p:nvPr>
            <p:ph idx="1"/>
          </p:nvPr>
        </p:nvSpPr>
        <p:spPr>
          <a:xfrm>
            <a:off x="457200" y="1905000"/>
            <a:ext cx="8229600" cy="3886200"/>
          </a:xfrm>
        </p:spPr>
        <p:txBody>
          <a:bodyPr>
            <a:normAutofit/>
          </a:bodyPr>
          <a:lstStyle/>
          <a:p>
            <a:pPr>
              <a:lnSpc>
                <a:spcPct val="90000"/>
              </a:lnSpc>
              <a:buNone/>
            </a:pPr>
            <a:r>
              <a:rPr lang="en-US" b="1" u="sng" dirty="0" smtClean="0">
                <a:latin typeface="Times New Roman" pitchFamily="18" charset="0"/>
                <a:cs typeface="Times New Roman" pitchFamily="18" charset="0"/>
              </a:rPr>
              <a:t>Theory:</a:t>
            </a:r>
          </a:p>
          <a:p>
            <a:pPr>
              <a:lnSpc>
                <a:spcPct val="90000"/>
              </a:lnSpc>
            </a:pPr>
            <a:r>
              <a:rPr lang="en-US" dirty="0" smtClean="0">
                <a:latin typeface="Times New Roman" pitchFamily="18" charset="0"/>
                <a:cs typeface="Times New Roman" pitchFamily="18" charset="0"/>
              </a:rPr>
              <a:t>This course introduces the fundamental concepts of data structures and the algorithms that proceed from them. Topics include the basics of algorithmic analysis, fundamental data structures (including linked lists, stacks, queues, trees, graphs, hash tables). In this course, recursive algorithm, sorting and data compressing are introduced also.</a:t>
            </a:r>
          </a:p>
          <a:p>
            <a:pPr>
              <a:lnSpc>
                <a:spcPct val="90000"/>
              </a:lnSpc>
              <a:buNone/>
            </a:pPr>
            <a:r>
              <a:rPr lang="en-US" b="1" u="sng" dirty="0" smtClean="0">
                <a:latin typeface="Times New Roman" pitchFamily="18" charset="0"/>
                <a:cs typeface="Times New Roman" pitchFamily="18" charset="0"/>
              </a:rPr>
              <a:t>Practice:</a:t>
            </a:r>
            <a:r>
              <a:rPr lang="en-US" dirty="0" smtClean="0">
                <a:latin typeface="Times New Roman" pitchFamily="18" charset="0"/>
                <a:cs typeface="Times New Roman" pitchFamily="18" charset="0"/>
              </a:rPr>
              <a:t> </a:t>
            </a:r>
          </a:p>
          <a:p>
            <a:pPr>
              <a:lnSpc>
                <a:spcPct val="90000"/>
              </a:lnSpc>
            </a:pPr>
            <a:r>
              <a:rPr lang="en-US" dirty="0" smtClean="0">
                <a:latin typeface="Times New Roman" pitchFamily="18" charset="0"/>
                <a:cs typeface="Times New Roman" pitchFamily="18" charset="0"/>
              </a:rPr>
              <a:t>You will be helped to implement some basic structures and to use pre-defined data structure classes in Java libraries.</a:t>
            </a:r>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What are introduced in this course?</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6</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Content Placeholder 2"/>
          <p:cNvSpPr>
            <a:spLocks noGrp="1"/>
          </p:cNvSpPr>
          <p:nvPr>
            <p:ph idx="1"/>
          </p:nvPr>
        </p:nvSpPr>
        <p:spPr>
          <a:xfrm>
            <a:off x="457200" y="1905000"/>
            <a:ext cx="8229600" cy="3886200"/>
          </a:xfrm>
        </p:spPr>
        <p:txBody>
          <a:bodyPr>
            <a:normAutofit fontScale="85000" lnSpcReduction="10000"/>
          </a:bodyPr>
          <a:lstStyle/>
          <a:p>
            <a:pPr>
              <a:lnSpc>
                <a:spcPct val="80000"/>
              </a:lnSpc>
            </a:pPr>
            <a:r>
              <a:rPr lang="en-US" dirty="0" smtClean="0">
                <a:latin typeface="Times New Roman" pitchFamily="18" charset="0"/>
                <a:cs typeface="Times New Roman" pitchFamily="18" charset="0"/>
              </a:rPr>
              <a:t>Main books/resources:</a:t>
            </a:r>
          </a:p>
          <a:p>
            <a:pPr lvl="1">
              <a:lnSpc>
                <a:spcPct val="80000"/>
              </a:lnSpc>
            </a:pPr>
            <a:r>
              <a:rPr lang="en-US" dirty="0" smtClean="0">
                <a:latin typeface="Times New Roman" pitchFamily="18" charset="0"/>
                <a:cs typeface="Times New Roman" pitchFamily="18" charset="0"/>
              </a:rPr>
              <a:t>1) Michael T. Goodrich, Roberto Tamassia, Michael H. Goldwasser: Data Structures and Algorithms in Java, 6th Edition, 2014 (eBook)</a:t>
            </a:r>
          </a:p>
          <a:p>
            <a:pPr lvl="1">
              <a:lnSpc>
                <a:spcPct val="80000"/>
              </a:lnSpc>
            </a:pPr>
            <a:r>
              <a:rPr lang="en-US" dirty="0" smtClean="0">
                <a:latin typeface="Times New Roman" pitchFamily="18" charset="0"/>
                <a:cs typeface="Times New Roman" pitchFamily="18" charset="0"/>
              </a:rPr>
              <a:t>2) Link to the book: </a:t>
            </a:r>
            <a:r>
              <a:rPr lang="en-US" dirty="0" smtClean="0">
                <a:latin typeface="Times New Roman" pitchFamily="18" charset="0"/>
                <a:cs typeface="Times New Roman" pitchFamily="18" charset="0"/>
                <a:hlinkClick r:id="rId2"/>
              </a:rPr>
              <a:t>http://coltech.vnu.edu.vn/~sonpb/DSA/Data%20Structures%20and%20Algorithms%20in%20Java,%206th%20Edition,%202014.pdf</a:t>
            </a:r>
            <a:endParaRPr lang="en-US" dirty="0" smtClean="0">
              <a:latin typeface="Times New Roman" pitchFamily="18" charset="0"/>
              <a:cs typeface="Times New Roman" pitchFamily="18" charset="0"/>
            </a:endParaRPr>
          </a:p>
          <a:p>
            <a:pPr lvl="1">
              <a:lnSpc>
                <a:spcPct val="80000"/>
              </a:lnSpc>
              <a:buNone/>
            </a:pPr>
            <a:endParaRPr lang="en-US" dirty="0" smtClean="0">
              <a:latin typeface="Times New Roman" pitchFamily="18" charset="0"/>
              <a:cs typeface="Times New Roman" pitchFamily="18" charset="0"/>
            </a:endParaRPr>
          </a:p>
          <a:p>
            <a:pPr>
              <a:lnSpc>
                <a:spcPct val="80000"/>
              </a:lnSpc>
            </a:pPr>
            <a:r>
              <a:rPr lang="en-US" dirty="0" smtClean="0">
                <a:latin typeface="Times New Roman" pitchFamily="18" charset="0"/>
                <a:cs typeface="Times New Roman" pitchFamily="18" charset="0"/>
              </a:rPr>
              <a:t>FU CMS at </a:t>
            </a:r>
            <a:r>
              <a:rPr lang="en-US" dirty="0" smtClean="0">
                <a:latin typeface="Times New Roman" pitchFamily="18" charset="0"/>
                <a:cs typeface="Times New Roman" pitchFamily="18" charset="0"/>
                <a:hlinkClick r:id="rId3"/>
              </a:rPr>
              <a:t>https://lms-hcmuni.fpt.edu.vn/</a:t>
            </a:r>
            <a:endParaRPr lang="en-US" dirty="0" smtClean="0">
              <a:latin typeface="Times New Roman" pitchFamily="18" charset="0"/>
              <a:cs typeface="Times New Roman" pitchFamily="18" charset="0"/>
            </a:endParaRPr>
          </a:p>
          <a:p>
            <a:pPr lvl="1">
              <a:lnSpc>
                <a:spcPct val="80000"/>
              </a:lnSpc>
            </a:pPr>
            <a:r>
              <a:rPr lang="en-US" dirty="0" smtClean="0">
                <a:latin typeface="Times New Roman" pitchFamily="18" charset="0"/>
                <a:cs typeface="Times New Roman" pitchFamily="18" charset="0"/>
              </a:rPr>
              <a:t>Page: CSD201-SuTV</a:t>
            </a:r>
          </a:p>
          <a:p>
            <a:pPr lvl="2">
              <a:lnSpc>
                <a:spcPct val="80000"/>
              </a:lnSpc>
            </a:pPr>
            <a:r>
              <a:rPr lang="en-US" dirty="0" smtClean="0">
                <a:latin typeface="Times New Roman" pitchFamily="18" charset="0"/>
                <a:cs typeface="Times New Roman" pitchFamily="18" charset="0"/>
              </a:rPr>
              <a:t>Downloading slides, e-book, exercises.</a:t>
            </a:r>
          </a:p>
          <a:p>
            <a:pPr lvl="2">
              <a:lnSpc>
                <a:spcPct val="80000"/>
              </a:lnSpc>
            </a:pPr>
            <a:r>
              <a:rPr lang="en-US" dirty="0" smtClean="0">
                <a:latin typeface="Times New Roman" pitchFamily="18" charset="0"/>
                <a:cs typeface="Times New Roman" pitchFamily="18" charset="0"/>
              </a:rPr>
              <a:t>Taking quizzes and assignments</a:t>
            </a:r>
          </a:p>
          <a:p>
            <a:pPr lvl="2">
              <a:lnSpc>
                <a:spcPct val="80000"/>
              </a:lnSpc>
              <a:buNone/>
            </a:pPr>
            <a:endParaRPr lang="en-US" dirty="0" smtClean="0">
              <a:latin typeface="Times New Roman" pitchFamily="18" charset="0"/>
              <a:cs typeface="Times New Roman" pitchFamily="18" charset="0"/>
            </a:endParaRPr>
          </a:p>
          <a:p>
            <a:pPr>
              <a:lnSpc>
                <a:spcPct val="80000"/>
              </a:lnSpc>
            </a:pPr>
            <a:r>
              <a:rPr lang="en-US" b="1" dirty="0" smtClean="0">
                <a:latin typeface="Times New Roman" pitchFamily="18" charset="0"/>
                <a:cs typeface="Times New Roman" pitchFamily="18" charset="0"/>
              </a:rPr>
              <a:t>Software Tools</a:t>
            </a:r>
            <a:r>
              <a:rPr lang="en-US" dirty="0" smtClean="0">
                <a:latin typeface="Times New Roman" pitchFamily="18" charset="0"/>
                <a:cs typeface="Times New Roman" pitchFamily="18" charset="0"/>
              </a:rPr>
              <a:t>: Java programming tools using the JDK from 1.7 version </a:t>
            </a:r>
          </a:p>
          <a:p>
            <a:pPr lvl="2">
              <a:lnSpc>
                <a:spcPct val="80000"/>
              </a:lnSpc>
            </a:pPr>
            <a:endParaRPr lang="en-US" dirty="0" smtClean="0">
              <a:latin typeface="Times New Roman" pitchFamily="18" charset="0"/>
              <a:cs typeface="Times New Roman" pitchFamily="18" charset="0"/>
            </a:endParaRPr>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Resources in this course:</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7</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pic>
        <p:nvPicPr>
          <p:cNvPr id="1026" name="Picture 2"/>
          <p:cNvPicPr>
            <a:picLocks noChangeAspect="1" noChangeArrowheads="1"/>
          </p:cNvPicPr>
          <p:nvPr/>
        </p:nvPicPr>
        <p:blipFill>
          <a:blip r:embed="rId4" cstate="print"/>
          <a:srcRect/>
          <a:stretch>
            <a:fillRect/>
          </a:stretch>
        </p:blipFill>
        <p:spPr bwMode="auto">
          <a:xfrm>
            <a:off x="5692588" y="3657600"/>
            <a:ext cx="3092824" cy="42862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Content Placeholder 2"/>
          <p:cNvSpPr>
            <a:spLocks noGrp="1"/>
          </p:cNvSpPr>
          <p:nvPr>
            <p:ph idx="1"/>
          </p:nvPr>
        </p:nvSpPr>
        <p:spPr>
          <a:xfrm>
            <a:off x="304800" y="1295400"/>
            <a:ext cx="8458200" cy="4876800"/>
          </a:xfrm>
        </p:spPr>
        <p:txBody>
          <a:bodyPr>
            <a:noAutofit/>
          </a:bodyPr>
          <a:lstStyle/>
          <a:p>
            <a:pPr>
              <a:buNone/>
            </a:pPr>
            <a:r>
              <a:rPr lang="en-US" b="1" u="sng" dirty="0" smtClean="0">
                <a:latin typeface="Times New Roman" pitchFamily="18" charset="0"/>
                <a:cs typeface="Times New Roman" pitchFamily="18" charset="0"/>
              </a:rPr>
              <a:t>Knowledge</a:t>
            </a:r>
          </a:p>
          <a:p>
            <a:r>
              <a:rPr lang="en-US" dirty="0" smtClean="0">
                <a:latin typeface="Times New Roman" pitchFamily="18" charset="0"/>
                <a:cs typeface="Times New Roman" pitchFamily="18" charset="0"/>
              </a:rPr>
              <a:t>The connection between data structures and their algorithms, including an analysis of algorithms' complexity</a:t>
            </a:r>
          </a:p>
          <a:p>
            <a:pPr>
              <a:buNone/>
            </a:pPr>
            <a:r>
              <a:rPr lang="en-US" b="1" u="sng" dirty="0" smtClean="0">
                <a:latin typeface="Times New Roman" pitchFamily="18" charset="0"/>
                <a:cs typeface="Times New Roman" pitchFamily="18" charset="0"/>
              </a:rPr>
              <a:t>Skills</a:t>
            </a:r>
          </a:p>
          <a:p>
            <a:r>
              <a:rPr lang="en-US" dirty="0" smtClean="0">
                <a:latin typeface="Times New Roman" pitchFamily="18" charset="0"/>
                <a:cs typeface="Times New Roman" pitchFamily="18" charset="0"/>
              </a:rPr>
              <a:t>Using Java OOP</a:t>
            </a:r>
          </a:p>
          <a:p>
            <a:pPr lvl="1"/>
            <a:r>
              <a:rPr lang="en-US" dirty="0" smtClean="0">
                <a:latin typeface="Times New Roman" pitchFamily="18" charset="0"/>
                <a:cs typeface="Times New Roman" pitchFamily="18" charset="0"/>
              </a:rPr>
              <a:t>Defining basic data structures using </a:t>
            </a:r>
          </a:p>
          <a:p>
            <a:pPr lvl="1"/>
            <a:r>
              <a:rPr lang="en-US" dirty="0" smtClean="0">
                <a:latin typeface="Times New Roman" pitchFamily="18" charset="0"/>
                <a:cs typeface="Times New Roman" pitchFamily="18" charset="0"/>
              </a:rPr>
              <a:t>Implementing basic operations on data structures including Add/ Search/ Removal/ Traversals/ Sort</a:t>
            </a:r>
          </a:p>
          <a:p>
            <a:pPr>
              <a:buNone/>
            </a:pPr>
            <a:r>
              <a:rPr lang="en-US" dirty="0" smtClean="0">
                <a:solidFill>
                  <a:srgbClr val="FFC000"/>
                </a:solidFill>
                <a:latin typeface="Times New Roman" pitchFamily="18" charset="0"/>
                <a:cs typeface="Times New Roman" pitchFamily="18" charset="0"/>
                <a:sym typeface="Wingdings" pitchFamily="2" charset="2"/>
              </a:rPr>
              <a:t> From problem description, you can decide what data structure must be used to store related data and why you choose this structure.</a:t>
            </a:r>
            <a:endParaRPr lang="en-US" dirty="0" smtClean="0">
              <a:solidFill>
                <a:srgbClr val="FFC000"/>
              </a:solidFill>
              <a:latin typeface="Times New Roman" pitchFamily="18" charset="0"/>
              <a:cs typeface="Times New Roman" pitchFamily="18" charset="0"/>
            </a:endParaRPr>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Objectives:</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8</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Course Contents and Learning Outcomes</a:t>
            </a:r>
            <a:endParaRPr lang="en-US" dirty="0"/>
          </a:p>
        </p:txBody>
      </p:sp>
      <p:graphicFrame>
        <p:nvGraphicFramePr>
          <p:cNvPr id="6" name="Content Placeholder 5"/>
          <p:cNvGraphicFramePr>
            <a:graphicFrameLocks noGrp="1"/>
          </p:cNvGraphicFramePr>
          <p:nvPr>
            <p:ph idx="1"/>
          </p:nvPr>
        </p:nvGraphicFramePr>
        <p:xfrm>
          <a:off x="457200" y="1066800"/>
          <a:ext cx="8229600" cy="5197475"/>
        </p:xfrm>
        <a:graphic>
          <a:graphicData uri="http://schemas.openxmlformats.org/drawingml/2006/table">
            <a:tbl>
              <a:tblPr firstRow="1" bandRow="1">
                <a:tableStyleId>{5C22544A-7EE6-4342-B048-85BDC9FD1C3A}</a:tableStyleId>
              </a:tblPr>
              <a:tblGrid>
                <a:gridCol w="685800"/>
                <a:gridCol w="1524000"/>
                <a:gridCol w="6019800"/>
              </a:tblGrid>
              <a:tr h="508000">
                <a:tc>
                  <a:txBody>
                    <a:bodyPr/>
                    <a:lstStyle/>
                    <a:p>
                      <a:pPr algn="ctr"/>
                      <a:r>
                        <a:rPr lang="en-US" sz="1800" dirty="0" smtClean="0"/>
                        <a:t>No.</a:t>
                      </a:r>
                      <a:endParaRPr lang="en-US" sz="1800" dirty="0"/>
                    </a:p>
                  </a:txBody>
                  <a:tcPr/>
                </a:tc>
                <a:tc>
                  <a:txBody>
                    <a:bodyPr/>
                    <a:lstStyle/>
                    <a:p>
                      <a:r>
                        <a:rPr lang="en-US" sz="1800" dirty="0" smtClean="0"/>
                        <a:t>Topic</a:t>
                      </a:r>
                      <a:endParaRPr lang="en-US" sz="1800" dirty="0"/>
                    </a:p>
                  </a:txBody>
                  <a:tcPr/>
                </a:tc>
                <a:tc>
                  <a:txBody>
                    <a:bodyPr/>
                    <a:lstStyle/>
                    <a:p>
                      <a:r>
                        <a:rPr lang="en-US" sz="1800" dirty="0" smtClean="0"/>
                        <a:t>Learning outcome</a:t>
                      </a:r>
                      <a:endParaRPr lang="en-US" sz="1800" dirty="0"/>
                    </a:p>
                  </a:txBody>
                  <a:tcPr/>
                </a:tc>
              </a:tr>
              <a:tr h="508000">
                <a:tc>
                  <a:txBody>
                    <a:bodyPr/>
                    <a:lstStyle/>
                    <a:p>
                      <a:pPr algn="ctr" fontAlgn="ctr"/>
                      <a:r>
                        <a:rPr lang="en-US" sz="1800" b="0" i="0" u="none" strike="noStrike" dirty="0" smtClean="0">
                          <a:latin typeface="Arial"/>
                        </a:rPr>
                        <a:t>1</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a:t>
                      </a:r>
                      <a:r>
                        <a:rPr lang="en-US" sz="1800" b="1" i="0" u="none" strike="noStrike" dirty="0" smtClean="0">
                          <a:solidFill>
                            <a:srgbClr val="FF0000"/>
                          </a:solidFill>
                          <a:latin typeface="Arial"/>
                        </a:rPr>
                        <a:t>Linked Lists</a:t>
                      </a:r>
                      <a:endParaRPr lang="en-US" sz="1800" b="1" i="0" u="none" strike="noStrike" dirty="0">
                        <a:solidFill>
                          <a:srgbClr val="FF0000"/>
                        </a:solidFill>
                        <a:latin typeface="Arial"/>
                      </a:endParaRPr>
                    </a:p>
                  </a:txBody>
                  <a:tcPr marL="9525" marR="9525" marT="9525" marB="0" anchor="ctr"/>
                </a:tc>
                <a:tc>
                  <a:txBody>
                    <a:bodyPr/>
                    <a:lstStyle/>
                    <a:p>
                      <a:pPr algn="l" fontAlgn="ctr"/>
                      <a:r>
                        <a:rPr lang="en-US" sz="1800" b="1" i="0" u="none" strike="noStrike" dirty="0" smtClean="0">
                          <a:solidFill>
                            <a:srgbClr val="FF0000"/>
                          </a:solidFill>
                          <a:latin typeface="Arial"/>
                        </a:rPr>
                        <a:t>LO1</a:t>
                      </a:r>
                      <a:r>
                        <a:rPr lang="en-US" sz="1800" b="0" i="0" u="none" strike="noStrike" dirty="0" smtClean="0">
                          <a:latin typeface="Arial"/>
                        </a:rPr>
                        <a:t>:  </a:t>
                      </a:r>
                      <a:r>
                        <a:rPr lang="en-US" sz="1800" b="0" i="0" u="none" strike="noStrike" dirty="0">
                          <a:latin typeface="Arial"/>
                        </a:rPr>
                        <a:t>Describe the list data structure and its’ different way of implementations. Implement the singly linked list. </a:t>
                      </a:r>
                    </a:p>
                  </a:txBody>
                  <a:tcPr marL="9525" marR="9525" marT="9525" marB="0" anchor="ctr"/>
                </a:tc>
              </a:tr>
              <a:tr h="508000">
                <a:tc>
                  <a:txBody>
                    <a:bodyPr/>
                    <a:lstStyle/>
                    <a:p>
                      <a:pPr algn="ctr" fontAlgn="ctr"/>
                      <a:r>
                        <a:rPr lang="en-US" sz="1800" b="0" i="0" u="none" strike="noStrike" dirty="0" smtClean="0">
                          <a:latin typeface="Arial"/>
                        </a:rPr>
                        <a:t>2</a:t>
                      </a:r>
                      <a:endParaRPr lang="en-US" sz="1800" b="0" i="0" u="none" strike="noStrike" dirty="0">
                        <a:latin typeface="Arial"/>
                      </a:endParaRPr>
                    </a:p>
                  </a:txBody>
                  <a:tcPr marL="9525" marR="9525" marT="9525" marB="0" anchor="ctr"/>
                </a:tc>
                <a:tc>
                  <a:txBody>
                    <a:bodyPr/>
                    <a:lstStyle/>
                    <a:p>
                      <a:pPr marL="109538" indent="-109538" algn="l" fontAlgn="ctr"/>
                      <a:r>
                        <a:rPr lang="en-US" sz="1800" b="1" i="0" u="none" strike="noStrike" dirty="0" smtClean="0">
                          <a:latin typeface="Arial"/>
                        </a:rPr>
                        <a:t> </a:t>
                      </a:r>
                      <a:r>
                        <a:rPr lang="en-US" sz="1800" b="1" i="0" u="none" strike="noStrike" dirty="0" smtClean="0">
                          <a:solidFill>
                            <a:srgbClr val="FF0000"/>
                          </a:solidFill>
                          <a:latin typeface="Arial"/>
                        </a:rPr>
                        <a:t>Stacks</a:t>
                      </a:r>
                      <a:r>
                        <a:rPr lang="en-US" sz="1800" b="1" i="0" u="none" strike="noStrike" baseline="0" dirty="0" smtClean="0">
                          <a:solidFill>
                            <a:srgbClr val="FF0000"/>
                          </a:solidFill>
                          <a:latin typeface="Arial"/>
                        </a:rPr>
                        <a:t> and Queues</a:t>
                      </a:r>
                      <a:endParaRPr lang="en-US" sz="1800" b="1" i="0" u="none" strike="noStrike" dirty="0">
                        <a:solidFill>
                          <a:srgbClr val="FF0000"/>
                        </a:solidFill>
                        <a:latin typeface="Arial"/>
                      </a:endParaRPr>
                    </a:p>
                  </a:txBody>
                  <a:tcPr marL="9525" marR="9525" marT="9525" marB="0" anchor="ctr"/>
                </a:tc>
                <a:tc>
                  <a:txBody>
                    <a:bodyPr/>
                    <a:lstStyle/>
                    <a:p>
                      <a:pPr algn="l" fontAlgn="ctr"/>
                      <a:r>
                        <a:rPr lang="en-US" sz="1800" b="1" i="0" u="none" strike="noStrike" dirty="0" smtClean="0">
                          <a:solidFill>
                            <a:srgbClr val="FF0000"/>
                          </a:solidFill>
                          <a:latin typeface="Arial"/>
                        </a:rPr>
                        <a:t>LO2</a:t>
                      </a:r>
                      <a:r>
                        <a:rPr lang="en-US" sz="1800" b="0" i="0" u="none" strike="noStrike" dirty="0" smtClean="0">
                          <a:latin typeface="Arial"/>
                        </a:rPr>
                        <a:t>:  </a:t>
                      </a:r>
                      <a:r>
                        <a:rPr lang="en-US" sz="1800" b="0" i="0" u="none" strike="noStrike" dirty="0">
                          <a:latin typeface="Arial"/>
                        </a:rPr>
                        <a:t>Define stack and queue. Describe basic operations and the use of these structures.</a:t>
                      </a:r>
                    </a:p>
                  </a:txBody>
                  <a:tcPr marL="9525" marR="9525" marT="9525" marB="0" anchor="ctr"/>
                </a:tc>
              </a:tr>
              <a:tr h="508000">
                <a:tc>
                  <a:txBody>
                    <a:bodyPr/>
                    <a:lstStyle/>
                    <a:p>
                      <a:pPr algn="ctr" fontAlgn="ctr"/>
                      <a:r>
                        <a:rPr lang="en-US" sz="1800" b="0" i="0" u="none" strike="noStrike" dirty="0" smtClean="0">
                          <a:latin typeface="Arial"/>
                        </a:rPr>
                        <a:t>3</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Recursions</a:t>
                      </a:r>
                      <a:endParaRPr lang="en-US" sz="1800" b="1"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LO3</a:t>
                      </a:r>
                      <a:r>
                        <a:rPr lang="en-US" sz="1800" b="0" i="0" u="none" strike="noStrike" dirty="0" smtClean="0">
                          <a:latin typeface="Arial"/>
                        </a:rPr>
                        <a:t>:  </a:t>
                      </a:r>
                      <a:r>
                        <a:rPr lang="en-US" sz="1800" b="0" i="0" u="none" strike="noStrike" dirty="0">
                          <a:latin typeface="Arial"/>
                        </a:rPr>
                        <a:t>Describe about recursive definitions, algorithms, functions  and their implementation and use.</a:t>
                      </a:r>
                    </a:p>
                  </a:txBody>
                  <a:tcPr marL="9525" marR="9525" marT="9525" marB="0" anchor="ctr"/>
                </a:tc>
              </a:tr>
              <a:tr h="508000">
                <a:tc>
                  <a:txBody>
                    <a:bodyPr/>
                    <a:lstStyle/>
                    <a:p>
                      <a:pPr algn="ctr" fontAlgn="ctr"/>
                      <a:r>
                        <a:rPr lang="en-US" sz="1800" b="0" i="0" u="none" strike="noStrike" dirty="0" smtClean="0">
                          <a:latin typeface="Arial"/>
                        </a:rPr>
                        <a:t>4</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a:t>
                      </a:r>
                      <a:r>
                        <a:rPr lang="en-US" sz="1800" b="1" i="0" u="none" strike="noStrike" dirty="0" smtClean="0">
                          <a:solidFill>
                            <a:srgbClr val="FF0000"/>
                          </a:solidFill>
                          <a:latin typeface="Arial"/>
                        </a:rPr>
                        <a:t>Trees</a:t>
                      </a:r>
                      <a:endParaRPr lang="en-US" sz="1800" b="1" i="0" u="none" strike="noStrike" dirty="0">
                        <a:solidFill>
                          <a:srgbClr val="FF0000"/>
                        </a:solidFill>
                        <a:latin typeface="Arial"/>
                      </a:endParaRPr>
                    </a:p>
                  </a:txBody>
                  <a:tcPr marL="9525" marR="9525" marT="9525" marB="0" anchor="ctr"/>
                </a:tc>
                <a:tc>
                  <a:txBody>
                    <a:bodyPr/>
                    <a:lstStyle/>
                    <a:p>
                      <a:pPr algn="l" fontAlgn="ctr"/>
                      <a:r>
                        <a:rPr lang="en-US" sz="1800" b="1" i="0" u="none" strike="noStrike" dirty="0" smtClean="0">
                          <a:solidFill>
                            <a:srgbClr val="FF0000"/>
                          </a:solidFill>
                          <a:latin typeface="Arial"/>
                        </a:rPr>
                        <a:t>LO4</a:t>
                      </a:r>
                      <a:r>
                        <a:rPr lang="en-US" sz="1800" b="0" i="0" u="none" strike="noStrike" dirty="0" smtClean="0">
                          <a:latin typeface="Arial"/>
                        </a:rPr>
                        <a:t>:  </a:t>
                      </a:r>
                      <a:r>
                        <a:rPr lang="en-US" sz="1800" b="0" i="0" u="none" strike="noStrike" dirty="0">
                          <a:latin typeface="Arial"/>
                        </a:rPr>
                        <a:t>Explain about general tree, Binary Tree and Binary Search Tree (BST). Implement BST with basic operations.</a:t>
                      </a:r>
                    </a:p>
                  </a:txBody>
                  <a:tcPr marL="9525" marR="9525" marT="9525" marB="0" anchor="ctr"/>
                </a:tc>
              </a:tr>
              <a:tr h="508000">
                <a:tc>
                  <a:txBody>
                    <a:bodyPr/>
                    <a:lstStyle/>
                    <a:p>
                      <a:pPr algn="ctr" fontAlgn="ctr"/>
                      <a:r>
                        <a:rPr lang="en-US" sz="1800" b="0" i="0" u="none" strike="noStrike" dirty="0" smtClean="0">
                          <a:latin typeface="Arial"/>
                        </a:rPr>
                        <a:t>5</a:t>
                      </a:r>
                      <a:endParaRPr lang="en-US" sz="1800" b="0" i="0" u="none" strike="noStrike" dirty="0">
                        <a:latin typeface="Arial"/>
                      </a:endParaRPr>
                    </a:p>
                  </a:txBody>
                  <a:tcPr marL="9525" marR="9525" marT="9525" marB="0" anchor="ctr"/>
                </a:tc>
                <a:tc>
                  <a:txBody>
                    <a:bodyPr/>
                    <a:lstStyle/>
                    <a:p>
                      <a:pPr algn="l" fontAlgn="ctr"/>
                      <a:r>
                        <a:rPr lang="en-US" sz="1800" b="1" i="0" u="none" strike="noStrike" baseline="0" dirty="0" smtClean="0">
                          <a:latin typeface="Arial"/>
                        </a:rPr>
                        <a:t> Graphs</a:t>
                      </a:r>
                      <a:endParaRPr lang="en-US" sz="1800" b="1"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LO5</a:t>
                      </a:r>
                      <a:r>
                        <a:rPr lang="en-US" sz="1800" b="0" i="0" u="none" strike="noStrike" dirty="0" smtClean="0">
                          <a:latin typeface="Arial"/>
                        </a:rPr>
                        <a:t>:  Discuss </a:t>
                      </a:r>
                      <a:r>
                        <a:rPr lang="en-US" sz="1800" b="0" i="0" u="none" strike="noStrike" dirty="0">
                          <a:latin typeface="Arial"/>
                        </a:rPr>
                        <a:t>about graphs and their  application. Implement a graph with some basic operations.</a:t>
                      </a:r>
                    </a:p>
                  </a:txBody>
                  <a:tcPr marL="9525" marR="9525" marT="9525" marB="0" anchor="ctr"/>
                </a:tc>
              </a:tr>
              <a:tr h="508000">
                <a:tc>
                  <a:txBody>
                    <a:bodyPr/>
                    <a:lstStyle/>
                    <a:p>
                      <a:pPr algn="ctr" fontAlgn="ctr"/>
                      <a:r>
                        <a:rPr lang="en-US" sz="1800" b="0" i="0" u="none" strike="noStrike" dirty="0" smtClean="0">
                          <a:latin typeface="Arial"/>
                        </a:rPr>
                        <a:t>6</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a:t>
                      </a:r>
                      <a:r>
                        <a:rPr lang="en-US" sz="1800" b="1" i="0" u="none" strike="noStrike" dirty="0" smtClean="0">
                          <a:solidFill>
                            <a:srgbClr val="FF0000"/>
                          </a:solidFill>
                          <a:latin typeface="Arial"/>
                        </a:rPr>
                        <a:t>Sorting</a:t>
                      </a:r>
                      <a:endParaRPr lang="en-US" sz="1800" b="1" i="0" u="none" strike="noStrike" dirty="0">
                        <a:solidFill>
                          <a:srgbClr val="FF0000"/>
                        </a:solidFill>
                        <a:latin typeface="Arial"/>
                      </a:endParaRPr>
                    </a:p>
                  </a:txBody>
                  <a:tcPr marL="9525" marR="9525" marT="9525" marB="0" anchor="ctr"/>
                </a:tc>
                <a:tc>
                  <a:txBody>
                    <a:bodyPr/>
                    <a:lstStyle/>
                    <a:p>
                      <a:pPr algn="l" fontAlgn="ctr"/>
                      <a:r>
                        <a:rPr lang="en-US" sz="1800" b="1" i="0" u="none" strike="noStrike" dirty="0" smtClean="0">
                          <a:solidFill>
                            <a:srgbClr val="FF0000"/>
                          </a:solidFill>
                          <a:latin typeface="Arial"/>
                        </a:rPr>
                        <a:t>LO6</a:t>
                      </a:r>
                      <a:r>
                        <a:rPr lang="en-US" sz="1800" b="0" i="0" u="none" strike="noStrike" dirty="0" smtClean="0">
                          <a:latin typeface="Arial"/>
                        </a:rPr>
                        <a:t>: </a:t>
                      </a:r>
                      <a:r>
                        <a:rPr lang="en-US" sz="1800" b="0" i="0" u="none" strike="noStrike" dirty="0">
                          <a:latin typeface="Arial"/>
                        </a:rPr>
                        <a:t>Explain the operation and performance of some basic and advanced sorting </a:t>
                      </a:r>
                      <a:r>
                        <a:rPr lang="en-US" sz="1800" b="0" i="0" u="none" strike="noStrike" dirty="0" smtClean="0">
                          <a:latin typeface="Arial"/>
                        </a:rPr>
                        <a:t>algorithms</a:t>
                      </a:r>
                      <a:endParaRPr lang="en-US" sz="1800" b="0" i="0" u="none" strike="noStrike" dirty="0">
                        <a:latin typeface="Arial"/>
                      </a:endParaRPr>
                    </a:p>
                  </a:txBody>
                  <a:tcPr marL="9525" marR="9525" marT="9525" marB="0" anchor="ctr"/>
                </a:tc>
              </a:tr>
              <a:tr h="508000">
                <a:tc>
                  <a:txBody>
                    <a:bodyPr/>
                    <a:lstStyle/>
                    <a:p>
                      <a:pPr algn="ctr" fontAlgn="ctr"/>
                      <a:r>
                        <a:rPr lang="en-US" sz="1800" b="0" i="0" u="none" strike="noStrike" dirty="0" smtClean="0">
                          <a:latin typeface="Arial"/>
                        </a:rPr>
                        <a:t>7</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Hashing</a:t>
                      </a:r>
                      <a:endParaRPr lang="en-US" sz="1800" b="1"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LO7</a:t>
                      </a:r>
                      <a:r>
                        <a:rPr lang="en-US" sz="1800" b="0" i="0" u="none" strike="noStrike" dirty="0" smtClean="0">
                          <a:latin typeface="Arial"/>
                        </a:rPr>
                        <a:t>: </a:t>
                      </a:r>
                      <a:r>
                        <a:rPr lang="en-US" sz="1800" b="0" i="0" u="none" strike="noStrike" dirty="0">
                          <a:latin typeface="Arial"/>
                        </a:rPr>
                        <a:t>Explain about hashing and  application. </a:t>
                      </a:r>
                    </a:p>
                  </a:txBody>
                  <a:tcPr marL="9525" marR="9525" marT="9525" marB="0" anchor="ctr"/>
                </a:tc>
              </a:tr>
              <a:tr h="508000">
                <a:tc>
                  <a:txBody>
                    <a:bodyPr/>
                    <a:lstStyle/>
                    <a:p>
                      <a:pPr algn="ctr" fontAlgn="ctr"/>
                      <a:r>
                        <a:rPr lang="en-US" sz="1800" b="0" i="0" u="none" strike="noStrike" dirty="0" smtClean="0">
                          <a:latin typeface="Arial"/>
                        </a:rPr>
                        <a:t>8</a:t>
                      </a:r>
                      <a:endParaRPr lang="en-US" sz="1800" b="0"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 Text</a:t>
                      </a:r>
                      <a:r>
                        <a:rPr lang="en-US" sz="1800" b="1" i="0" u="none" strike="noStrike" baseline="0" dirty="0" smtClean="0">
                          <a:latin typeface="Arial"/>
                        </a:rPr>
                        <a:t> Processing</a:t>
                      </a:r>
                      <a:endParaRPr lang="en-US" sz="1800" b="1" i="0" u="none" strike="noStrike" dirty="0">
                        <a:latin typeface="Arial"/>
                      </a:endParaRPr>
                    </a:p>
                  </a:txBody>
                  <a:tcPr marL="9525" marR="9525" marT="9525" marB="0" anchor="ctr"/>
                </a:tc>
                <a:tc>
                  <a:txBody>
                    <a:bodyPr/>
                    <a:lstStyle/>
                    <a:p>
                      <a:pPr algn="l" fontAlgn="ctr"/>
                      <a:r>
                        <a:rPr lang="en-US" sz="1800" b="1" i="0" u="none" strike="noStrike" dirty="0" smtClean="0">
                          <a:latin typeface="Arial"/>
                        </a:rPr>
                        <a:t>LO8</a:t>
                      </a:r>
                      <a:r>
                        <a:rPr lang="en-US" sz="1800" b="0" i="0" u="none" strike="noStrike" dirty="0" smtClean="0">
                          <a:latin typeface="Arial"/>
                        </a:rPr>
                        <a:t>: </a:t>
                      </a:r>
                      <a:r>
                        <a:rPr lang="en-US" sz="1800" b="0" i="0" u="none" strike="noStrike" dirty="0">
                          <a:latin typeface="Arial"/>
                        </a:rPr>
                        <a:t>Describe the Text Processing problem and its’ application. Explain the Huffman, LZW and Run-length encoding Algorithms.</a:t>
                      </a:r>
                    </a:p>
                  </a:txBody>
                  <a:tcPr marL="9525" marR="9525" marT="9525" marB="0" anchor="ctr"/>
                </a:tc>
              </a:tr>
            </a:tbl>
          </a:graphicData>
        </a:graphic>
      </p:graphicFrame>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9</a:t>
            </a:fld>
            <a:endParaRPr kumimoji="0" lang="en-US" dirty="0"/>
          </a:p>
        </p:txBody>
      </p:sp>
      <p:sp>
        <p:nvSpPr>
          <p:cNvPr id="7" name="Rectangle 6"/>
          <p:cNvSpPr/>
          <p:nvPr/>
        </p:nvSpPr>
        <p:spPr>
          <a:xfrm>
            <a:off x="381000" y="6400800"/>
            <a:ext cx="1905000" cy="457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bg1"/>
                </a:solidFill>
              </a:rPr>
              <a:t>Red label: PE</a:t>
            </a:r>
            <a:endParaRPr lang="en-US" b="1" dirty="0">
              <a:solidFill>
                <a:schemeClr val="bg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Course Requirements</a:t>
            </a:r>
            <a:endParaRPr lang="en-US" dirty="0"/>
          </a:p>
        </p:txBody>
      </p:sp>
      <p:sp>
        <p:nvSpPr>
          <p:cNvPr id="3" name="Content Placeholder 2"/>
          <p:cNvSpPr>
            <a:spLocks noGrp="1"/>
          </p:cNvSpPr>
          <p:nvPr>
            <p:ph idx="1"/>
          </p:nvPr>
        </p:nvSpPr>
        <p:spPr>
          <a:xfrm>
            <a:off x="533400" y="1752600"/>
            <a:ext cx="8229600" cy="4495800"/>
          </a:xfrm>
        </p:spPr>
        <p:txBody>
          <a:bodyPr>
            <a:noAutofit/>
          </a:bodyPr>
          <a:lstStyle/>
          <a:p>
            <a:pPr>
              <a:spcBef>
                <a:spcPct val="40000"/>
              </a:spcBef>
            </a:pPr>
            <a:r>
              <a:rPr lang="en-US" dirty="0" smtClean="0">
                <a:latin typeface="Arial" charset="0"/>
                <a:cs typeface="Arial" charset="0"/>
              </a:rPr>
              <a:t>Following lessons in classrooms</a:t>
            </a:r>
          </a:p>
          <a:p>
            <a:pPr>
              <a:spcBef>
                <a:spcPct val="40000"/>
              </a:spcBef>
            </a:pPr>
            <a:r>
              <a:rPr lang="en-US" dirty="0" smtClean="0">
                <a:latin typeface="Arial" charset="0"/>
                <a:cs typeface="Arial" charset="0"/>
              </a:rPr>
              <a:t>Reading textbooks at home</a:t>
            </a:r>
          </a:p>
          <a:p>
            <a:pPr>
              <a:spcBef>
                <a:spcPct val="40000"/>
              </a:spcBef>
            </a:pPr>
            <a:r>
              <a:rPr lang="en-US" b="1" u="sng" dirty="0" smtClean="0">
                <a:latin typeface="Arial" charset="0"/>
                <a:cs typeface="Arial" charset="0"/>
              </a:rPr>
              <a:t>Completing and submitting workshops /assignments/ quizzes in time</a:t>
            </a:r>
            <a:r>
              <a:rPr lang="en-US" dirty="0" smtClean="0">
                <a:solidFill>
                  <a:srgbClr val="FFC000"/>
                </a:solidFill>
                <a:latin typeface="Arial" charset="0"/>
                <a:cs typeface="Arial" charset="0"/>
              </a:rPr>
              <a:t> </a:t>
            </a:r>
            <a:r>
              <a:rPr lang="en-US" b="1" dirty="0" smtClean="0">
                <a:solidFill>
                  <a:srgbClr val="FFC000"/>
                </a:solidFill>
                <a:latin typeface="Arial" charset="0"/>
                <a:cs typeface="Arial" charset="0"/>
                <a:sym typeface="Wingdings" pitchFamily="2" charset="2"/>
              </a:rPr>
              <a:t> All deadlines are set up suitable. You have enough time to complete them. Please do not issue any requirement about timelines.  </a:t>
            </a:r>
            <a:endParaRPr lang="en-US" b="1" dirty="0" smtClean="0">
              <a:solidFill>
                <a:srgbClr val="FFC000"/>
              </a:solidFill>
              <a:latin typeface="Arial" charset="0"/>
              <a:cs typeface="Arial" charset="0"/>
            </a:endParaRPr>
          </a:p>
          <a:p>
            <a:pPr>
              <a:spcBef>
                <a:spcPct val="40000"/>
              </a:spcBef>
            </a:pPr>
            <a:r>
              <a:rPr lang="en-US" dirty="0" smtClean="0">
                <a:latin typeface="Arial" charset="0"/>
                <a:cs typeface="Arial" charset="0"/>
              </a:rPr>
              <a:t>Discussing actively in your teams and in classrooms</a:t>
            </a:r>
          </a:p>
          <a:p>
            <a:pPr>
              <a:spcBef>
                <a:spcPct val="40000"/>
              </a:spcBef>
            </a:pPr>
            <a:r>
              <a:rPr lang="en-US" dirty="0" smtClean="0">
                <a:latin typeface="Arial" charset="0"/>
                <a:cs typeface="Arial" charset="0"/>
              </a:rPr>
              <a:t>Answer questions of each chapter:</a:t>
            </a:r>
          </a:p>
          <a:p>
            <a:pPr>
              <a:spcBef>
                <a:spcPct val="40000"/>
              </a:spcBef>
              <a:buNone/>
            </a:pPr>
            <a:r>
              <a:rPr lang="en-US" dirty="0" smtClean="0">
                <a:latin typeface="Arial" charset="0"/>
                <a:cs typeface="Arial" charset="0"/>
              </a:rPr>
              <a:t>	- at the end of each slide</a:t>
            </a:r>
            <a:br>
              <a:rPr lang="en-US" dirty="0" smtClean="0">
                <a:latin typeface="Arial" charset="0"/>
                <a:cs typeface="Arial" charset="0"/>
              </a:rPr>
            </a:br>
            <a:r>
              <a:rPr lang="en-US" dirty="0" smtClean="0">
                <a:latin typeface="Arial" charset="0"/>
                <a:cs typeface="Arial" charset="0"/>
              </a:rPr>
              <a:t>- at the end of the course’s syllabus.</a:t>
            </a:r>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Student’s Responsibilities:</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10</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Requirements</a:t>
            </a:r>
            <a:endParaRPr lang="en-US" dirty="0"/>
          </a:p>
        </p:txBody>
      </p:sp>
      <p:sp>
        <p:nvSpPr>
          <p:cNvPr id="3" name="Content Placeholder 2"/>
          <p:cNvSpPr>
            <a:spLocks noGrp="1"/>
          </p:cNvSpPr>
          <p:nvPr>
            <p:ph idx="1"/>
          </p:nvPr>
        </p:nvSpPr>
        <p:spPr>
          <a:xfrm>
            <a:off x="457200" y="1600200"/>
            <a:ext cx="8229600" cy="4572000"/>
          </a:xfrm>
        </p:spPr>
        <p:txBody>
          <a:bodyPr>
            <a:noAutofit/>
          </a:bodyPr>
          <a:lstStyle/>
          <a:p>
            <a:pPr marL="342900" indent="-342900" eaLnBrk="0" hangingPunct="0">
              <a:buFontTx/>
              <a:buChar char="•"/>
            </a:pPr>
            <a:r>
              <a:rPr lang="en-US" b="1" dirty="0" smtClean="0">
                <a:latin typeface="Times New Roman" pitchFamily="18" charset="0"/>
                <a:cs typeface="Times New Roman" pitchFamily="18" charset="0"/>
              </a:rPr>
              <a:t>On-going assessment: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- 2 Assignments (AS):	20%</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- 2 Progress tests (PT):	20%</a:t>
            </a:r>
          </a:p>
          <a:p>
            <a:pPr marL="342900" indent="-342900" eaLnBrk="0" hangingPunct="0">
              <a:buFontTx/>
              <a:buChar char="•"/>
            </a:pPr>
            <a:r>
              <a:rPr lang="en-US" b="1" dirty="0" smtClean="0">
                <a:latin typeface="Times New Roman" pitchFamily="18" charset="0"/>
                <a:cs typeface="Times New Roman" pitchFamily="18" charset="0"/>
              </a:rPr>
              <a:t>Practical and Final Exams: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- 1 Practical Exam (PE):	30%</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- 1 Final Exam (FE):	30%</a:t>
            </a:r>
            <a:endParaRPr lang="en-US" b="1" dirty="0" smtClean="0">
              <a:latin typeface="Times New Roman" pitchFamily="18" charset="0"/>
              <a:cs typeface="Times New Roman" pitchFamily="18" charset="0"/>
            </a:endParaRPr>
          </a:p>
          <a:p>
            <a:pPr marL="342900" indent="-342900" eaLnBrk="0" hangingPunct="0">
              <a:buFont typeface="Arial" charset="0"/>
              <a:buChar char="•"/>
            </a:pPr>
            <a:r>
              <a:rPr lang="en-US" b="1" dirty="0" smtClean="0">
                <a:latin typeface="Times New Roman" pitchFamily="18" charset="0"/>
                <a:cs typeface="Times New Roman" pitchFamily="18" charset="0"/>
              </a:rPr>
              <a:t>Total score (TS)</a:t>
            </a:r>
            <a:r>
              <a:rPr lang="en-US" dirty="0" smtClean="0">
                <a:latin typeface="Times New Roman" pitchFamily="18" charset="0"/>
                <a:cs typeface="Times New Roman" pitchFamily="18" charset="0"/>
              </a:rPr>
              <a:t> = 0.2*AS + 0.2*PT + 0.3*PE + 0.3*FE</a:t>
            </a:r>
            <a:endParaRPr lang="en-US" b="1" dirty="0" smtClean="0">
              <a:latin typeface="Times New Roman" pitchFamily="18" charset="0"/>
              <a:cs typeface="Times New Roman" pitchFamily="18" charset="0"/>
            </a:endParaRPr>
          </a:p>
          <a:p>
            <a:pPr marL="342900" indent="-342900" eaLnBrk="0" hangingPunct="0">
              <a:buFont typeface="Arial" charset="0"/>
              <a:buChar char="•"/>
            </a:pPr>
            <a:r>
              <a:rPr lang="en-US" b="1" dirty="0" smtClean="0">
                <a:latin typeface="Times New Roman" pitchFamily="18" charset="0"/>
                <a:cs typeface="Times New Roman" pitchFamily="18" charset="0"/>
              </a:rPr>
              <a:t>Completion Criteria:</a:t>
            </a:r>
            <a:r>
              <a:rPr lang="en-US" dirty="0" smtClean="0">
                <a:latin typeface="Times New Roman" pitchFamily="18" charset="0"/>
                <a:cs typeface="Times New Roman" pitchFamily="18" charset="0"/>
              </a:rPr>
              <a:t>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1) Every on-going assessment (average) component &gt; 0</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2) PE &gt; 0 (there is no resit)</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3) FE &gt;= 4 &amp; TS  &gt;= 5 </a:t>
            </a:r>
            <a:endParaRPr lang="en-US" dirty="0">
              <a:latin typeface="Times New Roman" pitchFamily="18" charset="0"/>
              <a:cs typeface="Times New Roman" pitchFamily="18" charset="0"/>
            </a:endParaRPr>
          </a:p>
        </p:txBody>
      </p:sp>
      <p:sp>
        <p:nvSpPr>
          <p:cNvPr id="4" name="TextBox 3"/>
          <p:cNvSpPr txBox="1"/>
          <p:nvPr/>
        </p:nvSpPr>
        <p:spPr>
          <a:xfrm>
            <a:off x="457200" y="838200"/>
            <a:ext cx="7696200" cy="492443"/>
          </a:xfrm>
          <a:prstGeom prst="rect">
            <a:avLst/>
          </a:prstGeom>
          <a:noFill/>
        </p:spPr>
        <p:txBody>
          <a:bodyPr wrap="square" rtlCol="0">
            <a:spAutoFit/>
          </a:bodyPr>
          <a:lstStyle/>
          <a:p>
            <a:r>
              <a:rPr lang="en-US" sz="2600" b="1" dirty="0" smtClean="0">
                <a:solidFill>
                  <a:srgbClr val="FFC000"/>
                </a:solidFill>
              </a:rPr>
              <a:t>Grading Policies:</a:t>
            </a:r>
            <a:endParaRPr lang="en-US" sz="2600" b="1" dirty="0">
              <a:solidFill>
                <a:srgbClr val="FFC000"/>
              </a:solidFill>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11</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cxnSp>
        <p:nvCxnSpPr>
          <p:cNvPr id="8" name="Straight Arrow Connector 7"/>
          <p:cNvCxnSpPr/>
          <p:nvPr/>
        </p:nvCxnSpPr>
        <p:spPr>
          <a:xfrm flipH="1">
            <a:off x="5105400" y="3429000"/>
            <a:ext cx="1600200" cy="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410200" y="1219201"/>
            <a:ext cx="3581400" cy="2031325"/>
          </a:xfrm>
          <a:prstGeom prst="rect">
            <a:avLst/>
          </a:prstGeom>
          <a:solidFill>
            <a:schemeClr val="bg1"/>
          </a:solidFill>
        </p:spPr>
        <p:txBody>
          <a:bodyPr wrap="square">
            <a:spAutoFit/>
          </a:bodyPr>
          <a:lstStyle/>
          <a:p>
            <a:pPr>
              <a:buFontTx/>
              <a:buChar char="-"/>
            </a:pPr>
            <a:r>
              <a:rPr lang="en-US" b="1" dirty="0" err="1" smtClean="0">
                <a:solidFill>
                  <a:srgbClr val="0000CC"/>
                </a:solidFill>
              </a:rPr>
              <a:t>Chỉ</a:t>
            </a:r>
            <a:r>
              <a:rPr lang="en-US" b="1" dirty="0" smtClean="0">
                <a:solidFill>
                  <a:srgbClr val="0000CC"/>
                </a:solidFill>
              </a:rPr>
              <a:t> </a:t>
            </a:r>
            <a:r>
              <a:rPr lang="en-US" b="1" dirty="0" err="1" smtClean="0">
                <a:solidFill>
                  <a:srgbClr val="0000CC"/>
                </a:solidFill>
              </a:rPr>
              <a:t>dùng</a:t>
            </a:r>
            <a:r>
              <a:rPr lang="en-US" b="1" dirty="0" smtClean="0">
                <a:solidFill>
                  <a:srgbClr val="0000CC"/>
                </a:solidFill>
              </a:rPr>
              <a:t> </a:t>
            </a:r>
            <a:r>
              <a:rPr lang="vi-VN" b="1" dirty="0" smtClean="0">
                <a:solidFill>
                  <a:srgbClr val="0000CC"/>
                </a:solidFill>
              </a:rPr>
              <a:t>IDE tool là Netbeans</a:t>
            </a:r>
            <a:endParaRPr lang="en-US" b="1" dirty="0" smtClean="0">
              <a:solidFill>
                <a:srgbClr val="0000CC"/>
              </a:solidFill>
            </a:endParaRPr>
          </a:p>
          <a:p>
            <a:r>
              <a:rPr lang="en-US" b="1" dirty="0" err="1" smtClean="0">
                <a:solidFill>
                  <a:srgbClr val="0000CC"/>
                </a:solidFill>
              </a:rPr>
              <a:t>và</a:t>
            </a:r>
            <a:r>
              <a:rPr lang="en-US" b="1" dirty="0" smtClean="0">
                <a:solidFill>
                  <a:srgbClr val="0000CC"/>
                </a:solidFill>
              </a:rPr>
              <a:t> </a:t>
            </a:r>
            <a:r>
              <a:rPr lang="vi-VN" b="1" dirty="0" smtClean="0">
                <a:solidFill>
                  <a:srgbClr val="0000CC"/>
                </a:solidFill>
              </a:rPr>
              <a:t>WinZip để nén. </a:t>
            </a:r>
            <a:endParaRPr lang="en-US" b="1" dirty="0" smtClean="0">
              <a:solidFill>
                <a:srgbClr val="0000CC"/>
              </a:solidFill>
            </a:endParaRPr>
          </a:p>
          <a:p>
            <a:r>
              <a:rPr lang="en-US" b="1" dirty="0" smtClean="0">
                <a:solidFill>
                  <a:srgbClr val="FF0000"/>
                </a:solidFill>
              </a:rPr>
              <a:t>- </a:t>
            </a:r>
            <a:r>
              <a:rPr lang="vi-VN" b="1" dirty="0" smtClean="0">
                <a:solidFill>
                  <a:srgbClr val="FF0000"/>
                </a:solidFill>
              </a:rPr>
              <a:t>Tất cả các công cụ khác ngoài các công cụ  nêu trên (cho dù mở vô tình hay mở không sử dụng) sẽ coi như là vi phạm qui chế thi và sẽ bị 0 điểm PE</a:t>
            </a:r>
            <a:endParaRPr lang="vi-VN" b="1"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Requirements</a:t>
            </a:r>
            <a:endParaRPr lang="en-US" dirty="0"/>
          </a:p>
        </p:txBody>
      </p:sp>
      <p:sp>
        <p:nvSpPr>
          <p:cNvPr id="3" name="Content Placeholder 2"/>
          <p:cNvSpPr>
            <a:spLocks noGrp="1"/>
          </p:cNvSpPr>
          <p:nvPr>
            <p:ph idx="1"/>
          </p:nvPr>
        </p:nvSpPr>
        <p:spPr>
          <a:xfrm>
            <a:off x="457200" y="1524000"/>
            <a:ext cx="8229600" cy="4343400"/>
          </a:xfrm>
        </p:spPr>
        <p:txBody>
          <a:bodyPr>
            <a:noAutofit/>
          </a:bodyPr>
          <a:lstStyle/>
          <a:p>
            <a:pPr>
              <a:buFont typeface="Arial" charset="0"/>
              <a:buNone/>
            </a:pPr>
            <a:r>
              <a:rPr lang="en-US" dirty="0" smtClean="0">
                <a:latin typeface="Times New Roman" pitchFamily="18" charset="0"/>
                <a:cs typeface="Times New Roman" pitchFamily="18" charset="0"/>
              </a:rPr>
              <a:t>Cheating, plagiarism and breach of copyright are serious</a:t>
            </a:r>
          </a:p>
          <a:p>
            <a:pPr>
              <a:buFont typeface="Arial" charset="0"/>
              <a:buNone/>
            </a:pPr>
            <a:r>
              <a:rPr lang="en-US" dirty="0" smtClean="0">
                <a:latin typeface="Times New Roman" pitchFamily="18" charset="0"/>
                <a:cs typeface="Times New Roman" pitchFamily="18" charset="0"/>
              </a:rPr>
              <a:t>offenses under this Policy.</a:t>
            </a:r>
          </a:p>
          <a:p>
            <a:r>
              <a:rPr lang="en-US" b="1" u="sng" dirty="0" smtClean="0">
                <a:latin typeface="Times New Roman" pitchFamily="18" charset="0"/>
                <a:cs typeface="Times New Roman" pitchFamily="18" charset="0"/>
              </a:rPr>
              <a:t>Cheating</a:t>
            </a:r>
            <a:r>
              <a:rPr lang="en-US" dirty="0" smtClean="0">
                <a:latin typeface="Times New Roman" pitchFamily="18" charset="0"/>
                <a:cs typeface="Times New Roman" pitchFamily="18" charset="0"/>
              </a:rPr>
              <a:t>: Cheating during a test or exam is construed as talking, peeking at another student’s paper or any other clandestine method of transmitting information.</a:t>
            </a:r>
          </a:p>
          <a:p>
            <a:r>
              <a:rPr lang="en-US" b="1" u="sng" dirty="0" smtClean="0">
                <a:latin typeface="Times New Roman" pitchFamily="18" charset="0"/>
                <a:cs typeface="Times New Roman" pitchFamily="18" charset="0"/>
              </a:rPr>
              <a:t>Plagiarism</a:t>
            </a:r>
            <a:r>
              <a:rPr lang="en-US" dirty="0" smtClean="0">
                <a:latin typeface="Times New Roman" pitchFamily="18" charset="0"/>
                <a:cs typeface="Times New Roman" pitchFamily="18" charset="0"/>
              </a:rPr>
              <a:t>: Plagiarism is using the work of others without citing it; that is, holding the work of others out as your own work. </a:t>
            </a:r>
          </a:p>
          <a:p>
            <a:r>
              <a:rPr lang="en-US" b="1" u="sng" dirty="0" smtClean="0">
                <a:latin typeface="Times New Roman" pitchFamily="18" charset="0"/>
                <a:cs typeface="Times New Roman" pitchFamily="18" charset="0"/>
              </a:rPr>
              <a:t>Breach of Copyright</a:t>
            </a:r>
            <a:r>
              <a:rPr lang="en-US" dirty="0" smtClean="0">
                <a:latin typeface="Times New Roman" pitchFamily="18" charset="0"/>
                <a:cs typeface="Times New Roman" pitchFamily="18" charset="0"/>
              </a:rPr>
              <a:t>: If you photocopy a textbook without the copyright holder's permission, you violate copyright law.</a:t>
            </a:r>
          </a:p>
        </p:txBody>
      </p:sp>
      <p:sp>
        <p:nvSpPr>
          <p:cNvPr id="4" name="TextBox 3"/>
          <p:cNvSpPr txBox="1"/>
          <p:nvPr/>
        </p:nvSpPr>
        <p:spPr>
          <a:xfrm>
            <a:off x="457200" y="838200"/>
            <a:ext cx="76962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FPT-University Academic policy</a:t>
            </a:r>
            <a:r>
              <a:rPr lang="en-US" sz="2600" b="1" dirty="0" smtClean="0">
                <a:solidFill>
                  <a:srgbClr val="FFC000"/>
                </a:solidFill>
                <a:latin typeface="Times New Roman" pitchFamily="18" charset="0"/>
                <a:cs typeface="Times New Roman" pitchFamily="18" charset="0"/>
              </a:rPr>
              <a:t>:</a:t>
            </a:r>
            <a:endParaRPr lang="en-US" sz="2600" b="1" dirty="0">
              <a:solidFill>
                <a:srgbClr val="FFC000"/>
              </a:solidFill>
              <a:latin typeface="Times New Roman" pitchFamily="18" charset="0"/>
              <a:cs typeface="Times New Roman" pitchFamily="18" charset="0"/>
            </a:endParaRPr>
          </a:p>
        </p:txBody>
      </p:sp>
      <p:sp>
        <p:nvSpPr>
          <p:cNvPr id="15" name="Slide Number Placeholder 14"/>
          <p:cNvSpPr>
            <a:spLocks noGrp="1"/>
          </p:cNvSpPr>
          <p:nvPr>
            <p:ph type="sldNum" sz="quarter" idx="12"/>
          </p:nvPr>
        </p:nvSpPr>
        <p:spPr/>
        <p:txBody>
          <a:bodyPr/>
          <a:lstStyle/>
          <a:p>
            <a:fld id="{042AED99-7FB4-404E-8A97-64753DCE42EC}" type="slidenum">
              <a:rPr kumimoji="0" lang="en-US" smtClean="0"/>
              <a:pPr/>
              <a:t>12</a:t>
            </a:fld>
            <a:endParaRPr kumimoji="0" lang="en-US" dirty="0"/>
          </a:p>
        </p:txBody>
      </p:sp>
      <p:sp>
        <p:nvSpPr>
          <p:cNvPr id="16" name="Footer Placeholder 15"/>
          <p:cNvSpPr>
            <a:spLocks noGrp="1"/>
          </p:cNvSpPr>
          <p:nvPr>
            <p:ph type="ftr" sz="quarter" idx="11"/>
          </p:nvPr>
        </p:nvSpPr>
        <p:spPr/>
        <p:txBody>
          <a:bodyPr/>
          <a:lstStyle/>
          <a:p>
            <a:r>
              <a:rPr kumimoji="0" lang="en-US" dirty="0" smtClean="0"/>
              <a:t>CSD201 Intro.</a:t>
            </a:r>
            <a:endParaRPr kumimoji="0"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Read yourself: Sharing</a:t>
            </a:r>
            <a:endParaRPr lang="en-US" dirty="0"/>
          </a:p>
        </p:txBody>
      </p:sp>
      <p:sp>
        <p:nvSpPr>
          <p:cNvPr id="3" name="Content Placeholder 2"/>
          <p:cNvSpPr>
            <a:spLocks noGrp="1"/>
          </p:cNvSpPr>
          <p:nvPr>
            <p:ph idx="1"/>
          </p:nvPr>
        </p:nvSpPr>
        <p:spPr/>
        <p:txBody>
          <a:bodyPr/>
          <a:lstStyle/>
          <a:p>
            <a:pPr marL="609600" indent="-609600">
              <a:buFont typeface="Arial" charset="0"/>
              <a:buAutoNum type="arabicPeriod"/>
            </a:pPr>
            <a:r>
              <a:rPr lang="en-US" dirty="0" smtClean="0"/>
              <a:t>Chúng ta sẽ ở đâu trong bản đồ nghề nghiệp IT sau ba/bốn năm nữa?</a:t>
            </a:r>
          </a:p>
          <a:p>
            <a:pPr marL="609600" indent="-609600">
              <a:buFont typeface="Arial" charset="0"/>
              <a:buAutoNum type="arabicPeriod"/>
            </a:pPr>
            <a:r>
              <a:rPr lang="en-US" dirty="0" smtClean="0"/>
              <a:t>Liệu chúng ta </a:t>
            </a:r>
            <a:r>
              <a:rPr lang="en-US" dirty="0" err="1" smtClean="0"/>
              <a:t>có</a:t>
            </a:r>
            <a:r>
              <a:rPr lang="en-US" dirty="0" smtClean="0"/>
              <a:t> </a:t>
            </a:r>
            <a:r>
              <a:rPr lang="en-US" dirty="0" err="1" smtClean="0"/>
              <a:t>đủ</a:t>
            </a:r>
            <a:r>
              <a:rPr lang="en-US" dirty="0" smtClean="0"/>
              <a:t> </a:t>
            </a:r>
            <a:r>
              <a:rPr lang="en-US" dirty="0" err="1" smtClean="0"/>
              <a:t>sức</a:t>
            </a:r>
            <a:r>
              <a:rPr lang="en-US" dirty="0" smtClean="0"/>
              <a:t> </a:t>
            </a:r>
            <a:r>
              <a:rPr lang="en-US" dirty="0" err="1" smtClean="0"/>
              <a:t>để</a:t>
            </a:r>
            <a:r>
              <a:rPr lang="en-US" dirty="0" smtClean="0"/>
              <a:t> </a:t>
            </a:r>
            <a:r>
              <a:rPr lang="en-US" dirty="0" err="1" smtClean="0"/>
              <a:t>ra</a:t>
            </a:r>
            <a:r>
              <a:rPr lang="en-US" dirty="0" smtClean="0"/>
              <a:t> </a:t>
            </a:r>
            <a:r>
              <a:rPr lang="en-US" dirty="0" err="1" smtClean="0"/>
              <a:t>trường</a:t>
            </a:r>
            <a:r>
              <a:rPr lang="en-US" dirty="0" smtClean="0"/>
              <a:t> </a:t>
            </a:r>
            <a:r>
              <a:rPr lang="en-US" dirty="0" err="1" smtClean="0"/>
              <a:t>không</a:t>
            </a:r>
            <a:r>
              <a:rPr lang="en-US" dirty="0" smtClean="0"/>
              <a:t>?</a:t>
            </a:r>
          </a:p>
          <a:p>
            <a:pPr marL="609600" indent="-38100">
              <a:buNone/>
            </a:pPr>
            <a:r>
              <a:rPr lang="en-US" b="1" dirty="0" err="1" smtClean="0">
                <a:solidFill>
                  <a:srgbClr val="FFFF00"/>
                </a:solidFill>
              </a:rPr>
              <a:t>Tất</a:t>
            </a:r>
            <a:r>
              <a:rPr lang="en-US" b="1" dirty="0" smtClean="0">
                <a:solidFill>
                  <a:srgbClr val="FFFF00"/>
                </a:solidFill>
              </a:rPr>
              <a:t> </a:t>
            </a:r>
            <a:r>
              <a:rPr lang="en-US" b="1" dirty="0" err="1" smtClean="0">
                <a:solidFill>
                  <a:srgbClr val="FFFF00"/>
                </a:solidFill>
              </a:rPr>
              <a:t>cả</a:t>
            </a:r>
            <a:r>
              <a:rPr lang="en-US" b="1" dirty="0" smtClean="0">
                <a:solidFill>
                  <a:srgbClr val="FFFF00"/>
                </a:solidFill>
              </a:rPr>
              <a:t> </a:t>
            </a:r>
            <a:r>
              <a:rPr lang="en-US" b="1" dirty="0" err="1" smtClean="0">
                <a:solidFill>
                  <a:srgbClr val="FFFF00"/>
                </a:solidFill>
              </a:rPr>
              <a:t>đều</a:t>
            </a:r>
            <a:r>
              <a:rPr lang="en-US" b="1" dirty="0" smtClean="0">
                <a:solidFill>
                  <a:srgbClr val="FFFF00"/>
                </a:solidFill>
              </a:rPr>
              <a:t> </a:t>
            </a:r>
            <a:r>
              <a:rPr lang="en-US" b="1" dirty="0" err="1" smtClean="0">
                <a:solidFill>
                  <a:srgbClr val="FFFF00"/>
                </a:solidFill>
              </a:rPr>
              <a:t>phụ</a:t>
            </a:r>
            <a:r>
              <a:rPr lang="en-US" b="1" dirty="0" smtClean="0">
                <a:solidFill>
                  <a:srgbClr val="FFFF00"/>
                </a:solidFill>
              </a:rPr>
              <a:t> </a:t>
            </a:r>
            <a:r>
              <a:rPr lang="en-US" b="1" dirty="0" err="1" smtClean="0">
                <a:solidFill>
                  <a:srgbClr val="FFFF00"/>
                </a:solidFill>
              </a:rPr>
              <a:t>thuộc</a:t>
            </a:r>
            <a:r>
              <a:rPr lang="en-US" b="1" dirty="0" smtClean="0">
                <a:solidFill>
                  <a:srgbClr val="FFFF00"/>
                </a:solidFill>
              </a:rPr>
              <a:t> </a:t>
            </a:r>
            <a:r>
              <a:rPr lang="en-US" b="1" dirty="0" err="1" smtClean="0">
                <a:solidFill>
                  <a:srgbClr val="FFFF00"/>
                </a:solidFill>
              </a:rPr>
              <a:t>vào</a:t>
            </a:r>
            <a:r>
              <a:rPr lang="en-US" b="1" dirty="0" smtClean="0">
                <a:solidFill>
                  <a:srgbClr val="FFFF00"/>
                </a:solidFill>
              </a:rPr>
              <a:t> </a:t>
            </a:r>
            <a:r>
              <a:rPr lang="en-US" b="1" dirty="0" err="1" smtClean="0">
                <a:solidFill>
                  <a:srgbClr val="FFFF00"/>
                </a:solidFill>
              </a:rPr>
              <a:t>kiến</a:t>
            </a:r>
            <a:r>
              <a:rPr lang="en-US" b="1" dirty="0" smtClean="0">
                <a:solidFill>
                  <a:srgbClr val="FFFF00"/>
                </a:solidFill>
              </a:rPr>
              <a:t> </a:t>
            </a:r>
            <a:r>
              <a:rPr lang="en-US" b="1" dirty="0" err="1" smtClean="0">
                <a:solidFill>
                  <a:srgbClr val="FFFF00"/>
                </a:solidFill>
              </a:rPr>
              <a:t>thức</a:t>
            </a:r>
            <a:r>
              <a:rPr lang="en-US" b="1" dirty="0" smtClean="0">
                <a:solidFill>
                  <a:srgbClr val="FFFF00"/>
                </a:solidFill>
              </a:rPr>
              <a:t> </a:t>
            </a:r>
            <a:r>
              <a:rPr lang="en-US" b="1" dirty="0" err="1" smtClean="0">
                <a:solidFill>
                  <a:srgbClr val="FFFF00"/>
                </a:solidFill>
              </a:rPr>
              <a:t>và</a:t>
            </a:r>
            <a:r>
              <a:rPr lang="en-US" b="1" dirty="0" smtClean="0">
                <a:solidFill>
                  <a:srgbClr val="FFFF00"/>
                </a:solidFill>
              </a:rPr>
              <a:t> </a:t>
            </a:r>
            <a:r>
              <a:rPr lang="en-US" b="1" dirty="0" err="1" smtClean="0">
                <a:solidFill>
                  <a:srgbClr val="FFFF00"/>
                </a:solidFill>
              </a:rPr>
              <a:t>kỹ</a:t>
            </a:r>
            <a:r>
              <a:rPr lang="en-US" b="1" dirty="0" smtClean="0">
                <a:solidFill>
                  <a:srgbClr val="FFFF00"/>
                </a:solidFill>
              </a:rPr>
              <a:t> </a:t>
            </a:r>
            <a:r>
              <a:rPr lang="en-US" b="1" dirty="0" err="1" smtClean="0">
                <a:solidFill>
                  <a:srgbClr val="FFFF00"/>
                </a:solidFill>
              </a:rPr>
              <a:t>năng</a:t>
            </a:r>
            <a:r>
              <a:rPr lang="en-US" b="1" dirty="0" smtClean="0">
                <a:solidFill>
                  <a:srgbClr val="FFFF00"/>
                </a:solidFill>
              </a:rPr>
              <a:t> code </a:t>
            </a:r>
            <a:r>
              <a:rPr lang="en-US" b="1" dirty="0" err="1" smtClean="0">
                <a:solidFill>
                  <a:srgbClr val="FFFF00"/>
                </a:solidFill>
              </a:rPr>
              <a:t>của</a:t>
            </a:r>
            <a:r>
              <a:rPr lang="en-US" b="1" dirty="0" smtClean="0">
                <a:solidFill>
                  <a:srgbClr val="FFFF00"/>
                </a:solidFill>
              </a:rPr>
              <a:t> </a:t>
            </a:r>
            <a:r>
              <a:rPr lang="en-US" b="1" dirty="0" err="1" smtClean="0">
                <a:solidFill>
                  <a:srgbClr val="FFFF00"/>
                </a:solidFill>
              </a:rPr>
              <a:t>chúng</a:t>
            </a:r>
            <a:r>
              <a:rPr lang="en-US" b="1" dirty="0" smtClean="0">
                <a:solidFill>
                  <a:srgbClr val="FFFF00"/>
                </a:solidFill>
              </a:rPr>
              <a:t> </a:t>
            </a:r>
            <a:r>
              <a:rPr lang="en-US" b="1" dirty="0" err="1" smtClean="0">
                <a:solidFill>
                  <a:srgbClr val="FFFF00"/>
                </a:solidFill>
              </a:rPr>
              <a:t>ta</a:t>
            </a:r>
            <a:r>
              <a:rPr lang="en-US" b="1" dirty="0" smtClean="0">
                <a:solidFill>
                  <a:srgbClr val="FFFF00"/>
                </a:solidFill>
              </a:rPr>
              <a:t> </a:t>
            </a:r>
            <a:r>
              <a:rPr lang="en-US" b="1" dirty="0" err="1" smtClean="0">
                <a:solidFill>
                  <a:srgbClr val="FFFF00"/>
                </a:solidFill>
              </a:rPr>
              <a:t>thế</a:t>
            </a:r>
            <a:r>
              <a:rPr lang="en-US" b="1" dirty="0" smtClean="0">
                <a:solidFill>
                  <a:srgbClr val="FFFF00"/>
                </a:solidFill>
              </a:rPr>
              <a:t> </a:t>
            </a:r>
            <a:r>
              <a:rPr lang="en-US" b="1" dirty="0" err="1" smtClean="0">
                <a:solidFill>
                  <a:srgbClr val="FFFF00"/>
                </a:solidFill>
              </a:rPr>
              <a:t>nào</a:t>
            </a:r>
            <a:r>
              <a:rPr lang="en-US" b="1" dirty="0" smtClean="0">
                <a:solidFill>
                  <a:srgbClr val="FFFF00"/>
                </a:solidFill>
              </a:rPr>
              <a:t>? </a:t>
            </a:r>
          </a:p>
          <a:p>
            <a:pPr marL="609600" indent="-609600">
              <a:buNone/>
            </a:pPr>
            <a:r>
              <a:rPr lang="en-US" b="1" dirty="0" err="1" smtClean="0"/>
              <a:t>Những</a:t>
            </a:r>
            <a:r>
              <a:rPr lang="en-US" b="1" dirty="0" smtClean="0"/>
              <a:t> </a:t>
            </a:r>
            <a:r>
              <a:rPr lang="en-US" b="1" dirty="0" err="1" smtClean="0"/>
              <a:t>yêu</a:t>
            </a:r>
            <a:r>
              <a:rPr lang="en-US" b="1" dirty="0" smtClean="0"/>
              <a:t> </a:t>
            </a:r>
            <a:r>
              <a:rPr lang="en-US" b="1" dirty="0" err="1" smtClean="0"/>
              <a:t>cầu</a:t>
            </a:r>
            <a:r>
              <a:rPr lang="en-US" b="1" dirty="0" smtClean="0"/>
              <a:t> </a:t>
            </a:r>
            <a:r>
              <a:rPr lang="en-US" b="1" dirty="0" err="1" smtClean="0"/>
              <a:t>để</a:t>
            </a:r>
            <a:r>
              <a:rPr lang="en-US" b="1" dirty="0" smtClean="0"/>
              <a:t> </a:t>
            </a:r>
            <a:r>
              <a:rPr lang="en-US" b="1" dirty="0" err="1" smtClean="0"/>
              <a:t>ra</a:t>
            </a:r>
            <a:r>
              <a:rPr lang="en-US" b="1" dirty="0" smtClean="0"/>
              <a:t> </a:t>
            </a:r>
            <a:r>
              <a:rPr lang="en-US" b="1" dirty="0" err="1" smtClean="0"/>
              <a:t>trường</a:t>
            </a:r>
            <a:r>
              <a:rPr lang="en-US" b="1" dirty="0" smtClean="0"/>
              <a:t> </a:t>
            </a:r>
            <a:r>
              <a:rPr lang="en-US" b="1" dirty="0" err="1" smtClean="0"/>
              <a:t>và</a:t>
            </a:r>
            <a:r>
              <a:rPr lang="en-US" b="1" dirty="0" smtClean="0"/>
              <a:t> </a:t>
            </a:r>
            <a:r>
              <a:rPr lang="en-US" b="1" dirty="0" err="1" smtClean="0"/>
              <a:t>đi</a:t>
            </a:r>
            <a:r>
              <a:rPr lang="en-US" b="1" dirty="0" smtClean="0"/>
              <a:t> </a:t>
            </a:r>
            <a:r>
              <a:rPr lang="en-US" b="1" dirty="0" err="1" smtClean="0"/>
              <a:t>làm</a:t>
            </a:r>
            <a:r>
              <a:rPr lang="en-US" b="1" dirty="0" smtClean="0"/>
              <a:t>:</a:t>
            </a:r>
          </a:p>
          <a:p>
            <a:pPr marL="609600" indent="-609600">
              <a:buFontTx/>
              <a:buChar char="-"/>
            </a:pPr>
            <a:r>
              <a:rPr lang="en-US" dirty="0" err="1" smtClean="0"/>
              <a:t>Năng</a:t>
            </a:r>
            <a:r>
              <a:rPr lang="en-US" dirty="0" smtClean="0"/>
              <a:t> </a:t>
            </a:r>
            <a:r>
              <a:rPr lang="en-US" dirty="0" err="1" smtClean="0"/>
              <a:t>lực</a:t>
            </a:r>
            <a:r>
              <a:rPr lang="en-US" dirty="0" smtClean="0"/>
              <a:t> </a:t>
            </a:r>
            <a:r>
              <a:rPr lang="en-US" dirty="0" err="1" smtClean="0"/>
              <a:t>thiết</a:t>
            </a:r>
            <a:r>
              <a:rPr lang="en-US" dirty="0" smtClean="0"/>
              <a:t> </a:t>
            </a:r>
            <a:r>
              <a:rPr lang="en-US" dirty="0" err="1" smtClean="0"/>
              <a:t>kế</a:t>
            </a:r>
            <a:r>
              <a:rPr lang="en-US" dirty="0" smtClean="0"/>
              <a:t> </a:t>
            </a:r>
            <a:r>
              <a:rPr lang="en-US" dirty="0" err="1" smtClean="0"/>
              <a:t>dữ</a:t>
            </a:r>
            <a:r>
              <a:rPr lang="en-US" dirty="0" smtClean="0"/>
              <a:t> </a:t>
            </a:r>
            <a:r>
              <a:rPr lang="en-US" dirty="0" err="1" smtClean="0"/>
              <a:t>liệu</a:t>
            </a:r>
            <a:endParaRPr lang="en-US" dirty="0" smtClean="0">
              <a:sym typeface="Wingdings" pitchFamily="2" charset="2"/>
            </a:endParaRPr>
          </a:p>
          <a:p>
            <a:pPr marL="609600" indent="-609600">
              <a:buFontTx/>
              <a:buChar char="-"/>
            </a:pPr>
            <a:r>
              <a:rPr lang="en-US" dirty="0" err="1" smtClean="0">
                <a:sym typeface="Wingdings" pitchFamily="2" charset="2"/>
              </a:rPr>
              <a:t>Năng</a:t>
            </a:r>
            <a:r>
              <a:rPr lang="en-US" dirty="0" smtClean="0">
                <a:sym typeface="Wingdings" pitchFamily="2" charset="2"/>
              </a:rPr>
              <a:t> </a:t>
            </a:r>
            <a:r>
              <a:rPr lang="en-US" dirty="0" err="1" smtClean="0">
                <a:sym typeface="Wingdings" pitchFamily="2" charset="2"/>
              </a:rPr>
              <a:t>lực</a:t>
            </a:r>
            <a:r>
              <a:rPr lang="en-US" dirty="0" smtClean="0">
                <a:sym typeface="Wingdings" pitchFamily="2" charset="2"/>
              </a:rPr>
              <a:t> </a:t>
            </a:r>
            <a:r>
              <a:rPr lang="en-US" dirty="0" err="1" smtClean="0">
                <a:sym typeface="Wingdings" pitchFamily="2" charset="2"/>
              </a:rPr>
              <a:t>chọn</a:t>
            </a:r>
            <a:r>
              <a:rPr lang="en-US" dirty="0" smtClean="0">
                <a:sym typeface="Wingdings" pitchFamily="2" charset="2"/>
              </a:rPr>
              <a:t> </a:t>
            </a:r>
            <a:r>
              <a:rPr lang="en-US" dirty="0" err="1" smtClean="0">
                <a:sym typeface="Wingdings" pitchFamily="2" charset="2"/>
              </a:rPr>
              <a:t>và</a:t>
            </a:r>
            <a:r>
              <a:rPr lang="en-US" dirty="0" smtClean="0">
                <a:sym typeface="Wingdings" pitchFamily="2" charset="2"/>
              </a:rPr>
              <a:t> </a:t>
            </a:r>
            <a:r>
              <a:rPr lang="en-US" dirty="0" err="1" smtClean="0">
                <a:sym typeface="Wingdings" pitchFamily="2" charset="2"/>
              </a:rPr>
              <a:t>đánh</a:t>
            </a:r>
            <a:r>
              <a:rPr lang="en-US" dirty="0" smtClean="0">
                <a:sym typeface="Wingdings" pitchFamily="2" charset="2"/>
              </a:rPr>
              <a:t> </a:t>
            </a:r>
            <a:r>
              <a:rPr lang="en-US" dirty="0" err="1" smtClean="0">
                <a:sym typeface="Wingdings" pitchFamily="2" charset="2"/>
              </a:rPr>
              <a:t>giá</a:t>
            </a:r>
            <a:r>
              <a:rPr lang="en-US" dirty="0" smtClean="0">
                <a:sym typeface="Wingdings" pitchFamily="2" charset="2"/>
              </a:rPr>
              <a:t> </a:t>
            </a:r>
            <a:r>
              <a:rPr lang="en-US" dirty="0" err="1" smtClean="0">
                <a:sym typeface="Wingdings" pitchFamily="2" charset="2"/>
              </a:rPr>
              <a:t>giải</a:t>
            </a:r>
            <a:r>
              <a:rPr lang="en-US" dirty="0" smtClean="0">
                <a:sym typeface="Wingdings" pitchFamily="2" charset="2"/>
              </a:rPr>
              <a:t> </a:t>
            </a:r>
            <a:r>
              <a:rPr lang="en-US" dirty="0" err="1" smtClean="0">
                <a:sym typeface="Wingdings" pitchFamily="2" charset="2"/>
              </a:rPr>
              <a:t>thuật</a:t>
            </a:r>
            <a:r>
              <a:rPr lang="en-US" dirty="0" smtClean="0">
                <a:sym typeface="Wingdings" pitchFamily="2" charset="2"/>
              </a:rPr>
              <a:t> </a:t>
            </a:r>
          </a:p>
          <a:p>
            <a:pPr marL="609600" indent="-609600">
              <a:buFontTx/>
              <a:buChar char="-"/>
            </a:pPr>
            <a:r>
              <a:rPr lang="en-US" dirty="0" err="1" smtClean="0"/>
              <a:t>Năng</a:t>
            </a:r>
            <a:r>
              <a:rPr lang="en-US" dirty="0" smtClean="0"/>
              <a:t> </a:t>
            </a:r>
            <a:r>
              <a:rPr lang="en-US" dirty="0" err="1" smtClean="0"/>
              <a:t>lực</a:t>
            </a:r>
            <a:r>
              <a:rPr lang="en-US" dirty="0" smtClean="0"/>
              <a:t> </a:t>
            </a:r>
            <a:r>
              <a:rPr lang="en-US" dirty="0" err="1" smtClean="0"/>
              <a:t>hiện</a:t>
            </a:r>
            <a:r>
              <a:rPr lang="en-US" dirty="0" smtClean="0"/>
              <a:t> </a:t>
            </a:r>
            <a:r>
              <a:rPr lang="en-US" dirty="0" err="1" smtClean="0"/>
              <a:t>thực</a:t>
            </a:r>
            <a:r>
              <a:rPr lang="en-US" dirty="0" smtClean="0"/>
              <a:t> </a:t>
            </a:r>
            <a:r>
              <a:rPr lang="en-US" dirty="0" err="1" smtClean="0"/>
              <a:t>giải</a:t>
            </a:r>
            <a:r>
              <a:rPr lang="en-US" dirty="0" smtClean="0"/>
              <a:t> </a:t>
            </a:r>
            <a:r>
              <a:rPr lang="en-US" dirty="0" err="1" smtClean="0"/>
              <a:t>thuật</a:t>
            </a:r>
            <a:r>
              <a:rPr lang="en-US" dirty="0" smtClean="0"/>
              <a:t> </a:t>
            </a:r>
            <a:r>
              <a:rPr lang="en-US" dirty="0" smtClean="0">
                <a:sym typeface="Wingdings" pitchFamily="2" charset="2"/>
              </a:rPr>
              <a:t> </a:t>
            </a:r>
            <a:r>
              <a:rPr lang="en-US" dirty="0" err="1" smtClean="0">
                <a:sym typeface="Wingdings" pitchFamily="2" charset="2"/>
              </a:rPr>
              <a:t>Kỹ</a:t>
            </a:r>
            <a:r>
              <a:rPr lang="en-US" dirty="0" smtClean="0">
                <a:sym typeface="Wingdings" pitchFamily="2" charset="2"/>
              </a:rPr>
              <a:t> </a:t>
            </a:r>
            <a:r>
              <a:rPr lang="en-US" dirty="0" err="1" smtClean="0">
                <a:sym typeface="Wingdings" pitchFamily="2" charset="2"/>
              </a:rPr>
              <a:t>năng</a:t>
            </a:r>
            <a:r>
              <a:rPr lang="en-US" dirty="0" smtClean="0">
                <a:sym typeface="Wingdings" pitchFamily="2" charset="2"/>
              </a:rPr>
              <a:t> code </a:t>
            </a:r>
          </a:p>
          <a:p>
            <a:pPr marL="609600" indent="-609600">
              <a:buNone/>
            </a:pPr>
            <a:r>
              <a:rPr lang="en-US" dirty="0" smtClean="0">
                <a:sym typeface="Wingdings" pitchFamily="2" charset="2"/>
              </a:rPr>
              <a:t> </a:t>
            </a:r>
            <a:r>
              <a:rPr lang="en-US" b="1" i="1" dirty="0" err="1" smtClean="0">
                <a:sym typeface="Wingdings" pitchFamily="2" charset="2"/>
              </a:rPr>
              <a:t>Môn</a:t>
            </a:r>
            <a:r>
              <a:rPr lang="en-US" b="1" i="1" dirty="0" smtClean="0">
                <a:sym typeface="Wingdings" pitchFamily="2" charset="2"/>
              </a:rPr>
              <a:t> </a:t>
            </a:r>
            <a:r>
              <a:rPr lang="en-US" b="1" i="1" dirty="0" err="1" smtClean="0">
                <a:sym typeface="Wingdings" pitchFamily="2" charset="2"/>
              </a:rPr>
              <a:t>học</a:t>
            </a:r>
            <a:r>
              <a:rPr lang="en-US" b="1" i="1" dirty="0" smtClean="0">
                <a:sym typeface="Wingdings" pitchFamily="2" charset="2"/>
              </a:rPr>
              <a:t> </a:t>
            </a:r>
            <a:r>
              <a:rPr lang="en-US" b="1" i="1" dirty="0" err="1" smtClean="0">
                <a:sym typeface="Wingdings" pitchFamily="2" charset="2"/>
              </a:rPr>
              <a:t>này</a:t>
            </a:r>
            <a:r>
              <a:rPr lang="en-US" b="1" i="1" dirty="0" smtClean="0">
                <a:sym typeface="Wingdings" pitchFamily="2" charset="2"/>
              </a:rPr>
              <a:t> </a:t>
            </a:r>
            <a:r>
              <a:rPr lang="en-US" b="1" i="1" dirty="0" err="1" smtClean="0">
                <a:sym typeface="Wingdings" pitchFamily="2" charset="2"/>
              </a:rPr>
              <a:t>giúp</a:t>
            </a:r>
            <a:r>
              <a:rPr lang="en-US" b="1" i="1" dirty="0" smtClean="0">
                <a:sym typeface="Wingdings" pitchFamily="2" charset="2"/>
              </a:rPr>
              <a:t> </a:t>
            </a:r>
            <a:r>
              <a:rPr lang="en-US" b="1" i="1" dirty="0" err="1" smtClean="0">
                <a:sym typeface="Wingdings" pitchFamily="2" charset="2"/>
              </a:rPr>
              <a:t>các</a:t>
            </a:r>
            <a:r>
              <a:rPr lang="en-US" b="1" i="1" dirty="0" smtClean="0">
                <a:sym typeface="Wingdings" pitchFamily="2" charset="2"/>
              </a:rPr>
              <a:t> </a:t>
            </a:r>
            <a:r>
              <a:rPr lang="en-US" b="1" i="1" dirty="0" err="1" smtClean="0">
                <a:sym typeface="Wingdings" pitchFamily="2" charset="2"/>
              </a:rPr>
              <a:t>bạn</a:t>
            </a:r>
            <a:r>
              <a:rPr lang="en-US" b="1" i="1" dirty="0" smtClean="0">
                <a:sym typeface="Wingdings" pitchFamily="2" charset="2"/>
              </a:rPr>
              <a:t> </a:t>
            </a:r>
            <a:r>
              <a:rPr lang="en-US" b="1" i="1" dirty="0" err="1" smtClean="0">
                <a:sym typeface="Wingdings" pitchFamily="2" charset="2"/>
              </a:rPr>
              <a:t>cải</a:t>
            </a:r>
            <a:r>
              <a:rPr lang="en-US" b="1" i="1" dirty="0" smtClean="0">
                <a:sym typeface="Wingdings" pitchFamily="2" charset="2"/>
              </a:rPr>
              <a:t> </a:t>
            </a:r>
            <a:r>
              <a:rPr lang="en-US" b="1" i="1" dirty="0" err="1" smtClean="0">
                <a:sym typeface="Wingdings" pitchFamily="2" charset="2"/>
              </a:rPr>
              <a:t>thiện</a:t>
            </a:r>
            <a:r>
              <a:rPr lang="en-US" b="1" i="1" dirty="0" smtClean="0">
                <a:sym typeface="Wingdings" pitchFamily="2" charset="2"/>
              </a:rPr>
              <a:t> </a:t>
            </a:r>
            <a:r>
              <a:rPr lang="en-US" b="1" i="1" dirty="0" err="1" smtClean="0">
                <a:sym typeface="Wingdings" pitchFamily="2" charset="2"/>
              </a:rPr>
              <a:t>các</a:t>
            </a:r>
            <a:r>
              <a:rPr lang="en-US" b="1" i="1" dirty="0" smtClean="0">
                <a:sym typeface="Wingdings" pitchFamily="2" charset="2"/>
              </a:rPr>
              <a:t> </a:t>
            </a:r>
            <a:r>
              <a:rPr lang="en-US" b="1" i="1" dirty="0" err="1" smtClean="0">
                <a:sym typeface="Wingdings" pitchFamily="2" charset="2"/>
              </a:rPr>
              <a:t>năng</a:t>
            </a:r>
            <a:r>
              <a:rPr lang="en-US" b="1" i="1" dirty="0" smtClean="0">
                <a:sym typeface="Wingdings" pitchFamily="2" charset="2"/>
              </a:rPr>
              <a:t> </a:t>
            </a:r>
            <a:r>
              <a:rPr lang="en-US" b="1" i="1" dirty="0" err="1" smtClean="0">
                <a:sym typeface="Wingdings" pitchFamily="2" charset="2"/>
              </a:rPr>
              <a:t>lực</a:t>
            </a:r>
            <a:r>
              <a:rPr lang="en-US" b="1" i="1" dirty="0" smtClean="0">
                <a:sym typeface="Wingdings" pitchFamily="2" charset="2"/>
              </a:rPr>
              <a:t> </a:t>
            </a:r>
            <a:r>
              <a:rPr lang="en-US" b="1" i="1" dirty="0" err="1" smtClean="0">
                <a:sym typeface="Wingdings" pitchFamily="2" charset="2"/>
              </a:rPr>
              <a:t>này</a:t>
            </a:r>
            <a:endParaRPr lang="en-US" b="1" i="1" dirty="0" smtClean="0"/>
          </a:p>
          <a:p>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13</a:t>
            </a:fld>
            <a:endParaRPr kumimoji="0" lang="en-US"/>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err="1" smtClean="0">
                <a:solidFill>
                  <a:srgbClr val="FFC000"/>
                </a:solidFill>
                <a:latin typeface="Times New Roman" pitchFamily="18" charset="0"/>
                <a:cs typeface="Times New Roman" pitchFamily="18" charset="0"/>
              </a:rPr>
              <a:t>Tâm</a:t>
            </a:r>
            <a:r>
              <a:rPr lang="en-US" sz="2800" b="1" dirty="0" smtClean="0">
                <a:solidFill>
                  <a:srgbClr val="FFC000"/>
                </a:solidFill>
                <a:latin typeface="Times New Roman" pitchFamily="18" charset="0"/>
                <a:cs typeface="Times New Roman" pitchFamily="18" charset="0"/>
              </a:rPr>
              <a:t> </a:t>
            </a:r>
            <a:r>
              <a:rPr lang="en-US" sz="2800" b="1" dirty="0" err="1" smtClean="0">
                <a:solidFill>
                  <a:srgbClr val="FFC000"/>
                </a:solidFill>
                <a:latin typeface="Times New Roman" pitchFamily="18" charset="0"/>
                <a:cs typeface="Times New Roman" pitchFamily="18" charset="0"/>
              </a:rPr>
              <a:t>tình</a:t>
            </a:r>
            <a:r>
              <a:rPr lang="en-US" sz="2600" b="1" dirty="0" smtClean="0">
                <a:solidFill>
                  <a:srgbClr val="FFC000"/>
                </a:solidFill>
                <a:latin typeface="Times New Roman" pitchFamily="18" charset="0"/>
                <a:cs typeface="Times New Roman" pitchFamily="18" charset="0"/>
              </a:rPr>
              <a:t>:</a:t>
            </a:r>
            <a:endParaRPr lang="en-US" sz="2600" b="1" dirty="0">
              <a:solidFill>
                <a:srgbClr val="FFC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yourself</a:t>
            </a:r>
            <a:endParaRPr lang="en-US" dirty="0"/>
          </a:p>
        </p:txBody>
      </p:sp>
      <p:sp>
        <p:nvSpPr>
          <p:cNvPr id="3" name="Content Placeholder 2"/>
          <p:cNvSpPr>
            <a:spLocks noGrp="1"/>
          </p:cNvSpPr>
          <p:nvPr>
            <p:ph idx="1"/>
          </p:nvPr>
        </p:nvSpPr>
        <p:spPr/>
        <p:txBody>
          <a:bodyPr/>
          <a:lstStyle/>
          <a:p>
            <a:pPr marL="609600" indent="-609600">
              <a:lnSpc>
                <a:spcPct val="90000"/>
              </a:lnSpc>
            </a:pPr>
            <a:r>
              <a:rPr lang="en-US" b="1" i="1" dirty="0" err="1" smtClean="0">
                <a:solidFill>
                  <a:srgbClr val="FFFF00"/>
                </a:solidFill>
                <a:latin typeface="Times New Roman" pitchFamily="18" charset="0"/>
                <a:cs typeface="Times New Roman" pitchFamily="18" charset="0"/>
              </a:rPr>
              <a:t>Các</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bài</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tập</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có</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hướng</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dẫn</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đầy</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đủ</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bảo</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đảm</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ai</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cũng</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làm</a:t>
            </a:r>
            <a:r>
              <a:rPr lang="en-US" b="1" i="1" dirty="0" smtClean="0">
                <a:solidFill>
                  <a:srgbClr val="FFFF00"/>
                </a:solidFill>
                <a:latin typeface="Times New Roman" pitchFamily="18" charset="0"/>
                <a:cs typeface="Times New Roman" pitchFamily="18" charset="0"/>
              </a:rPr>
              <a:t> </a:t>
            </a:r>
            <a:r>
              <a:rPr lang="en-US" b="1" i="1" dirty="0" err="1" smtClean="0">
                <a:solidFill>
                  <a:srgbClr val="FFFF00"/>
                </a:solidFill>
                <a:latin typeface="Times New Roman" pitchFamily="18" charset="0"/>
                <a:cs typeface="Times New Roman" pitchFamily="18" charset="0"/>
              </a:rPr>
              <a:t>đượ</a:t>
            </a:r>
            <a:r>
              <a:rPr lang="en-US" i="1" dirty="0" err="1" smtClean="0">
                <a:latin typeface="Times New Roman" pitchFamily="18" charset="0"/>
                <a:cs typeface="Times New Roman" pitchFamily="18" charset="0"/>
              </a:rPr>
              <a:t>c</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Không</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cần</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lấy</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bài</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của</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khóa</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trước</a:t>
            </a:r>
            <a:r>
              <a:rPr lang="en-US" b="1" dirty="0" smtClean="0">
                <a:latin typeface="Times New Roman" pitchFamily="18" charset="0"/>
                <a:cs typeface="Times New Roman" pitchFamily="18" charset="0"/>
                <a:sym typeface="Wingdings" pitchFamily="2" charset="2"/>
              </a:rPr>
              <a:t> hay </a:t>
            </a:r>
            <a:r>
              <a:rPr lang="en-US" b="1" dirty="0" err="1" smtClean="0">
                <a:latin typeface="Times New Roman" pitchFamily="18" charset="0"/>
                <a:cs typeface="Times New Roman" pitchFamily="18" charset="0"/>
                <a:sym typeface="Wingdings" pitchFamily="2" charset="2"/>
              </a:rPr>
              <a:t>của</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bạn</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rPr>
              <a:t>Có</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làm</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có</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ăn</a:t>
            </a:r>
            <a:r>
              <a:rPr lang="en-US"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Có</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cố</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gắng</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sẽ</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giỏi</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hơn</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và</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thành</a:t>
            </a:r>
            <a:r>
              <a:rPr lang="en-US" b="1" dirty="0" smtClean="0">
                <a:latin typeface="Times New Roman" pitchFamily="18" charset="0"/>
                <a:cs typeface="Times New Roman" pitchFamily="18" charset="0"/>
                <a:sym typeface="Wingdings" pitchFamily="2" charset="2"/>
              </a:rPr>
              <a:t> </a:t>
            </a:r>
            <a:r>
              <a:rPr lang="en-US" b="1" dirty="0" err="1" smtClean="0">
                <a:latin typeface="Times New Roman" pitchFamily="18" charset="0"/>
                <a:cs typeface="Times New Roman" pitchFamily="18" charset="0"/>
                <a:sym typeface="Wingdings" pitchFamily="2" charset="2"/>
              </a:rPr>
              <a:t>công</a:t>
            </a:r>
            <a:r>
              <a:rPr lang="en-US" b="1" dirty="0" smtClean="0">
                <a:latin typeface="Times New Roman" pitchFamily="18" charset="0"/>
                <a:cs typeface="Times New Roman" pitchFamily="18" charset="0"/>
                <a:sym typeface="Wingdings" pitchFamily="2" charset="2"/>
              </a:rPr>
              <a:t>.</a:t>
            </a:r>
            <a:endParaRPr lang="en-US" b="1" dirty="0" smtClean="0">
              <a:latin typeface="Times New Roman" pitchFamily="18" charset="0"/>
              <a:cs typeface="Times New Roman" pitchFamily="18" charset="0"/>
            </a:endParaRPr>
          </a:p>
          <a:p>
            <a:pPr marL="609600" indent="-609600">
              <a:lnSpc>
                <a:spcPct val="90000"/>
              </a:lnSpc>
            </a:pPr>
            <a:r>
              <a:rPr lang="en-US" dirty="0" err="1" smtClean="0">
                <a:solidFill>
                  <a:srgbClr val="FFFF00"/>
                </a:solidFill>
                <a:latin typeface="Times New Roman" pitchFamily="18" charset="0"/>
                <a:cs typeface="Times New Roman" pitchFamily="18" charset="0"/>
              </a:rPr>
              <a:t>Điều</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chúng</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ta</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không</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mong</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đợi</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Bị</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phát</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hiện</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gian</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dối</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khi</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đánh</a:t>
            </a:r>
            <a:r>
              <a:rPr lang="en-US" dirty="0" smtClean="0">
                <a:solidFill>
                  <a:srgbClr val="FFFF00"/>
                </a:solidFill>
                <a:latin typeface="Times New Roman" pitchFamily="18" charset="0"/>
                <a:cs typeface="Times New Roman" pitchFamily="18" charset="0"/>
              </a:rPr>
              <a:t> </a:t>
            </a:r>
            <a:r>
              <a:rPr lang="en-US" dirty="0" err="1" smtClean="0">
                <a:solidFill>
                  <a:srgbClr val="FFFF00"/>
                </a:solidFill>
                <a:latin typeface="Times New Roman" pitchFamily="18" charset="0"/>
                <a:cs typeface="Times New Roman" pitchFamily="18" charset="0"/>
              </a:rPr>
              <a:t>giá</a:t>
            </a:r>
            <a:r>
              <a:rPr lang="en-US" dirty="0" smtClean="0">
                <a:solidFill>
                  <a:srgbClr val="FFFF00"/>
                </a:solidFill>
                <a:latin typeface="Times New Roman" pitchFamily="18" charset="0"/>
                <a:cs typeface="Times New Roman" pitchFamily="18" charset="0"/>
              </a:rPr>
              <a:t>.</a:t>
            </a:r>
            <a:r>
              <a:rPr lang="en-US" dirty="0" smtClean="0">
                <a:latin typeface="Times New Roman" pitchFamily="18" charset="0"/>
                <a:cs typeface="Times New Roman" pitchFamily="18" charset="0"/>
              </a:rPr>
              <a:t> </a:t>
            </a:r>
          </a:p>
          <a:p>
            <a:pPr indent="0">
              <a:lnSpc>
                <a:spcPct val="90000"/>
              </a:lnSpc>
              <a:buNone/>
            </a:pPr>
            <a:endParaRPr lang="en-US" b="1" dirty="0" smtClean="0">
              <a:latin typeface="Times New Roman" pitchFamily="18" charset="0"/>
              <a:cs typeface="Times New Roman" pitchFamily="18" charset="0"/>
            </a:endParaRPr>
          </a:p>
          <a:p>
            <a:pPr indent="0">
              <a:lnSpc>
                <a:spcPct val="90000"/>
              </a:lnSpc>
              <a:buNone/>
            </a:pPr>
            <a:r>
              <a:rPr lang="en-US" b="1" dirty="0" err="1" smtClean="0">
                <a:solidFill>
                  <a:srgbClr val="FFFF00"/>
                </a:solidFill>
                <a:latin typeface="Times New Roman" pitchFamily="18" charset="0"/>
                <a:cs typeface="Times New Roman" pitchFamily="18" charset="0"/>
              </a:rPr>
              <a:t>Rất</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mong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mọi</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sinh</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viên</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đều</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hứa</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sẽ</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tự</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giác</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trung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thực</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để</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chúng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ta</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có</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thể</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sống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với</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niềm</a:t>
            </a:r>
            <a:r>
              <a:rPr lang="en-US" b="1" dirty="0" smtClean="0">
                <a:solidFill>
                  <a:srgbClr val="FFFF00"/>
                </a:solidFill>
                <a:latin typeface="Times New Roman" pitchFamily="18" charset="0"/>
                <a:cs typeface="Times New Roman" pitchFamily="18" charset="0"/>
              </a:rPr>
              <a:t> tin </a:t>
            </a:r>
            <a:r>
              <a:rPr lang="en-US" b="1" dirty="0" err="1" smtClean="0">
                <a:solidFill>
                  <a:srgbClr val="FFFF00"/>
                </a:solidFill>
                <a:latin typeface="Times New Roman" pitchFamily="18" charset="0"/>
                <a:cs typeface="Times New Roman" pitchFamily="18" charset="0"/>
              </a:rPr>
              <a:t>là</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xã</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hội</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này</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còn</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tốt</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đẹp</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Chúng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ta</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cùng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nhau</a:t>
            </a:r>
            <a:r>
              <a:rPr lang="en-US" b="1" dirty="0" smtClean="0">
                <a:solidFill>
                  <a:srgbClr val="FFFF00"/>
                </a:solidFill>
                <a:latin typeface="Times New Roman" pitchFamily="18" charset="0"/>
                <a:cs typeface="Times New Roman" pitchFamily="18" charset="0"/>
              </a:rPr>
              <a:t> </a:t>
            </a:r>
            <a:r>
              <a:rPr lang="en-US" b="1" i="1" u="sng" dirty="0" err="1" smtClean="0">
                <a:solidFill>
                  <a:srgbClr val="FFFF00"/>
                </a:solidFill>
                <a:latin typeface="Times New Roman" pitchFamily="18" charset="0"/>
                <a:cs typeface="Times New Roman" pitchFamily="18" charset="0"/>
              </a:rPr>
              <a:t>cố</a:t>
            </a:r>
            <a:r>
              <a:rPr lang="en-US" b="1" i="1" u="sng" dirty="0" smtClean="0">
                <a:solidFill>
                  <a:srgbClr val="FFFF00"/>
                </a:solidFill>
                <a:latin typeface="Times New Roman" pitchFamily="18" charset="0"/>
                <a:cs typeface="Times New Roman" pitchFamily="18" charset="0"/>
              </a:rPr>
              <a:t> </a:t>
            </a:r>
            <a:r>
              <a:rPr lang="en-US" b="1" i="1" u="sng" dirty="0" err="1" smtClean="0">
                <a:solidFill>
                  <a:srgbClr val="FFFF00"/>
                </a:solidFill>
                <a:latin typeface="Times New Roman" pitchFamily="18" charset="0"/>
                <a:cs typeface="Times New Roman" pitchFamily="18" charset="0"/>
              </a:rPr>
              <a:t>gắng</a:t>
            </a:r>
            <a:r>
              <a:rPr lang="en-US" b="1" i="1" u="sng" dirty="0" smtClean="0">
                <a:solidFill>
                  <a:srgbClr val="FFFF00"/>
                </a:solidFill>
                <a:latin typeface="Times New Roman" pitchFamily="18" charset="0"/>
                <a:cs typeface="Times New Roman" pitchFamily="18" charset="0"/>
              </a:rPr>
              <a:t> </a:t>
            </a:r>
            <a:r>
              <a:rPr lang="en-US" b="1" i="1" u="sng" dirty="0" err="1" smtClean="0">
                <a:solidFill>
                  <a:srgbClr val="FFFF00"/>
                </a:solidFill>
                <a:latin typeface="Times New Roman" pitchFamily="18" charset="0"/>
                <a:cs typeface="Times New Roman" pitchFamily="18" charset="0"/>
              </a:rPr>
              <a:t>nhé</a:t>
            </a:r>
            <a:r>
              <a:rPr lang="en-US" b="1" dirty="0" smtClean="0">
                <a:solidFill>
                  <a:srgbClr val="FFFF00"/>
                </a:solidFill>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14</a:t>
            </a:fld>
            <a:endParaRPr kumimoji="0" lang="en-US"/>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err="1" smtClean="0">
                <a:solidFill>
                  <a:srgbClr val="FFC000"/>
                </a:solidFill>
                <a:latin typeface="Times New Roman" pitchFamily="18" charset="0"/>
                <a:cs typeface="Times New Roman" pitchFamily="18" charset="0"/>
              </a:rPr>
              <a:t>Quy</a:t>
            </a:r>
            <a:r>
              <a:rPr lang="en-US" sz="2800" b="1" dirty="0" smtClean="0">
                <a:solidFill>
                  <a:srgbClr val="FFC000"/>
                </a:solidFill>
                <a:latin typeface="Times New Roman" pitchFamily="18" charset="0"/>
                <a:cs typeface="Times New Roman" pitchFamily="18" charset="0"/>
              </a:rPr>
              <a:t> </a:t>
            </a:r>
            <a:r>
              <a:rPr lang="en-US" sz="2800" b="1" dirty="0" err="1" smtClean="0">
                <a:solidFill>
                  <a:srgbClr val="FFC000"/>
                </a:solidFill>
                <a:latin typeface="Times New Roman" pitchFamily="18" charset="0"/>
                <a:cs typeface="Times New Roman" pitchFamily="18" charset="0"/>
              </a:rPr>
              <a:t>định</a:t>
            </a:r>
            <a:r>
              <a:rPr lang="en-US" sz="2800" b="1" dirty="0" smtClean="0">
                <a:solidFill>
                  <a:srgbClr val="FFC000"/>
                </a:solidFill>
                <a:latin typeface="Times New Roman" pitchFamily="18" charset="0"/>
                <a:cs typeface="Times New Roman" pitchFamily="18" charset="0"/>
              </a:rPr>
              <a:t> </a:t>
            </a:r>
            <a:r>
              <a:rPr lang="en-US" sz="2800" b="1" dirty="0" err="1" smtClean="0">
                <a:solidFill>
                  <a:srgbClr val="FFC000"/>
                </a:solidFill>
                <a:latin typeface="Times New Roman" pitchFamily="18" charset="0"/>
                <a:cs typeface="Times New Roman" pitchFamily="18" charset="0"/>
              </a:rPr>
              <a:t>cần</a:t>
            </a:r>
            <a:r>
              <a:rPr lang="en-US" sz="2800" b="1" dirty="0" smtClean="0">
                <a:solidFill>
                  <a:srgbClr val="FFC000"/>
                </a:solidFill>
                <a:latin typeface="Times New Roman" pitchFamily="18" charset="0"/>
                <a:cs typeface="Times New Roman" pitchFamily="18" charset="0"/>
              </a:rPr>
              <a:t> </a:t>
            </a:r>
            <a:r>
              <a:rPr lang="en-US" sz="2800" b="1" dirty="0" err="1" smtClean="0">
                <a:solidFill>
                  <a:srgbClr val="FFC000"/>
                </a:solidFill>
                <a:latin typeface="Times New Roman" pitchFamily="18" charset="0"/>
                <a:cs typeface="Times New Roman" pitchFamily="18" charset="0"/>
              </a:rPr>
              <a:t>tuân</a:t>
            </a:r>
            <a:r>
              <a:rPr lang="en-US" sz="2800" b="1" dirty="0" smtClean="0">
                <a:solidFill>
                  <a:srgbClr val="FFC000"/>
                </a:solidFill>
                <a:latin typeface="Times New Roman" pitchFamily="18" charset="0"/>
                <a:cs typeface="Times New Roman" pitchFamily="18" charset="0"/>
              </a:rPr>
              <a:t> </a:t>
            </a:r>
            <a:r>
              <a:rPr lang="en-US" sz="2800" b="1" dirty="0" err="1" smtClean="0">
                <a:solidFill>
                  <a:srgbClr val="FFC000"/>
                </a:solidFill>
                <a:latin typeface="Times New Roman" pitchFamily="18" charset="0"/>
                <a:cs typeface="Times New Roman" pitchFamily="18" charset="0"/>
              </a:rPr>
              <a:t>thủ</a:t>
            </a:r>
            <a:r>
              <a:rPr lang="en-US" sz="2600" b="1" dirty="0" smtClean="0">
                <a:solidFill>
                  <a:srgbClr val="FFC000"/>
                </a:solidFill>
                <a:latin typeface="Times New Roman" pitchFamily="18" charset="0"/>
                <a:cs typeface="Times New Roman" pitchFamily="18" charset="0"/>
              </a:rPr>
              <a:t>:</a:t>
            </a:r>
            <a:endParaRPr lang="en-US" sz="2600" b="1" dirty="0">
              <a:solidFill>
                <a:srgbClr val="FFC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5- Review on Algorithm’s Complexity</a:t>
            </a:r>
            <a:endParaRPr lang="en-US" dirty="0"/>
          </a:p>
        </p:txBody>
      </p:sp>
      <p:sp>
        <p:nvSpPr>
          <p:cNvPr id="3" name="Content Placeholder 2"/>
          <p:cNvSpPr>
            <a:spLocks noGrp="1"/>
          </p:cNvSpPr>
          <p:nvPr>
            <p:ph idx="1"/>
          </p:nvPr>
        </p:nvSpPr>
        <p:spPr>
          <a:xfrm>
            <a:off x="533400" y="1600200"/>
            <a:ext cx="8229600" cy="4724400"/>
          </a:xfrm>
        </p:spPr>
        <p:txBody>
          <a:bodyPr>
            <a:normAutofit lnSpcReduction="10000"/>
          </a:bodyPr>
          <a:lstStyle/>
          <a:p>
            <a:pPr marL="231775" indent="-231775">
              <a:lnSpc>
                <a:spcPct val="90000"/>
              </a:lnSpc>
            </a:pPr>
            <a:r>
              <a:rPr lang="en-US" sz="2800" dirty="0" smtClean="0"/>
              <a:t>What is a problem? </a:t>
            </a:r>
          </a:p>
          <a:p>
            <a:pPr marL="231775" indent="-231775">
              <a:lnSpc>
                <a:spcPct val="90000"/>
              </a:lnSpc>
              <a:buNone/>
            </a:pPr>
            <a:r>
              <a:rPr lang="en-US" dirty="0" smtClean="0"/>
              <a:t>             A situation in which something is hidden.</a:t>
            </a:r>
          </a:p>
          <a:p>
            <a:pPr marL="231775" indent="-231775">
              <a:lnSpc>
                <a:spcPct val="90000"/>
              </a:lnSpc>
            </a:pPr>
            <a:r>
              <a:rPr lang="en-US" sz="2800" dirty="0" smtClean="0"/>
              <a:t>What is algorithm?</a:t>
            </a:r>
          </a:p>
          <a:p>
            <a:pPr marL="609600" indent="-609600">
              <a:lnSpc>
                <a:spcPct val="90000"/>
              </a:lnSpc>
              <a:buFont typeface="Arial" charset="0"/>
              <a:buNone/>
            </a:pPr>
            <a:r>
              <a:rPr lang="en-US" sz="2800" dirty="0" smtClean="0"/>
              <a:t>	</a:t>
            </a:r>
            <a:r>
              <a:rPr lang="en-US" dirty="0" smtClean="0"/>
              <a:t>A set of operations for finding down result of a problem – Hidden data is found.</a:t>
            </a:r>
          </a:p>
          <a:p>
            <a:pPr marL="609600" indent="-609600">
              <a:lnSpc>
                <a:spcPct val="90000"/>
              </a:lnSpc>
            </a:pPr>
            <a:r>
              <a:rPr lang="en-US" sz="2800" dirty="0" smtClean="0"/>
              <a:t>Expectations  on an algorithm:</a:t>
            </a:r>
          </a:p>
          <a:p>
            <a:pPr marL="1009650" lvl="1" indent="-609600">
              <a:lnSpc>
                <a:spcPct val="90000"/>
              </a:lnSpc>
            </a:pPr>
            <a:r>
              <a:rPr lang="en-US" dirty="0" smtClean="0"/>
              <a:t>Space (memory): small, </a:t>
            </a:r>
          </a:p>
          <a:p>
            <a:pPr marL="1009650" lvl="1" indent="-609600">
              <a:lnSpc>
                <a:spcPct val="90000"/>
              </a:lnSpc>
            </a:pPr>
            <a:r>
              <a:rPr lang="en-US" dirty="0" smtClean="0"/>
              <a:t>Time consuming: short</a:t>
            </a:r>
          </a:p>
          <a:p>
            <a:pPr marL="1009650" lvl="1" indent="-609600">
              <a:lnSpc>
                <a:spcPct val="90000"/>
              </a:lnSpc>
            </a:pPr>
            <a:r>
              <a:rPr lang="en-US" dirty="0" smtClean="0"/>
              <a:t>Former computers had small size memories and low-speed CPUs </a:t>
            </a:r>
            <a:r>
              <a:rPr lang="en-US" dirty="0" smtClean="0">
                <a:sym typeface="Wingdings" pitchFamily="2" charset="2"/>
              </a:rPr>
              <a:t> 2 factors must be considered carefully.</a:t>
            </a:r>
          </a:p>
          <a:p>
            <a:pPr marL="1009650" lvl="1" indent="-609600">
              <a:lnSpc>
                <a:spcPct val="90000"/>
              </a:lnSpc>
            </a:pPr>
            <a:r>
              <a:rPr lang="en-US" dirty="0" smtClean="0">
                <a:sym typeface="Wingdings" pitchFamily="2" charset="2"/>
              </a:rPr>
              <a:t>Nowadays computers have large size me</a:t>
            </a:r>
            <a:r>
              <a:rPr lang="en-US" dirty="0" smtClean="0"/>
              <a:t>mories and ultra-speed CPUs</a:t>
            </a:r>
            <a:r>
              <a:rPr lang="en-US" dirty="0" smtClean="0">
                <a:sym typeface="Wingdings" pitchFamily="2" charset="2"/>
              </a:rPr>
              <a:t> Time performance is the main factor.</a:t>
            </a:r>
          </a:p>
          <a:p>
            <a:pPr marL="1009650" lvl="1" indent="-609600">
              <a:lnSpc>
                <a:spcPct val="90000"/>
              </a:lnSpc>
            </a:pPr>
            <a:endParaRPr lang="en-US" dirty="0" smtClean="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15</a:t>
            </a:fld>
            <a:endParaRPr kumimoji="0" lang="en-US" dirty="0"/>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Problem and Algorithms:</a:t>
            </a:r>
            <a:endParaRPr lang="en-US" sz="2600" b="1" dirty="0">
              <a:solidFill>
                <a:srgbClr val="FFC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3" name="Content Placeholder 2"/>
          <p:cNvSpPr>
            <a:spLocks noGrp="1"/>
          </p:cNvSpPr>
          <p:nvPr>
            <p:ph idx="1"/>
          </p:nvPr>
        </p:nvSpPr>
        <p:spPr>
          <a:xfrm>
            <a:off x="304800" y="1600200"/>
            <a:ext cx="8458200" cy="4724400"/>
          </a:xfrm>
        </p:spPr>
        <p:txBody>
          <a:bodyPr>
            <a:normAutofit fontScale="92500"/>
          </a:bodyPr>
          <a:lstStyle/>
          <a:p>
            <a:pPr marL="231775" indent="-231775">
              <a:lnSpc>
                <a:spcPct val="90000"/>
              </a:lnSpc>
            </a:pPr>
            <a:r>
              <a:rPr lang="en-US" b="1" dirty="0" smtClean="0"/>
              <a:t>One problem can be solved using one of some different algorithms </a:t>
            </a:r>
            <a:r>
              <a:rPr lang="en-US" dirty="0" smtClean="0">
                <a:sym typeface="Wingdings" pitchFamily="2" charset="2"/>
              </a:rPr>
              <a:t> The most appropriate (fastest) algorithm should be chosen.</a:t>
            </a:r>
          </a:p>
          <a:p>
            <a:pPr marL="231775" indent="-231775">
              <a:lnSpc>
                <a:spcPct val="90000"/>
              </a:lnSpc>
            </a:pPr>
            <a:endParaRPr lang="en-US" dirty="0" smtClean="0"/>
          </a:p>
          <a:p>
            <a:pPr marL="231775" indent="-231775">
              <a:lnSpc>
                <a:spcPct val="90000"/>
              </a:lnSpc>
            </a:pPr>
            <a:r>
              <a:rPr lang="en-US" b="1" dirty="0" smtClean="0">
                <a:solidFill>
                  <a:srgbClr val="FFC000"/>
                </a:solidFill>
              </a:rPr>
              <a:t>How to evaluate time cost of an algorithm?</a:t>
            </a:r>
          </a:p>
          <a:p>
            <a:pPr marL="573088" lvl="1" indent="-231775">
              <a:lnSpc>
                <a:spcPct val="90000"/>
              </a:lnSpc>
              <a:buFontTx/>
              <a:buChar char="-"/>
            </a:pPr>
            <a:r>
              <a:rPr lang="en-US" b="1" dirty="0" smtClean="0"/>
              <a:t>Time cost can be estimated using </a:t>
            </a:r>
            <a:r>
              <a:rPr lang="en-US" b="1" dirty="0" smtClean="0">
                <a:solidFill>
                  <a:srgbClr val="FFFF00"/>
                </a:solidFill>
              </a:rPr>
              <a:t>complexity of an algorithm</a:t>
            </a:r>
          </a:p>
          <a:p>
            <a:pPr marL="573088" lvl="1" indent="-231775">
              <a:lnSpc>
                <a:spcPct val="90000"/>
              </a:lnSpc>
              <a:buFontTx/>
              <a:buChar char="-"/>
            </a:pPr>
            <a:r>
              <a:rPr lang="en-US" b="1" dirty="0" smtClean="0">
                <a:solidFill>
                  <a:srgbClr val="FFFF00"/>
                </a:solidFill>
              </a:rPr>
              <a:t>Complexity  = number of basic operations which must be performed </a:t>
            </a:r>
            <a:r>
              <a:rPr lang="en-US" b="1" dirty="0" smtClean="0">
                <a:sym typeface="Wingdings" pitchFamily="2" charset="2"/>
              </a:rPr>
              <a:t> It is </a:t>
            </a:r>
            <a:r>
              <a:rPr lang="en-US" b="1" dirty="0" smtClean="0"/>
              <a:t>a non-decreasing function of number of input (time function). </a:t>
            </a:r>
          </a:p>
          <a:p>
            <a:pPr marL="573088" lvl="1" indent="-231775">
              <a:lnSpc>
                <a:spcPct val="90000"/>
              </a:lnSpc>
              <a:buNone/>
            </a:pPr>
            <a:r>
              <a:rPr lang="en-US" b="1" dirty="0" smtClean="0"/>
              <a:t>-  A basic operation is considered as an execution unit.  It can be a comparison, an assignment, a basic math operations (+ - * /)</a:t>
            </a:r>
          </a:p>
          <a:p>
            <a:pPr marL="573088" lvl="1" indent="-231775">
              <a:lnSpc>
                <a:spcPct val="90000"/>
              </a:lnSpc>
              <a:buFontTx/>
              <a:buChar char="-"/>
            </a:pPr>
            <a:r>
              <a:rPr lang="en-US" b="1" dirty="0" smtClean="0">
                <a:solidFill>
                  <a:srgbClr val="FFFF00"/>
                </a:solidFill>
              </a:rPr>
              <a:t>Each basic operation is evaluated as an execution unit.</a:t>
            </a:r>
          </a:p>
          <a:p>
            <a:pPr marL="406400" lvl="1" indent="-6350">
              <a:lnSpc>
                <a:spcPct val="90000"/>
              </a:lnSpc>
              <a:buFontTx/>
              <a:buChar char="-"/>
            </a:pPr>
            <a:endParaRPr lang="en-US" sz="2000" dirty="0" smtClean="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16</a:t>
            </a:fld>
            <a:endParaRPr kumimoji="0" lang="en-US" dirty="0"/>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Choosing algorithms.</a:t>
            </a:r>
            <a:endParaRPr lang="en-US" sz="2600" b="1" dirty="0">
              <a:solidFill>
                <a:srgbClr val="FFC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17</a:t>
            </a:fld>
            <a:endParaRPr kumimoji="0" lang="en-US" dirty="0"/>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Finding Complexities in codes</a:t>
            </a:r>
            <a:endParaRPr lang="en-US" sz="2600" b="1" dirty="0">
              <a:solidFill>
                <a:srgbClr val="FFC000"/>
              </a:solidFill>
              <a:latin typeface="Times New Roman" pitchFamily="18" charset="0"/>
              <a:cs typeface="Times New Roman" pitchFamily="18" charset="0"/>
            </a:endParaRPr>
          </a:p>
        </p:txBody>
      </p:sp>
      <p:graphicFrame>
        <p:nvGraphicFramePr>
          <p:cNvPr id="8" name="Content Placeholder 7"/>
          <p:cNvGraphicFramePr>
            <a:graphicFrameLocks noGrp="1"/>
          </p:cNvGraphicFramePr>
          <p:nvPr>
            <p:ph idx="1"/>
          </p:nvPr>
        </p:nvGraphicFramePr>
        <p:xfrm>
          <a:off x="457200" y="1473200"/>
          <a:ext cx="8229600" cy="4851400"/>
        </p:xfrm>
        <a:graphic>
          <a:graphicData uri="http://schemas.openxmlformats.org/drawingml/2006/table">
            <a:tbl>
              <a:tblPr firstRow="1" bandRow="1">
                <a:tableStyleId>{5C22544A-7EE6-4342-B048-85BDC9FD1C3A}</a:tableStyleId>
              </a:tblPr>
              <a:tblGrid>
                <a:gridCol w="2895600"/>
                <a:gridCol w="2133600"/>
                <a:gridCol w="3200400"/>
              </a:tblGrid>
              <a:tr h="370840">
                <a:tc>
                  <a:txBody>
                    <a:bodyPr/>
                    <a:lstStyle/>
                    <a:p>
                      <a:r>
                        <a:rPr lang="en-US" dirty="0" smtClean="0">
                          <a:latin typeface="Times New Roman" pitchFamily="18" charset="0"/>
                          <a:cs typeface="Times New Roman" pitchFamily="18" charset="0"/>
                        </a:rPr>
                        <a:t>Code, integer n &gt; 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Basic operation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Complexity</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S=0;</a:t>
                      </a:r>
                    </a:p>
                    <a:p>
                      <a:r>
                        <a:rPr lang="en-US" dirty="0" smtClean="0">
                          <a:latin typeface="Times New Roman" pitchFamily="18" charset="0"/>
                          <a:cs typeface="Times New Roman" pitchFamily="18" charset="0"/>
                        </a:rPr>
                        <a:t>for (i=0; i&lt;n; i++) S+= i;</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Adding:</a:t>
                      </a:r>
                    </a:p>
                    <a:p>
                      <a:r>
                        <a:rPr lang="en-US" dirty="0" smtClean="0">
                          <a:latin typeface="Times New Roman" pitchFamily="18" charset="0"/>
                          <a:cs typeface="Times New Roman" pitchFamily="18" charset="0"/>
                        </a:rPr>
                        <a:t>     S = S + i;</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a:t>
                      </a:r>
                      <a:r>
                        <a:rPr lang="en-US" baseline="0" dirty="0" smtClean="0">
                          <a:latin typeface="Times New Roman" pitchFamily="18" charset="0"/>
                          <a:cs typeface="Times New Roman" pitchFamily="18" charset="0"/>
                        </a:rPr>
                        <a:t> = n</a:t>
                      </a:r>
                    </a:p>
                    <a:p>
                      <a:r>
                        <a:rPr lang="en-US" baseline="0" dirty="0" smtClean="0">
                          <a:latin typeface="Times New Roman" pitchFamily="18" charset="0"/>
                          <a:cs typeface="Times New Roman" pitchFamily="18" charset="0"/>
                        </a:rPr>
                        <a:t>n adding must be performed</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S= 0;</a:t>
                      </a:r>
                    </a:p>
                    <a:p>
                      <a:r>
                        <a:rPr lang="en-US" dirty="0" smtClean="0">
                          <a:latin typeface="Times New Roman" pitchFamily="18" charset="0"/>
                          <a:cs typeface="Times New Roman" pitchFamily="18" charset="0"/>
                        </a:rPr>
                        <a:t>for (i=0; i&lt;n; i++) </a:t>
                      </a:r>
                    </a:p>
                    <a:p>
                      <a:r>
                        <a:rPr lang="en-US" dirty="0" smtClean="0">
                          <a:latin typeface="Times New Roman" pitchFamily="18" charset="0"/>
                          <a:cs typeface="Times New Roman" pitchFamily="18" charset="0"/>
                        </a:rPr>
                        <a:t>    for (j=1; j&lt;=n; j*=2) </a:t>
                      </a:r>
                    </a:p>
                    <a:p>
                      <a:r>
                        <a:rPr lang="en-US" dirty="0" smtClean="0">
                          <a:latin typeface="Times New Roman" pitchFamily="18" charset="0"/>
                          <a:cs typeface="Times New Roman" pitchFamily="18" charset="0"/>
                        </a:rPr>
                        <a:t>          S += i*j;</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Adding:</a:t>
                      </a:r>
                    </a:p>
                    <a:p>
                      <a:r>
                        <a:rPr lang="en-US" dirty="0" smtClean="0">
                          <a:latin typeface="Times New Roman" pitchFamily="18" charset="0"/>
                          <a:cs typeface="Times New Roman" pitchFamily="18" charset="0"/>
                        </a:rPr>
                        <a:t>     S += i*j;</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T(n)</a:t>
                      </a:r>
                      <a:r>
                        <a:rPr lang="en-US" baseline="0" dirty="0" smtClean="0">
                          <a:latin typeface="Times New Roman" pitchFamily="18" charset="0"/>
                          <a:cs typeface="Times New Roman" pitchFamily="18" charset="0"/>
                        </a:rPr>
                        <a:t> = n* (floor(log</a:t>
                      </a:r>
                      <a:r>
                        <a:rPr lang="en-US" baseline="-25000" dirty="0" smtClean="0">
                          <a:latin typeface="Times New Roman" pitchFamily="18" charset="0"/>
                          <a:cs typeface="Times New Roman" pitchFamily="18" charset="0"/>
                        </a:rPr>
                        <a:t>2</a:t>
                      </a:r>
                      <a:r>
                        <a:rPr lang="en-US" baseline="0" dirty="0" smtClean="0">
                          <a:latin typeface="Times New Roman" pitchFamily="18" charset="0"/>
                          <a:cs typeface="Times New Roman" pitchFamily="18" charset="0"/>
                        </a:rPr>
                        <a:t>(n) )+ 1)</a:t>
                      </a:r>
                    </a:p>
                    <a:p>
                      <a:r>
                        <a:rPr lang="en-US" dirty="0" smtClean="0">
                          <a:latin typeface="Times New Roman" pitchFamily="18" charset="0"/>
                          <a:cs typeface="Times New Roman" pitchFamily="18" charset="0"/>
                        </a:rPr>
                        <a:t>Value</a:t>
                      </a:r>
                      <a:r>
                        <a:rPr lang="en-US" baseline="0" dirty="0" smtClean="0">
                          <a:latin typeface="Times New Roman" pitchFamily="18" charset="0"/>
                          <a:cs typeface="Times New Roman" pitchFamily="18" charset="0"/>
                        </a:rPr>
                        <a:t> of </a:t>
                      </a:r>
                      <a:r>
                        <a:rPr lang="en-US" baseline="0" dirty="0" err="1" smtClean="0">
                          <a:latin typeface="Times New Roman" pitchFamily="18" charset="0"/>
                          <a:cs typeface="Times New Roman" pitchFamily="18" charset="0"/>
                        </a:rPr>
                        <a:t>i</a:t>
                      </a:r>
                      <a:r>
                        <a:rPr lang="en-US" baseline="0" dirty="0" smtClean="0">
                          <a:latin typeface="Times New Roman" pitchFamily="18" charset="0"/>
                          <a:cs typeface="Times New Roman" pitchFamily="18" charset="0"/>
                        </a:rPr>
                        <a:t> changes n times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Value</a:t>
                      </a:r>
                      <a:r>
                        <a:rPr lang="en-US" baseline="0" dirty="0" smtClean="0">
                          <a:latin typeface="Times New Roman" pitchFamily="18" charset="0"/>
                          <a:cs typeface="Times New Roman" pitchFamily="18" charset="0"/>
                        </a:rPr>
                        <a:t> of j changes log</a:t>
                      </a:r>
                      <a:r>
                        <a:rPr lang="en-US" baseline="-25000" dirty="0" smtClean="0">
                          <a:latin typeface="Times New Roman" pitchFamily="18" charset="0"/>
                          <a:cs typeface="Times New Roman" pitchFamily="18" charset="0"/>
                        </a:rPr>
                        <a:t>2</a:t>
                      </a:r>
                      <a:r>
                        <a:rPr lang="en-US" baseline="0" dirty="0" smtClean="0">
                          <a:latin typeface="Times New Roman" pitchFamily="18" charset="0"/>
                          <a:cs typeface="Times New Roman" pitchFamily="18" charset="0"/>
                        </a:rPr>
                        <a:t>(n) times</a:t>
                      </a:r>
                    </a:p>
                    <a:p>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S= 0;</a:t>
                      </a:r>
                    </a:p>
                    <a:p>
                      <a:r>
                        <a:rPr lang="en-US" dirty="0" smtClean="0">
                          <a:latin typeface="Times New Roman" pitchFamily="18" charset="0"/>
                          <a:cs typeface="Times New Roman" pitchFamily="18" charset="0"/>
                        </a:rPr>
                        <a:t>for (i=0; i&lt;n; i++) </a:t>
                      </a:r>
                    </a:p>
                    <a:p>
                      <a:r>
                        <a:rPr lang="en-US" dirty="0" smtClean="0">
                          <a:latin typeface="Times New Roman" pitchFamily="18" charset="0"/>
                          <a:cs typeface="Times New Roman" pitchFamily="18" charset="0"/>
                        </a:rPr>
                        <a:t>    for (j=1; j&lt;n; j+=5) </a:t>
                      </a:r>
                    </a:p>
                    <a:p>
                      <a:r>
                        <a:rPr lang="en-US" dirty="0" smtClean="0">
                          <a:latin typeface="Times New Roman" pitchFamily="18" charset="0"/>
                          <a:cs typeface="Times New Roman" pitchFamily="18" charset="0"/>
                        </a:rPr>
                        <a:t>          S += i*j;</a:t>
                      </a:r>
                    </a:p>
                  </a:txBody>
                  <a:tcPr/>
                </a:tc>
                <a:tc>
                  <a:txBody>
                    <a:bodyPr/>
                    <a:lstStyle/>
                    <a:p>
                      <a:r>
                        <a:rPr lang="en-US" dirty="0" smtClean="0">
                          <a:latin typeface="Times New Roman" pitchFamily="18" charset="0"/>
                          <a:cs typeface="Times New Roman" pitchFamily="18" charset="0"/>
                        </a:rPr>
                        <a:t>Adding</a:t>
                      </a:r>
                    </a:p>
                    <a:p>
                      <a:r>
                        <a:rPr lang="en-US" dirty="0" smtClean="0">
                          <a:latin typeface="Times New Roman" pitchFamily="18" charset="0"/>
                          <a:cs typeface="Times New Roman" pitchFamily="18" charset="0"/>
                        </a:rPr>
                        <a:t>S += i*j;</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latin typeface="Times New Roman" pitchFamily="18" charset="0"/>
                          <a:cs typeface="Times New Roman" pitchFamily="18" charset="0"/>
                        </a:rPr>
                        <a:t>T(n</a:t>
                      </a:r>
                      <a:r>
                        <a:rPr lang="en-US" dirty="0" smtClean="0">
                          <a:latin typeface="Times New Roman" pitchFamily="18" charset="0"/>
                          <a:cs typeface="Times New Roman" pitchFamily="18" charset="0"/>
                        </a:rPr>
                        <a:t>)</a:t>
                      </a:r>
                      <a:r>
                        <a:rPr lang="en-US" baseline="0" dirty="0" smtClean="0">
                          <a:latin typeface="Times New Roman" pitchFamily="18" charset="0"/>
                          <a:cs typeface="Times New Roman" pitchFamily="18" charset="0"/>
                        </a:rPr>
                        <a:t> = n* (ceil(n/5 ))</a:t>
                      </a:r>
                    </a:p>
                    <a:p>
                      <a:r>
                        <a:rPr lang="en-US" dirty="0" smtClean="0">
                          <a:latin typeface="Times New Roman" pitchFamily="18" charset="0"/>
                          <a:cs typeface="Times New Roman" pitchFamily="18" charset="0"/>
                        </a:rPr>
                        <a:t>Value</a:t>
                      </a:r>
                      <a:r>
                        <a:rPr lang="en-US" baseline="0" dirty="0" smtClean="0">
                          <a:latin typeface="Times New Roman" pitchFamily="18" charset="0"/>
                          <a:cs typeface="Times New Roman" pitchFamily="18" charset="0"/>
                        </a:rPr>
                        <a:t> of </a:t>
                      </a:r>
                      <a:r>
                        <a:rPr lang="en-US" baseline="0" dirty="0" err="1" smtClean="0">
                          <a:latin typeface="Times New Roman" pitchFamily="18" charset="0"/>
                          <a:cs typeface="Times New Roman" pitchFamily="18" charset="0"/>
                        </a:rPr>
                        <a:t>i</a:t>
                      </a:r>
                      <a:r>
                        <a:rPr lang="en-US" baseline="0" dirty="0" smtClean="0">
                          <a:latin typeface="Times New Roman" pitchFamily="18" charset="0"/>
                          <a:cs typeface="Times New Roman" pitchFamily="18" charset="0"/>
                        </a:rPr>
                        <a:t> changes n times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Value</a:t>
                      </a:r>
                      <a:r>
                        <a:rPr lang="en-US" baseline="0" dirty="0" smtClean="0">
                          <a:latin typeface="Times New Roman" pitchFamily="18" charset="0"/>
                          <a:cs typeface="Times New Roman" pitchFamily="18" charset="0"/>
                        </a:rPr>
                        <a:t> of j changes ceil(n/5) times.</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S= 0;</a:t>
                      </a:r>
                    </a:p>
                    <a:p>
                      <a:r>
                        <a:rPr lang="en-US" dirty="0" smtClean="0">
                          <a:latin typeface="Times New Roman" pitchFamily="18" charset="0"/>
                          <a:cs typeface="Times New Roman" pitchFamily="18" charset="0"/>
                        </a:rPr>
                        <a:t>for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=0;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&lt;n;</a:t>
                      </a:r>
                      <a:r>
                        <a:rPr lang="en-US" baseline="0" dirty="0" smtClean="0">
                          <a:latin typeface="Times New Roman" pitchFamily="18" charset="0"/>
                          <a:cs typeface="Times New Roman" pitchFamily="18" charset="0"/>
                        </a:rPr>
                        <a:t> </a:t>
                      </a:r>
                      <a:r>
                        <a:rPr lang="en-US" baseline="0" dirty="0" err="1" smtClean="0">
                          <a:latin typeface="Times New Roman" pitchFamily="18" charset="0"/>
                          <a:cs typeface="Times New Roman" pitchFamily="18" charset="0"/>
                        </a:rPr>
                        <a:t>i</a:t>
                      </a:r>
                      <a:r>
                        <a:rPr lang="en-US" baseline="0"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for (j=1; j&lt;=n; j+=5) </a:t>
                      </a:r>
                    </a:p>
                    <a:p>
                      <a:r>
                        <a:rPr lang="en-US" dirty="0" smtClean="0">
                          <a:latin typeface="Times New Roman" pitchFamily="18" charset="0"/>
                          <a:cs typeface="Times New Roman" pitchFamily="18" charset="0"/>
                        </a:rPr>
                        <a:t>         for (k=1; k&lt;=n; k*=2) </a:t>
                      </a:r>
                    </a:p>
                    <a:p>
                      <a:r>
                        <a:rPr lang="en-US" dirty="0" smtClean="0">
                          <a:latin typeface="Times New Roman" pitchFamily="18" charset="0"/>
                          <a:cs typeface="Times New Roman" pitchFamily="18" charset="0"/>
                        </a:rPr>
                        <a:t>                  S +=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*j-k;</a:t>
                      </a:r>
                      <a:endParaRPr lang="en-US" baseline="0" dirty="0" smtClean="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Adding:</a:t>
                      </a:r>
                    </a:p>
                    <a:p>
                      <a:r>
                        <a:rPr lang="en-US" dirty="0" smtClean="0">
                          <a:latin typeface="Times New Roman" pitchFamily="18" charset="0"/>
                          <a:cs typeface="Times New Roman" pitchFamily="18" charset="0"/>
                        </a:rPr>
                        <a:t>      S +=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*j-k;</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Do yourself</a:t>
                      </a:r>
                      <a:endParaRPr lang="en-US"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18</a:t>
            </a:fld>
            <a:endParaRPr kumimoji="0" lang="en-US" dirty="0"/>
          </a:p>
        </p:txBody>
      </p:sp>
      <p:sp>
        <p:nvSpPr>
          <p:cNvPr id="6" name="TextBox 5"/>
          <p:cNvSpPr txBox="1"/>
          <p:nvPr/>
        </p:nvSpPr>
        <p:spPr>
          <a:xfrm>
            <a:off x="457200" y="838200"/>
            <a:ext cx="76962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The worst, the best and the average cases.</a:t>
            </a:r>
            <a:endParaRPr lang="en-US" sz="2600" b="1" dirty="0">
              <a:solidFill>
                <a:srgbClr val="FFC000"/>
              </a:solidFill>
              <a:latin typeface="Times New Roman" pitchFamily="18" charset="0"/>
              <a:cs typeface="Times New Roman" pitchFamily="18" charset="0"/>
            </a:endParaRPr>
          </a:p>
        </p:txBody>
      </p:sp>
      <p:sp>
        <p:nvSpPr>
          <p:cNvPr id="7" name="Content Placeholder 6"/>
          <p:cNvSpPr>
            <a:spLocks noGrp="1"/>
          </p:cNvSpPr>
          <p:nvPr>
            <p:ph idx="1"/>
          </p:nvPr>
        </p:nvSpPr>
        <p:spPr>
          <a:xfrm>
            <a:off x="457200" y="1447800"/>
            <a:ext cx="8229600" cy="2133600"/>
          </a:xfrm>
        </p:spPr>
        <p:txBody>
          <a:bodyPr>
            <a:normAutofit/>
          </a:bodyPr>
          <a:lstStyle/>
          <a:p>
            <a:r>
              <a:rPr lang="en-US" dirty="0" smtClean="0">
                <a:latin typeface="Times New Roman" pitchFamily="18" charset="0"/>
                <a:cs typeface="Times New Roman" pitchFamily="18" charset="0"/>
              </a:rPr>
              <a:t>In practice, time function of an algorithm depends on input properties. Consider the comparison x==a[i] in a searching algorithm on an array:</a:t>
            </a:r>
          </a:p>
        </p:txBody>
      </p:sp>
      <p:graphicFrame>
        <p:nvGraphicFramePr>
          <p:cNvPr id="8" name="Table 7"/>
          <p:cNvGraphicFramePr>
            <a:graphicFrameLocks noGrp="1"/>
          </p:cNvGraphicFramePr>
          <p:nvPr/>
        </p:nvGraphicFramePr>
        <p:xfrm>
          <a:off x="3733800" y="2458720"/>
          <a:ext cx="5105400" cy="741680"/>
        </p:xfrm>
        <a:graphic>
          <a:graphicData uri="http://schemas.openxmlformats.org/drawingml/2006/table">
            <a:tbl>
              <a:tblPr firstRow="1" bandRow="1">
                <a:tableStyleId>{5C22544A-7EE6-4342-B048-85BDC9FD1C3A}</a:tableStyleId>
              </a:tblPr>
              <a:tblGrid>
                <a:gridCol w="638175"/>
                <a:gridCol w="638175"/>
                <a:gridCol w="638175"/>
                <a:gridCol w="638175"/>
                <a:gridCol w="638175"/>
                <a:gridCol w="638175"/>
                <a:gridCol w="638175"/>
                <a:gridCol w="638175"/>
              </a:tblGrid>
              <a:tr h="370840">
                <a:tc>
                  <a:txBody>
                    <a:bodyPr/>
                    <a:lstStyle/>
                    <a:p>
                      <a:r>
                        <a:rPr lang="en-US" dirty="0" smtClean="0"/>
                        <a:t>i</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a:t>
                      </a:r>
                      <a:endParaRPr lang="en-US" dirty="0"/>
                    </a:p>
                  </a:txBody>
                  <a:tcPr/>
                </a:tc>
                <a:tc>
                  <a:txBody>
                    <a:bodyPr/>
                    <a:lstStyle/>
                    <a:p>
                      <a:r>
                        <a:rPr lang="en-US" dirty="0" smtClean="0"/>
                        <a:t>n-1</a:t>
                      </a:r>
                      <a:endParaRPr lang="en-US" dirty="0"/>
                    </a:p>
                  </a:txBody>
                  <a:tcPr/>
                </a:tc>
              </a:tr>
              <a:tr h="370840">
                <a:tc>
                  <a:txBody>
                    <a:bodyPr/>
                    <a:lstStyle/>
                    <a:p>
                      <a:r>
                        <a:rPr lang="en-US" dirty="0" smtClean="0"/>
                        <a:t>a[i]</a:t>
                      </a:r>
                      <a:endParaRPr lang="en-US" dirty="0"/>
                    </a:p>
                  </a:txBody>
                  <a:tcPr/>
                </a:tc>
                <a:tc>
                  <a:txBody>
                    <a:bodyPr/>
                    <a:lstStyle/>
                    <a:p>
                      <a:r>
                        <a:rPr lang="en-US" dirty="0" smtClean="0"/>
                        <a:t>5</a:t>
                      </a:r>
                      <a:endParaRPr lang="en-US" dirty="0"/>
                    </a:p>
                  </a:txBody>
                  <a:tcPr/>
                </a:tc>
                <a:tc>
                  <a:txBody>
                    <a:bodyPr/>
                    <a:lstStyle/>
                    <a:p>
                      <a:r>
                        <a:rPr lang="en-US" dirty="0" smtClean="0"/>
                        <a:t>2</a:t>
                      </a:r>
                      <a:endParaRPr lang="en-US" dirty="0"/>
                    </a:p>
                  </a:txBody>
                  <a:tcPr/>
                </a:tc>
                <a:tc>
                  <a:txBody>
                    <a:bodyPr/>
                    <a:lstStyle/>
                    <a:p>
                      <a:r>
                        <a:rPr lang="en-US" dirty="0" smtClean="0"/>
                        <a:t>1</a:t>
                      </a:r>
                      <a:endParaRPr lang="en-US" dirty="0"/>
                    </a:p>
                  </a:txBody>
                  <a:tcPr/>
                </a:tc>
                <a:tc>
                  <a:txBody>
                    <a:bodyPr/>
                    <a:lstStyle/>
                    <a:p>
                      <a:r>
                        <a:rPr lang="en-US" dirty="0" smtClean="0"/>
                        <a:t>6</a:t>
                      </a:r>
                      <a:endParaRPr lang="en-US" dirty="0"/>
                    </a:p>
                  </a:txBody>
                  <a:tcPr/>
                </a:tc>
                <a:tc>
                  <a:txBody>
                    <a:bodyPr/>
                    <a:lstStyle/>
                    <a:p>
                      <a:r>
                        <a:rPr lang="en-US" dirty="0" smtClean="0"/>
                        <a:t>4</a:t>
                      </a:r>
                      <a:endParaRPr lang="en-US" dirty="0"/>
                    </a:p>
                  </a:txBody>
                  <a:tcPr/>
                </a:tc>
                <a:tc>
                  <a:txBody>
                    <a:bodyPr/>
                    <a:lstStyle/>
                    <a:p>
                      <a:r>
                        <a:rPr lang="en-US" dirty="0" smtClean="0"/>
                        <a:t>…</a:t>
                      </a:r>
                      <a:endParaRPr lang="en-US" dirty="0"/>
                    </a:p>
                  </a:txBody>
                  <a:tcPr/>
                </a:tc>
                <a:tc>
                  <a:txBody>
                    <a:bodyPr/>
                    <a:lstStyle/>
                    <a:p>
                      <a:r>
                        <a:rPr lang="en-US" dirty="0" smtClean="0"/>
                        <a:t>20</a:t>
                      </a:r>
                      <a:endParaRPr lang="en-US" dirty="0"/>
                    </a:p>
                  </a:txBody>
                  <a:tcPr/>
                </a:tc>
              </a:tr>
            </a:tbl>
          </a:graphicData>
        </a:graphic>
      </p:graphicFrame>
      <p:graphicFrame>
        <p:nvGraphicFramePr>
          <p:cNvPr id="9" name="Table 8"/>
          <p:cNvGraphicFramePr>
            <a:graphicFrameLocks noGrp="1"/>
          </p:cNvGraphicFramePr>
          <p:nvPr/>
        </p:nvGraphicFramePr>
        <p:xfrm>
          <a:off x="914400" y="3352800"/>
          <a:ext cx="7848600" cy="2966720"/>
        </p:xfrm>
        <a:graphic>
          <a:graphicData uri="http://schemas.openxmlformats.org/drawingml/2006/table">
            <a:tbl>
              <a:tblPr firstRow="1" bandRow="1">
                <a:tableStyleId>{5C22544A-7EE6-4342-B048-85BDC9FD1C3A}</a:tableStyleId>
              </a:tblPr>
              <a:tblGrid>
                <a:gridCol w="2739606"/>
                <a:gridCol w="1702998"/>
                <a:gridCol w="1808493"/>
                <a:gridCol w="1597503"/>
              </a:tblGrid>
              <a:tr h="370840">
                <a:tc>
                  <a:txBody>
                    <a:bodyPr/>
                    <a:lstStyle/>
                    <a:p>
                      <a:pPr algn="r"/>
                      <a:r>
                        <a:rPr lang="en-US" dirty="0" smtClean="0"/>
                        <a:t>x</a:t>
                      </a:r>
                      <a:endParaRPr lang="en-US" dirty="0"/>
                    </a:p>
                  </a:txBody>
                  <a:tcPr/>
                </a:tc>
                <a:tc>
                  <a:txBody>
                    <a:bodyPr/>
                    <a:lstStyle/>
                    <a:p>
                      <a:r>
                        <a:rPr lang="en-US" baseline="0" dirty="0" smtClean="0"/>
                        <a:t>Comparisons</a:t>
                      </a:r>
                      <a:endParaRPr lang="en-US" dirty="0"/>
                    </a:p>
                  </a:txBody>
                  <a:tcPr/>
                </a:tc>
                <a:tc>
                  <a:txBody>
                    <a:bodyPr/>
                    <a:lstStyle/>
                    <a:p>
                      <a:r>
                        <a:rPr lang="en-US" dirty="0" smtClean="0"/>
                        <a:t>Evaluation</a:t>
                      </a:r>
                      <a:endParaRPr lang="en-US" dirty="0"/>
                    </a:p>
                  </a:txBody>
                  <a:tcPr/>
                </a:tc>
                <a:tc>
                  <a:txBody>
                    <a:bodyPr/>
                    <a:lstStyle/>
                    <a:p>
                      <a:r>
                        <a:rPr lang="en-US" dirty="0" smtClean="0"/>
                        <a:t>Complexity</a:t>
                      </a:r>
                      <a:endParaRPr lang="en-US" dirty="0"/>
                    </a:p>
                  </a:txBody>
                  <a:tcPr/>
                </a:tc>
              </a:tr>
              <a:tr h="370840">
                <a:tc>
                  <a:txBody>
                    <a:bodyPr/>
                    <a:lstStyle/>
                    <a:p>
                      <a:pPr algn="r"/>
                      <a:r>
                        <a:rPr lang="en-US" dirty="0" smtClean="0"/>
                        <a:t>5</a:t>
                      </a:r>
                      <a:endParaRPr lang="en-US" dirty="0"/>
                    </a:p>
                  </a:txBody>
                  <a:tcPr/>
                </a:tc>
                <a:tc>
                  <a:txBody>
                    <a:bodyPr/>
                    <a:lstStyle/>
                    <a:p>
                      <a:pPr algn="r"/>
                      <a:r>
                        <a:rPr lang="en-US" dirty="0" smtClean="0"/>
                        <a:t>1</a:t>
                      </a:r>
                      <a:endParaRPr lang="en-US" dirty="0"/>
                    </a:p>
                  </a:txBody>
                  <a:tcPr/>
                </a:tc>
                <a:tc>
                  <a:txBody>
                    <a:bodyPr/>
                    <a:lstStyle/>
                    <a:p>
                      <a:r>
                        <a:rPr lang="en-US" b="1" dirty="0" smtClean="0"/>
                        <a:t>The best case</a:t>
                      </a:r>
                      <a:endParaRPr lang="en-US" b="1" dirty="0"/>
                    </a:p>
                  </a:txBody>
                  <a:tcPr/>
                </a:tc>
                <a:tc>
                  <a:txBody>
                    <a:bodyPr/>
                    <a:lstStyle/>
                    <a:p>
                      <a:r>
                        <a:rPr lang="en-US" dirty="0" smtClean="0"/>
                        <a:t>t(n) = 0*n + 1</a:t>
                      </a:r>
                      <a:endParaRPr lang="en-US" dirty="0"/>
                    </a:p>
                  </a:txBody>
                  <a:tcPr/>
                </a:tc>
              </a:tr>
              <a:tr h="370840">
                <a:tc>
                  <a:txBody>
                    <a:bodyPr/>
                    <a:lstStyle/>
                    <a:p>
                      <a:pPr algn="r"/>
                      <a:r>
                        <a:rPr lang="en-US" dirty="0" smtClean="0"/>
                        <a:t>2</a:t>
                      </a:r>
                      <a:endParaRPr lang="en-US" dirty="0"/>
                    </a:p>
                  </a:txBody>
                  <a:tcPr/>
                </a:tc>
                <a:tc>
                  <a:txBody>
                    <a:bodyPr/>
                    <a:lstStyle/>
                    <a:p>
                      <a:pPr algn="r"/>
                      <a:r>
                        <a:rPr lang="en-US" dirty="0" smtClean="0"/>
                        <a:t>2</a:t>
                      </a:r>
                      <a:endParaRPr lang="en-US" dirty="0"/>
                    </a:p>
                  </a:txBody>
                  <a:tcPr/>
                </a:tc>
                <a:tc>
                  <a:txBody>
                    <a:bodyPr/>
                    <a:lstStyle/>
                    <a:p>
                      <a:endParaRPr lang="en-US" dirty="0"/>
                    </a:p>
                  </a:txBody>
                  <a:tcPr/>
                </a:tc>
                <a:tc>
                  <a:txBody>
                    <a:bodyPr/>
                    <a:lstStyle/>
                    <a:p>
                      <a:r>
                        <a:rPr lang="en-US" dirty="0" smtClean="0"/>
                        <a:t>t(n) = 0*n + 2</a:t>
                      </a:r>
                      <a:endParaRPr lang="en-US" dirty="0"/>
                    </a:p>
                  </a:txBody>
                  <a:tcPr/>
                </a:tc>
              </a:tr>
              <a:tr h="370840">
                <a:tc>
                  <a:txBody>
                    <a:bodyPr/>
                    <a:lstStyle/>
                    <a:p>
                      <a:pPr algn="r"/>
                      <a:r>
                        <a:rPr lang="en-US" dirty="0" smtClean="0"/>
                        <a:t>1</a:t>
                      </a:r>
                      <a:endParaRPr lang="en-US" dirty="0"/>
                    </a:p>
                  </a:txBody>
                  <a:tcPr/>
                </a:tc>
                <a:tc>
                  <a:txBody>
                    <a:bodyPr/>
                    <a:lstStyle/>
                    <a:p>
                      <a:pPr algn="r"/>
                      <a:r>
                        <a:rPr lang="en-US" dirty="0" smtClean="0"/>
                        <a:t>3</a:t>
                      </a:r>
                      <a:endParaRPr lang="en-US" dirty="0"/>
                    </a:p>
                  </a:txBody>
                  <a:tcPr/>
                </a:tc>
                <a:tc>
                  <a:txBody>
                    <a:bodyPr/>
                    <a:lstStyle/>
                    <a:p>
                      <a:endParaRPr lang="en-US" dirty="0"/>
                    </a:p>
                  </a:txBody>
                  <a:tcPr/>
                </a:tc>
                <a:tc>
                  <a:txBody>
                    <a:bodyPr/>
                    <a:lstStyle/>
                    <a:p>
                      <a:endParaRPr lang="en-US" dirty="0"/>
                    </a:p>
                  </a:txBody>
                  <a:tcPr/>
                </a:tc>
              </a:tr>
              <a:tr h="370840">
                <a:tc>
                  <a:txBody>
                    <a:bodyPr/>
                    <a:lstStyle/>
                    <a:p>
                      <a:pPr algn="r"/>
                      <a:r>
                        <a:rPr lang="en-US" dirty="0" smtClean="0"/>
                        <a:t>…</a:t>
                      </a:r>
                      <a:endParaRPr lang="en-US" dirty="0"/>
                    </a:p>
                  </a:txBody>
                  <a:tcPr/>
                </a:tc>
                <a:tc>
                  <a:txBody>
                    <a:bodyPr/>
                    <a:lstStyle/>
                    <a:p>
                      <a:pPr algn="r"/>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pPr algn="r"/>
                      <a:r>
                        <a:rPr lang="en-US" dirty="0" smtClean="0"/>
                        <a:t>20 or a non-existed value</a:t>
                      </a:r>
                      <a:endParaRPr lang="en-US" dirty="0"/>
                    </a:p>
                  </a:txBody>
                  <a:tcPr/>
                </a:tc>
                <a:tc>
                  <a:txBody>
                    <a:bodyPr/>
                    <a:lstStyle/>
                    <a:p>
                      <a:pPr algn="r"/>
                      <a:r>
                        <a:rPr lang="en-US" dirty="0" smtClean="0"/>
                        <a:t>n</a:t>
                      </a:r>
                      <a:endParaRPr lang="en-US" dirty="0"/>
                    </a:p>
                  </a:txBody>
                  <a:tcPr/>
                </a:tc>
                <a:tc>
                  <a:txBody>
                    <a:bodyPr/>
                    <a:lstStyle/>
                    <a:p>
                      <a:r>
                        <a:rPr lang="en-US" b="1" dirty="0" smtClean="0"/>
                        <a:t>The worst case</a:t>
                      </a:r>
                      <a:endParaRPr lang="en-US" b="1" dirty="0"/>
                    </a:p>
                  </a:txBody>
                  <a:tcPr/>
                </a:tc>
                <a:tc>
                  <a:txBody>
                    <a:bodyPr/>
                    <a:lstStyle/>
                    <a:p>
                      <a:r>
                        <a:rPr lang="en-US" b="1" dirty="0" smtClean="0"/>
                        <a:t>t(n) = n</a:t>
                      </a:r>
                      <a:endParaRPr lang="en-US" b="1" dirty="0"/>
                    </a:p>
                  </a:txBody>
                  <a:tcPr/>
                </a:tc>
              </a:tr>
              <a:tr h="370840">
                <a:tc>
                  <a:txBody>
                    <a:bodyPr/>
                    <a:lstStyle/>
                    <a:p>
                      <a:pPr algn="r"/>
                      <a:r>
                        <a:rPr lang="en-US" dirty="0" smtClean="0"/>
                        <a:t>Sum</a:t>
                      </a:r>
                      <a:endParaRPr lang="en-US" dirty="0"/>
                    </a:p>
                  </a:txBody>
                  <a:tcPr/>
                </a:tc>
                <a:tc>
                  <a:txBody>
                    <a:bodyPr/>
                    <a:lstStyle/>
                    <a:p>
                      <a:pPr algn="r"/>
                      <a:r>
                        <a:rPr lang="en-US" dirty="0" smtClean="0"/>
                        <a:t>(n+1)*(n/2)</a:t>
                      </a:r>
                      <a:endParaRPr lang="en-US" dirty="0"/>
                    </a:p>
                  </a:txBody>
                  <a:tcPr/>
                </a:tc>
                <a:tc>
                  <a:txBody>
                    <a:bodyPr/>
                    <a:lstStyle/>
                    <a:p>
                      <a:endParaRPr lang="en-US" dirty="0"/>
                    </a:p>
                  </a:txBody>
                  <a:tcPr/>
                </a:tc>
                <a:tc>
                  <a:txBody>
                    <a:bodyPr/>
                    <a:lstStyle/>
                    <a:p>
                      <a:endParaRPr lang="en-US" dirty="0"/>
                    </a:p>
                  </a:txBody>
                  <a:tcPr/>
                </a:tc>
              </a:tr>
              <a:tr h="370840">
                <a:tc>
                  <a:txBody>
                    <a:bodyPr/>
                    <a:lstStyle/>
                    <a:p>
                      <a:pPr algn="r"/>
                      <a:r>
                        <a:rPr lang="en-US" dirty="0" smtClean="0"/>
                        <a:t>Avg.</a:t>
                      </a:r>
                      <a:endParaRPr lang="en-US" dirty="0"/>
                    </a:p>
                  </a:txBody>
                  <a:tcPr/>
                </a:tc>
                <a:tc>
                  <a:txBody>
                    <a:bodyPr/>
                    <a:lstStyle/>
                    <a:p>
                      <a:pPr algn="r"/>
                      <a:r>
                        <a:rPr lang="en-US" dirty="0" smtClean="0"/>
                        <a:t>(n+1)/2</a:t>
                      </a:r>
                      <a:endParaRPr lang="en-US" dirty="0"/>
                    </a:p>
                  </a:txBody>
                  <a:tcPr/>
                </a:tc>
                <a:tc>
                  <a:txBody>
                    <a:bodyPr/>
                    <a:lstStyle/>
                    <a:p>
                      <a:r>
                        <a:rPr lang="en-US" b="1" dirty="0" smtClean="0"/>
                        <a:t>Average case</a:t>
                      </a:r>
                      <a:endParaRPr lang="en-US" b="1" dirty="0"/>
                    </a:p>
                  </a:txBody>
                  <a:tcPr/>
                </a:tc>
                <a:tc>
                  <a:txBody>
                    <a:bodyPr/>
                    <a:lstStyle/>
                    <a:p>
                      <a:r>
                        <a:rPr lang="en-US" b="1" dirty="0" smtClean="0"/>
                        <a:t>t(n) = (n+1)/2</a:t>
                      </a:r>
                      <a:endParaRPr lang="en-US" b="1" dirty="0"/>
                    </a:p>
                  </a:txBody>
                  <a:tcPr/>
                </a:tc>
              </a:tr>
            </a:tbl>
          </a:graphicData>
        </a:graphic>
      </p:graphicFrame>
      <p:sp>
        <p:nvSpPr>
          <p:cNvPr id="10" name="Rectangle 9"/>
          <p:cNvSpPr/>
          <p:nvPr/>
        </p:nvSpPr>
        <p:spPr>
          <a:xfrm>
            <a:off x="304800" y="2743200"/>
            <a:ext cx="2819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latin typeface="Times New Roman" pitchFamily="18" charset="0"/>
                <a:cs typeface="Times New Roman" pitchFamily="18" charset="0"/>
              </a:rPr>
              <a:t>for ( i=0; i&lt;n; i++)</a:t>
            </a:r>
          </a:p>
          <a:p>
            <a:pPr>
              <a:buNone/>
            </a:pPr>
            <a:r>
              <a:rPr lang="en-US" dirty="0" smtClean="0">
                <a:latin typeface="Times New Roman" pitchFamily="18" charset="0"/>
                <a:cs typeface="Times New Roman" pitchFamily="18" charset="0"/>
              </a:rPr>
              <a:t>       if (x==a[i]) return i;</a:t>
            </a:r>
          </a:p>
          <a:p>
            <a:pPr>
              <a:buNone/>
            </a:pPr>
            <a:r>
              <a:rPr lang="en-US" dirty="0" smtClean="0">
                <a:latin typeface="Times New Roman" pitchFamily="18" charset="0"/>
                <a:cs typeface="Times New Roman" pitchFamily="18" charset="0"/>
              </a:rPr>
              <a:t>return -1; </a:t>
            </a:r>
            <a:endParaRPr lang="en-US" dirty="0"/>
          </a:p>
        </p:txBody>
      </p:sp>
      <p:sp>
        <p:nvSpPr>
          <p:cNvPr id="11" name="Rectangle 10"/>
          <p:cNvSpPr/>
          <p:nvPr/>
        </p:nvSpPr>
        <p:spPr>
          <a:xfrm>
            <a:off x="304800" y="3886200"/>
            <a:ext cx="2819400" cy="838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The worst case is usually concerned.</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19</a:t>
            </a:fld>
            <a:endParaRPr kumimoji="0" lang="en-US" dirty="0"/>
          </a:p>
        </p:txBody>
      </p:sp>
      <p:sp>
        <p:nvSpPr>
          <p:cNvPr id="6" name="TextBox 5"/>
          <p:cNvSpPr txBox="1"/>
          <p:nvPr/>
        </p:nvSpPr>
        <p:spPr>
          <a:xfrm>
            <a:off x="457200" y="838200"/>
            <a:ext cx="8534400" cy="954107"/>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The average case of linear searching in a sorted array having the result of failure.</a:t>
            </a:r>
            <a:endParaRPr lang="en-US" sz="2600" b="1" dirty="0">
              <a:solidFill>
                <a:srgbClr val="FFC000"/>
              </a:solidFill>
              <a:latin typeface="Times New Roman" pitchFamily="18" charset="0"/>
              <a:cs typeface="Times New Roman" pitchFamily="18" charset="0"/>
            </a:endParaRPr>
          </a:p>
        </p:txBody>
      </p:sp>
      <p:graphicFrame>
        <p:nvGraphicFramePr>
          <p:cNvPr id="8" name="Table 7"/>
          <p:cNvGraphicFramePr>
            <a:graphicFrameLocks noGrp="1"/>
          </p:cNvGraphicFramePr>
          <p:nvPr/>
        </p:nvGraphicFramePr>
        <p:xfrm>
          <a:off x="3733800" y="2159000"/>
          <a:ext cx="5105400" cy="741680"/>
        </p:xfrm>
        <a:graphic>
          <a:graphicData uri="http://schemas.openxmlformats.org/drawingml/2006/table">
            <a:tbl>
              <a:tblPr firstRow="1" bandRow="1">
                <a:tableStyleId>{5C22544A-7EE6-4342-B048-85BDC9FD1C3A}</a:tableStyleId>
              </a:tblPr>
              <a:tblGrid>
                <a:gridCol w="638175"/>
                <a:gridCol w="638175"/>
                <a:gridCol w="638175"/>
                <a:gridCol w="638175"/>
                <a:gridCol w="638175"/>
                <a:gridCol w="638175"/>
                <a:gridCol w="638175"/>
                <a:gridCol w="638175"/>
              </a:tblGrid>
              <a:tr h="370840">
                <a:tc>
                  <a:txBody>
                    <a:bodyPr/>
                    <a:lstStyle/>
                    <a:p>
                      <a:r>
                        <a:rPr lang="en-US" dirty="0" smtClean="0"/>
                        <a:t>i</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c>
                  <a:txBody>
                    <a:bodyPr/>
                    <a:lstStyle/>
                    <a:p>
                      <a:r>
                        <a:rPr lang="en-US" dirty="0" smtClean="0"/>
                        <a:t>…</a:t>
                      </a:r>
                      <a:endParaRPr lang="en-US" dirty="0"/>
                    </a:p>
                  </a:txBody>
                  <a:tcPr/>
                </a:tc>
                <a:tc>
                  <a:txBody>
                    <a:bodyPr/>
                    <a:lstStyle/>
                    <a:p>
                      <a:r>
                        <a:rPr lang="en-US" dirty="0" smtClean="0"/>
                        <a:t>n-1</a:t>
                      </a:r>
                      <a:endParaRPr lang="en-US" dirty="0"/>
                    </a:p>
                  </a:txBody>
                  <a:tcPr/>
                </a:tc>
              </a:tr>
              <a:tr h="370840">
                <a:tc>
                  <a:txBody>
                    <a:bodyPr/>
                    <a:lstStyle/>
                    <a:p>
                      <a:r>
                        <a:rPr lang="en-US" dirty="0" smtClean="0"/>
                        <a:t>a[i]</a:t>
                      </a:r>
                      <a:endParaRPr lang="en-US" dirty="0"/>
                    </a:p>
                  </a:txBody>
                  <a:tcPr/>
                </a:tc>
                <a:tc>
                  <a:txBody>
                    <a:bodyPr/>
                    <a:lstStyle/>
                    <a:p>
                      <a:r>
                        <a:rPr lang="en-US" dirty="0" smtClean="0"/>
                        <a:t>1</a:t>
                      </a:r>
                      <a:endParaRPr lang="en-US" dirty="0"/>
                    </a:p>
                  </a:txBody>
                  <a:tcPr/>
                </a:tc>
                <a:tc>
                  <a:txBody>
                    <a:bodyPr/>
                    <a:lstStyle/>
                    <a:p>
                      <a:r>
                        <a:rPr lang="en-US" dirty="0" smtClean="0"/>
                        <a:t>3</a:t>
                      </a:r>
                      <a:endParaRPr lang="en-US" dirty="0"/>
                    </a:p>
                  </a:txBody>
                  <a:tcPr/>
                </a:tc>
                <a:tc>
                  <a:txBody>
                    <a:bodyPr/>
                    <a:lstStyle/>
                    <a:p>
                      <a:r>
                        <a:rPr lang="en-US" dirty="0" smtClean="0"/>
                        <a:t>5</a:t>
                      </a:r>
                      <a:endParaRPr lang="en-US" dirty="0"/>
                    </a:p>
                  </a:txBody>
                  <a:tcPr/>
                </a:tc>
                <a:tc>
                  <a:txBody>
                    <a:bodyPr/>
                    <a:lstStyle/>
                    <a:p>
                      <a:r>
                        <a:rPr lang="en-US" dirty="0" smtClean="0"/>
                        <a:t>7</a:t>
                      </a:r>
                      <a:endParaRPr lang="en-US" dirty="0"/>
                    </a:p>
                  </a:txBody>
                  <a:tcPr/>
                </a:tc>
                <a:tc>
                  <a:txBody>
                    <a:bodyPr/>
                    <a:lstStyle/>
                    <a:p>
                      <a:r>
                        <a:rPr lang="en-US" dirty="0" smtClean="0"/>
                        <a:t>9</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r>
            </a:tbl>
          </a:graphicData>
        </a:graphic>
      </p:graphicFrame>
      <p:graphicFrame>
        <p:nvGraphicFramePr>
          <p:cNvPr id="9" name="Table 8"/>
          <p:cNvGraphicFramePr>
            <a:graphicFrameLocks noGrp="1"/>
          </p:cNvGraphicFramePr>
          <p:nvPr/>
        </p:nvGraphicFramePr>
        <p:xfrm>
          <a:off x="4091795" y="3129280"/>
          <a:ext cx="4442605" cy="2966720"/>
        </p:xfrm>
        <a:graphic>
          <a:graphicData uri="http://schemas.openxmlformats.org/drawingml/2006/table">
            <a:tbl>
              <a:tblPr firstRow="1" bandRow="1">
                <a:tableStyleId>{5C22544A-7EE6-4342-B048-85BDC9FD1C3A}</a:tableStyleId>
              </a:tblPr>
              <a:tblGrid>
                <a:gridCol w="1470804"/>
                <a:gridCol w="2971801"/>
              </a:tblGrid>
              <a:tr h="370840">
                <a:tc>
                  <a:txBody>
                    <a:bodyPr/>
                    <a:lstStyle/>
                    <a:p>
                      <a:pPr algn="r"/>
                      <a:r>
                        <a:rPr lang="en-US" dirty="0" smtClean="0"/>
                        <a:t>x</a:t>
                      </a:r>
                      <a:endParaRPr lang="en-US" dirty="0"/>
                    </a:p>
                  </a:txBody>
                  <a:tcPr/>
                </a:tc>
                <a:tc>
                  <a:txBody>
                    <a:bodyPr/>
                    <a:lstStyle/>
                    <a:p>
                      <a:r>
                        <a:rPr lang="en-US" baseline="0" dirty="0" smtClean="0"/>
                        <a:t>Comparisons</a:t>
                      </a:r>
                      <a:endParaRPr lang="en-US" dirty="0"/>
                    </a:p>
                  </a:txBody>
                  <a:tcPr/>
                </a:tc>
              </a:tr>
              <a:tr h="370840">
                <a:tc>
                  <a:txBody>
                    <a:bodyPr/>
                    <a:lstStyle/>
                    <a:p>
                      <a:pPr algn="r"/>
                      <a:r>
                        <a:rPr lang="en-US" dirty="0" smtClean="0"/>
                        <a:t>0</a:t>
                      </a:r>
                      <a:endParaRPr lang="en-US" dirty="0"/>
                    </a:p>
                  </a:txBody>
                  <a:tcPr/>
                </a:tc>
                <a:tc>
                  <a:txBody>
                    <a:bodyPr/>
                    <a:lstStyle/>
                    <a:p>
                      <a:pPr algn="r"/>
                      <a:r>
                        <a:rPr lang="en-US" dirty="0" smtClean="0"/>
                        <a:t>1</a:t>
                      </a:r>
                      <a:endParaRPr lang="en-US" dirty="0"/>
                    </a:p>
                  </a:txBody>
                  <a:tcPr/>
                </a:tc>
              </a:tr>
              <a:tr h="370840">
                <a:tc>
                  <a:txBody>
                    <a:bodyPr/>
                    <a:lstStyle/>
                    <a:p>
                      <a:pPr algn="r"/>
                      <a:r>
                        <a:rPr lang="en-US" dirty="0" smtClean="0"/>
                        <a:t>2</a:t>
                      </a:r>
                      <a:endParaRPr lang="en-US" dirty="0"/>
                    </a:p>
                  </a:txBody>
                  <a:tcPr/>
                </a:tc>
                <a:tc>
                  <a:txBody>
                    <a:bodyPr/>
                    <a:lstStyle/>
                    <a:p>
                      <a:pPr algn="r"/>
                      <a:r>
                        <a:rPr lang="en-US" dirty="0" smtClean="0"/>
                        <a:t>2</a:t>
                      </a:r>
                      <a:endParaRPr lang="en-US" dirty="0"/>
                    </a:p>
                  </a:txBody>
                  <a:tcPr/>
                </a:tc>
              </a:tr>
              <a:tr h="370840">
                <a:tc>
                  <a:txBody>
                    <a:bodyPr/>
                    <a:lstStyle/>
                    <a:p>
                      <a:pPr algn="r"/>
                      <a:r>
                        <a:rPr lang="en-US" dirty="0" smtClean="0"/>
                        <a:t>4</a:t>
                      </a:r>
                      <a:endParaRPr lang="en-US" dirty="0"/>
                    </a:p>
                  </a:txBody>
                  <a:tcPr/>
                </a:tc>
                <a:tc>
                  <a:txBody>
                    <a:bodyPr/>
                    <a:lstStyle/>
                    <a:p>
                      <a:pPr algn="r"/>
                      <a:r>
                        <a:rPr lang="en-US" dirty="0" smtClean="0"/>
                        <a:t>3</a:t>
                      </a:r>
                      <a:endParaRPr lang="en-US" dirty="0"/>
                    </a:p>
                  </a:txBody>
                  <a:tcPr/>
                </a:tc>
              </a:tr>
              <a:tr h="370840">
                <a:tc>
                  <a:txBody>
                    <a:bodyPr/>
                    <a:lstStyle/>
                    <a:p>
                      <a:pPr algn="r"/>
                      <a:r>
                        <a:rPr lang="en-US" dirty="0" smtClean="0"/>
                        <a:t>…</a:t>
                      </a:r>
                      <a:endParaRPr lang="en-US" dirty="0"/>
                    </a:p>
                  </a:txBody>
                  <a:tcPr/>
                </a:tc>
                <a:tc>
                  <a:txBody>
                    <a:bodyPr/>
                    <a:lstStyle/>
                    <a:p>
                      <a:pPr algn="r"/>
                      <a:r>
                        <a:rPr lang="en-US" dirty="0" smtClean="0"/>
                        <a:t>…</a:t>
                      </a:r>
                      <a:endParaRPr lang="en-US" dirty="0"/>
                    </a:p>
                  </a:txBody>
                  <a:tcPr/>
                </a:tc>
              </a:tr>
              <a:tr h="370840">
                <a:tc>
                  <a:txBody>
                    <a:bodyPr/>
                    <a:lstStyle/>
                    <a:p>
                      <a:pPr algn="r"/>
                      <a:r>
                        <a:rPr lang="en-US" dirty="0" smtClean="0"/>
                        <a:t>…</a:t>
                      </a:r>
                      <a:endParaRPr lang="en-US" dirty="0"/>
                    </a:p>
                  </a:txBody>
                  <a:tcPr/>
                </a:tc>
                <a:tc>
                  <a:txBody>
                    <a:bodyPr/>
                    <a:lstStyle/>
                    <a:p>
                      <a:pPr algn="r"/>
                      <a:r>
                        <a:rPr lang="en-US" dirty="0" smtClean="0"/>
                        <a:t>n</a:t>
                      </a:r>
                      <a:endParaRPr lang="en-US" dirty="0"/>
                    </a:p>
                  </a:txBody>
                  <a:tcPr/>
                </a:tc>
              </a:tr>
              <a:tr h="370840">
                <a:tc>
                  <a:txBody>
                    <a:bodyPr/>
                    <a:lstStyle/>
                    <a:p>
                      <a:pPr algn="r"/>
                      <a:r>
                        <a:rPr lang="en-US" dirty="0" smtClean="0"/>
                        <a:t>Sum</a:t>
                      </a:r>
                      <a:endParaRPr lang="en-US" dirty="0"/>
                    </a:p>
                  </a:txBody>
                  <a:tcPr/>
                </a:tc>
                <a:tc>
                  <a:txBody>
                    <a:bodyPr/>
                    <a:lstStyle/>
                    <a:p>
                      <a:pPr algn="r"/>
                      <a:r>
                        <a:rPr lang="en-US" dirty="0" smtClean="0"/>
                        <a:t>(n+1)*(n/2)</a:t>
                      </a:r>
                      <a:endParaRPr lang="en-US" dirty="0"/>
                    </a:p>
                  </a:txBody>
                  <a:tcPr/>
                </a:tc>
              </a:tr>
              <a:tr h="370840">
                <a:tc>
                  <a:txBody>
                    <a:bodyPr/>
                    <a:lstStyle/>
                    <a:p>
                      <a:pPr algn="r"/>
                      <a:r>
                        <a:rPr lang="en-US" dirty="0" smtClean="0"/>
                        <a:t>Average</a:t>
                      </a:r>
                      <a:endParaRPr lang="en-US"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smtClean="0"/>
                        <a:t>((n+1)*(n/2))/n = (n+1)/2</a:t>
                      </a:r>
                      <a:endParaRPr lang="en-US" dirty="0"/>
                    </a:p>
                  </a:txBody>
                  <a:tcPr/>
                </a:tc>
              </a:tr>
            </a:tbl>
          </a:graphicData>
        </a:graphic>
      </p:graphicFrame>
      <p:sp>
        <p:nvSpPr>
          <p:cNvPr id="10" name="Rectangle 9"/>
          <p:cNvSpPr/>
          <p:nvPr/>
        </p:nvSpPr>
        <p:spPr>
          <a:xfrm>
            <a:off x="381000" y="2133600"/>
            <a:ext cx="31242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=0;</a:t>
            </a:r>
          </a:p>
          <a:p>
            <a:r>
              <a:rPr lang="en-US" dirty="0" smtClean="0">
                <a:latin typeface="Times New Roman" pitchFamily="18" charset="0"/>
                <a:cs typeface="Times New Roman" pitchFamily="18" charset="0"/>
              </a:rPr>
              <a:t>While (a[</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]&lt;x)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if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&lt;n &amp;&amp; x==a[i]) return i;</a:t>
            </a:r>
          </a:p>
          <a:p>
            <a:pPr>
              <a:buNone/>
            </a:pPr>
            <a:r>
              <a:rPr lang="en-US" dirty="0" smtClean="0">
                <a:latin typeface="Times New Roman" pitchFamily="18" charset="0"/>
                <a:cs typeface="Times New Roman" pitchFamily="18" charset="0"/>
              </a:rPr>
              <a:t>return -1; </a:t>
            </a:r>
            <a:endParaRPr lang="en-US" dirty="0"/>
          </a:p>
        </p:txBody>
      </p:sp>
      <p:sp>
        <p:nvSpPr>
          <p:cNvPr id="14" name="Rectangle 13"/>
          <p:cNvSpPr/>
          <p:nvPr/>
        </p:nvSpPr>
        <p:spPr>
          <a:xfrm>
            <a:off x="381000" y="3352800"/>
            <a:ext cx="3124200" cy="28194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FFC000"/>
                </a:solidFill>
                <a:latin typeface="Times New Roman" pitchFamily="18" charset="0"/>
                <a:cs typeface="Times New Roman" pitchFamily="18" charset="0"/>
              </a:rPr>
              <a:t>This algorithm will terminate as soon as </a:t>
            </a:r>
          </a:p>
          <a:p>
            <a:r>
              <a:rPr lang="en-US" sz="2400" dirty="0" smtClean="0">
                <a:solidFill>
                  <a:srgbClr val="FFC000"/>
                </a:solidFill>
                <a:latin typeface="Times New Roman" pitchFamily="18" charset="0"/>
                <a:cs typeface="Times New Roman" pitchFamily="18" charset="0"/>
              </a:rPr>
              <a:t>a[</a:t>
            </a:r>
            <a:r>
              <a:rPr lang="en-US" sz="2400" dirty="0" err="1" smtClean="0">
                <a:solidFill>
                  <a:srgbClr val="FFC000"/>
                </a:solidFill>
                <a:latin typeface="Times New Roman" pitchFamily="18" charset="0"/>
                <a:cs typeface="Times New Roman" pitchFamily="18" charset="0"/>
              </a:rPr>
              <a:t>i</a:t>
            </a:r>
            <a:r>
              <a:rPr lang="en-US" sz="2400" dirty="0" smtClean="0">
                <a:solidFill>
                  <a:srgbClr val="FFC000"/>
                </a:solidFill>
                <a:latin typeface="Times New Roman" pitchFamily="18" charset="0"/>
                <a:cs typeface="Times New Roman" pitchFamily="18" charset="0"/>
              </a:rPr>
              <a:t>] &gt;= x</a:t>
            </a:r>
          </a:p>
          <a:p>
            <a:r>
              <a:rPr lang="en-US" sz="2400" dirty="0" smtClean="0">
                <a:solidFill>
                  <a:srgbClr val="FFC000"/>
                </a:solidFill>
                <a:latin typeface="Times New Roman" pitchFamily="18" charset="0"/>
                <a:cs typeface="Times New Roman" pitchFamily="18" charset="0"/>
                <a:sym typeface="Wingdings" pitchFamily="2" charset="2"/>
              </a:rPr>
              <a:t> </a:t>
            </a:r>
            <a:r>
              <a:rPr lang="en-US" sz="2400" b="1" dirty="0" smtClean="0">
                <a:solidFill>
                  <a:srgbClr val="FFC000"/>
                </a:solidFill>
                <a:latin typeface="Times New Roman" pitchFamily="18" charset="0"/>
                <a:cs typeface="Times New Roman" pitchFamily="18" charset="0"/>
                <a:sym typeface="Wingdings" pitchFamily="2" charset="2"/>
              </a:rPr>
              <a:t>The average complexity of search operation is a linear function. </a:t>
            </a:r>
            <a:endParaRPr lang="en-US" sz="2400" b="1" dirty="0">
              <a:solidFill>
                <a:srgbClr val="FFC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20</a:t>
            </a:fld>
            <a:endParaRPr kumimoji="0" lang="en-US" dirty="0"/>
          </a:p>
        </p:txBody>
      </p:sp>
      <p:sp>
        <p:nvSpPr>
          <p:cNvPr id="6" name="TextBox 5"/>
          <p:cNvSpPr txBox="1"/>
          <p:nvPr/>
        </p:nvSpPr>
        <p:spPr>
          <a:xfrm>
            <a:off x="457200" y="838200"/>
            <a:ext cx="3200400" cy="2616101"/>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Time functions: Upper and lower bounds </a:t>
            </a:r>
          </a:p>
          <a:p>
            <a:r>
              <a:rPr lang="en-US" sz="2000" b="1" dirty="0" smtClean="0">
                <a:solidFill>
                  <a:srgbClr val="FFFF00"/>
                </a:solidFill>
                <a:latin typeface="Times New Roman" pitchFamily="18" charset="0"/>
                <a:cs typeface="Times New Roman" pitchFamily="18" charset="0"/>
              </a:rPr>
              <a:t>- Upper bound and lower bound should be chosen in the nearest functions of T(n)</a:t>
            </a:r>
            <a:endParaRPr lang="en-US" sz="2000" b="1" dirty="0">
              <a:solidFill>
                <a:srgbClr val="FFFF00"/>
              </a:solidFill>
              <a:latin typeface="Times New Roman" pitchFamily="18" charset="0"/>
              <a:cs typeface="Times New Roman" pitchFamily="18" charset="0"/>
            </a:endParaRPr>
          </a:p>
        </p:txBody>
      </p:sp>
      <p:graphicFrame>
        <p:nvGraphicFramePr>
          <p:cNvPr id="8" name="Content Placeholder 7"/>
          <p:cNvGraphicFramePr>
            <a:graphicFrameLocks noGrp="1"/>
          </p:cNvGraphicFramePr>
          <p:nvPr>
            <p:ph idx="1"/>
          </p:nvPr>
        </p:nvGraphicFramePr>
        <p:xfrm>
          <a:off x="457200" y="3688080"/>
          <a:ext cx="8001000" cy="2865120"/>
        </p:xfrm>
        <a:graphic>
          <a:graphicData uri="http://schemas.openxmlformats.org/drawingml/2006/table">
            <a:tbl>
              <a:tblPr firstRow="1" bandRow="1">
                <a:tableStyleId>{5C22544A-7EE6-4342-B048-85BDC9FD1C3A}</a:tableStyleId>
              </a:tblPr>
              <a:tblGrid>
                <a:gridCol w="2815167"/>
                <a:gridCol w="2394786"/>
                <a:gridCol w="2791047"/>
              </a:tblGrid>
              <a:tr h="370840">
                <a:tc>
                  <a:txBody>
                    <a:bodyPr/>
                    <a:lstStyle/>
                    <a:p>
                      <a:r>
                        <a:rPr lang="en-US" dirty="0" smtClean="0">
                          <a:latin typeface="Times New Roman" pitchFamily="18" charset="0"/>
                          <a:cs typeface="Times New Roman" pitchFamily="18" charset="0"/>
                        </a:rPr>
                        <a:t>Time</a:t>
                      </a:r>
                      <a:r>
                        <a:rPr lang="en-US" baseline="0" dirty="0" smtClean="0">
                          <a:latin typeface="Times New Roman" pitchFamily="18" charset="0"/>
                          <a:cs typeface="Times New Roman" pitchFamily="18" charset="0"/>
                        </a:rPr>
                        <a:t> function, T(n), in the worst case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Upper</a:t>
                      </a:r>
                      <a:r>
                        <a:rPr lang="en-US" baseline="0" dirty="0" smtClean="0">
                          <a:latin typeface="Times New Roman" pitchFamily="18" charset="0"/>
                          <a:cs typeface="Times New Roman" pitchFamily="18" charset="0"/>
                        </a:rPr>
                        <a:t> bound</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Lower</a:t>
                      </a:r>
                      <a:r>
                        <a:rPr lang="en-US" baseline="0" dirty="0" smtClean="0">
                          <a:latin typeface="Times New Roman" pitchFamily="18" charset="0"/>
                          <a:cs typeface="Times New Roman" pitchFamily="18" charset="0"/>
                        </a:rPr>
                        <a:t> bound</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2n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T(n)&lt;= 3n,  n&gt;10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2n, n&gt;0</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 12n + 5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&lt;=13n, n&gt;0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11n.,</a:t>
                      </a:r>
                      <a:r>
                        <a:rPr lang="en-US" baseline="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n&gt;0,</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2nlog</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T(n)&lt;= 3nlog</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n,  n&gt;10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2nlog</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n,  n&gt;0</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 12n log</a:t>
                      </a:r>
                      <a:r>
                        <a:rPr lang="en-US" baseline="-25000" dirty="0" smtClean="0">
                          <a:latin typeface="Times New Roman" pitchFamily="18" charset="0"/>
                          <a:cs typeface="Times New Roman" pitchFamily="18" charset="0"/>
                        </a:rPr>
                        <a:t>10</a:t>
                      </a:r>
                      <a:r>
                        <a:rPr lang="en-US" dirty="0" smtClean="0">
                          <a:latin typeface="Times New Roman" pitchFamily="18" charset="0"/>
                          <a:cs typeface="Times New Roman" pitchFamily="18" charset="0"/>
                        </a:rPr>
                        <a:t>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&lt;=13nlog</a:t>
                      </a:r>
                      <a:r>
                        <a:rPr lang="en-US" baseline="-25000" dirty="0" smtClean="0">
                          <a:latin typeface="Times New Roman" pitchFamily="18" charset="0"/>
                          <a:cs typeface="Times New Roman" pitchFamily="18" charset="0"/>
                        </a:rPr>
                        <a:t>10</a:t>
                      </a:r>
                      <a:r>
                        <a:rPr lang="en-US" dirty="0" smtClean="0">
                          <a:latin typeface="Times New Roman" pitchFamily="18" charset="0"/>
                          <a:cs typeface="Times New Roman" pitchFamily="18" charset="0"/>
                        </a:rPr>
                        <a:t>n, n&gt;0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11nlog</a:t>
                      </a:r>
                      <a:r>
                        <a:rPr lang="en-US" baseline="-25000" dirty="0" smtClean="0">
                          <a:latin typeface="Times New Roman" pitchFamily="18" charset="0"/>
                          <a:cs typeface="Times New Roman" pitchFamily="18" charset="0"/>
                        </a:rPr>
                        <a:t>10</a:t>
                      </a:r>
                      <a:r>
                        <a:rPr lang="en-US" dirty="0" smtClean="0">
                          <a:latin typeface="Times New Roman" pitchFamily="18" charset="0"/>
                          <a:cs typeface="Times New Roman" pitchFamily="18" charset="0"/>
                        </a:rPr>
                        <a:t>n.,</a:t>
                      </a:r>
                      <a:r>
                        <a:rPr lang="en-US" baseline="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n&gt;0</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2n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T(n)&lt;= 3n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  n&gt;10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2n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  n&gt;0</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T(n) = 2n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-3n+5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&lt;=2n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 n&gt;2</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T(n) &gt;= 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a:t>
                      </a:r>
                      <a:r>
                        <a:rPr lang="en-US" baseline="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n&gt;2</a:t>
                      </a:r>
                      <a:endParaRPr lang="en-US" dirty="0">
                        <a:latin typeface="Times New Roman" pitchFamily="18" charset="0"/>
                        <a:cs typeface="Times New Roman" pitchFamily="18" charset="0"/>
                      </a:endParaRPr>
                    </a:p>
                  </a:txBody>
                  <a:tcPr/>
                </a:tc>
              </a:tr>
            </a:tbl>
          </a:graphicData>
        </a:graphic>
      </p:graphicFrame>
      <p:grpSp>
        <p:nvGrpSpPr>
          <p:cNvPr id="37" name="Group 36"/>
          <p:cNvGrpSpPr/>
          <p:nvPr/>
        </p:nvGrpSpPr>
        <p:grpSpPr>
          <a:xfrm>
            <a:off x="3962400" y="678458"/>
            <a:ext cx="4953000" cy="2826742"/>
            <a:chOff x="3962400" y="678458"/>
            <a:chExt cx="4953000" cy="2826742"/>
          </a:xfrm>
        </p:grpSpPr>
        <p:cxnSp>
          <p:nvCxnSpPr>
            <p:cNvPr id="7" name="Straight Arrow Connector 6"/>
            <p:cNvCxnSpPr/>
            <p:nvPr/>
          </p:nvCxnSpPr>
          <p:spPr>
            <a:xfrm rot="5400000" flipH="1" flipV="1">
              <a:off x="3162301" y="2086570"/>
              <a:ext cx="2819400" cy="317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4572000" y="3496270"/>
              <a:ext cx="4343400" cy="893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7239000" y="2133600"/>
              <a:ext cx="1507785" cy="369332"/>
            </a:xfrm>
            <a:prstGeom prst="rect">
              <a:avLst/>
            </a:prstGeom>
            <a:ln>
              <a:noFill/>
            </a:ln>
          </p:spPr>
          <p:txBody>
            <a:bodyPr wrap="none">
              <a:spAutoFit/>
            </a:bodyPr>
            <a:lstStyle/>
            <a:p>
              <a:r>
                <a:rPr lang="en-US" b="1" dirty="0" smtClean="0">
                  <a:solidFill>
                    <a:schemeClr val="bg2">
                      <a:lumMod val="75000"/>
                    </a:schemeClr>
                  </a:solidFill>
                  <a:latin typeface="Times New Roman" pitchFamily="18" charset="0"/>
                  <a:cs typeface="Times New Roman" pitchFamily="18" charset="0"/>
                </a:rPr>
                <a:t>Lower bound</a:t>
              </a:r>
              <a:endParaRPr lang="en-US" b="1" dirty="0">
                <a:solidFill>
                  <a:schemeClr val="bg2">
                    <a:lumMod val="75000"/>
                  </a:schemeClr>
                </a:solidFill>
              </a:endParaRPr>
            </a:p>
          </p:txBody>
        </p:sp>
        <p:sp>
          <p:nvSpPr>
            <p:cNvPr id="29" name="Rectangle 28"/>
            <p:cNvSpPr/>
            <p:nvPr/>
          </p:nvSpPr>
          <p:spPr>
            <a:xfrm>
              <a:off x="5257800" y="1143000"/>
              <a:ext cx="1396536" cy="369332"/>
            </a:xfrm>
            <a:prstGeom prst="rect">
              <a:avLst/>
            </a:prstGeom>
            <a:ln>
              <a:noFill/>
            </a:ln>
          </p:spPr>
          <p:txBody>
            <a:bodyPr wrap="none">
              <a:spAutoFit/>
            </a:bodyPr>
            <a:lstStyle/>
            <a:p>
              <a:r>
                <a:rPr lang="en-US" dirty="0" smtClean="0">
                  <a:solidFill>
                    <a:schemeClr val="bg1"/>
                  </a:solidFill>
                  <a:latin typeface="Times New Roman" pitchFamily="18" charset="0"/>
                  <a:cs typeface="Times New Roman" pitchFamily="18" charset="0"/>
                </a:rPr>
                <a:t>Upper bound</a:t>
              </a:r>
              <a:endParaRPr lang="en-US" dirty="0">
                <a:solidFill>
                  <a:schemeClr val="bg1"/>
                </a:solidFill>
              </a:endParaRPr>
            </a:p>
          </p:txBody>
        </p:sp>
        <p:sp>
          <p:nvSpPr>
            <p:cNvPr id="30" name="Freeform 29"/>
            <p:cNvSpPr/>
            <p:nvPr/>
          </p:nvSpPr>
          <p:spPr>
            <a:xfrm>
              <a:off x="4876800" y="1143000"/>
              <a:ext cx="3276600" cy="1676400"/>
            </a:xfrm>
            <a:custGeom>
              <a:avLst/>
              <a:gdLst>
                <a:gd name="connsiteX0" fmla="*/ 0 w 2815167"/>
                <a:gd name="connsiteY0" fmla="*/ 1595967 h 1608667"/>
                <a:gd name="connsiteX1" fmla="*/ 1066800 w 2815167"/>
                <a:gd name="connsiteY1" fmla="*/ 1380067 h 1608667"/>
                <a:gd name="connsiteX2" fmla="*/ 2540000 w 2815167"/>
                <a:gd name="connsiteY2" fmla="*/ 224367 h 1608667"/>
                <a:gd name="connsiteX3" fmla="*/ 2717800 w 2815167"/>
                <a:gd name="connsiteY3" fmla="*/ 33867 h 1608667"/>
              </a:gdLst>
              <a:ahLst/>
              <a:cxnLst>
                <a:cxn ang="0">
                  <a:pos x="connsiteX0" y="connsiteY0"/>
                </a:cxn>
                <a:cxn ang="0">
                  <a:pos x="connsiteX1" y="connsiteY1"/>
                </a:cxn>
                <a:cxn ang="0">
                  <a:pos x="connsiteX2" y="connsiteY2"/>
                </a:cxn>
                <a:cxn ang="0">
                  <a:pos x="connsiteX3" y="connsiteY3"/>
                </a:cxn>
              </a:cxnLst>
              <a:rect l="l" t="t" r="r" b="b"/>
              <a:pathLst>
                <a:path w="2815167" h="1608667">
                  <a:moveTo>
                    <a:pt x="0" y="1595967"/>
                  </a:moveTo>
                  <a:cubicBezTo>
                    <a:pt x="321733" y="1602317"/>
                    <a:pt x="643467" y="1608667"/>
                    <a:pt x="1066800" y="1380067"/>
                  </a:cubicBezTo>
                  <a:cubicBezTo>
                    <a:pt x="1490133" y="1151467"/>
                    <a:pt x="2264833" y="448734"/>
                    <a:pt x="2540000" y="224367"/>
                  </a:cubicBezTo>
                  <a:cubicBezTo>
                    <a:pt x="2815167" y="0"/>
                    <a:pt x="2766483" y="16933"/>
                    <a:pt x="2717800" y="33867"/>
                  </a:cubicBezTo>
                </a:path>
              </a:pathLst>
            </a:custGeom>
            <a:ln w="38100">
              <a:solidFill>
                <a:srgbClr val="FFC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dirty="0"/>
            </a:p>
          </p:txBody>
        </p:sp>
        <p:sp>
          <p:nvSpPr>
            <p:cNvPr id="31" name="Freeform 30"/>
            <p:cNvSpPr/>
            <p:nvPr/>
          </p:nvSpPr>
          <p:spPr>
            <a:xfrm>
              <a:off x="5029200" y="914400"/>
              <a:ext cx="1981200" cy="2057400"/>
            </a:xfrm>
            <a:custGeom>
              <a:avLst/>
              <a:gdLst>
                <a:gd name="connsiteX0" fmla="*/ 0 w 2815167"/>
                <a:gd name="connsiteY0" fmla="*/ 1595967 h 1608667"/>
                <a:gd name="connsiteX1" fmla="*/ 1066800 w 2815167"/>
                <a:gd name="connsiteY1" fmla="*/ 1380067 h 1608667"/>
                <a:gd name="connsiteX2" fmla="*/ 2540000 w 2815167"/>
                <a:gd name="connsiteY2" fmla="*/ 224367 h 1608667"/>
                <a:gd name="connsiteX3" fmla="*/ 2717800 w 2815167"/>
                <a:gd name="connsiteY3" fmla="*/ 33867 h 1608667"/>
              </a:gdLst>
              <a:ahLst/>
              <a:cxnLst>
                <a:cxn ang="0">
                  <a:pos x="connsiteX0" y="connsiteY0"/>
                </a:cxn>
                <a:cxn ang="0">
                  <a:pos x="connsiteX1" y="connsiteY1"/>
                </a:cxn>
                <a:cxn ang="0">
                  <a:pos x="connsiteX2" y="connsiteY2"/>
                </a:cxn>
                <a:cxn ang="0">
                  <a:pos x="connsiteX3" y="connsiteY3"/>
                </a:cxn>
              </a:cxnLst>
              <a:rect l="l" t="t" r="r" b="b"/>
              <a:pathLst>
                <a:path w="2815167" h="1608667">
                  <a:moveTo>
                    <a:pt x="0" y="1595967"/>
                  </a:moveTo>
                  <a:cubicBezTo>
                    <a:pt x="321733" y="1602317"/>
                    <a:pt x="643467" y="1608667"/>
                    <a:pt x="1066800" y="1380067"/>
                  </a:cubicBezTo>
                  <a:cubicBezTo>
                    <a:pt x="1490133" y="1151467"/>
                    <a:pt x="2264833" y="448734"/>
                    <a:pt x="2540000" y="224367"/>
                  </a:cubicBezTo>
                  <a:cubicBezTo>
                    <a:pt x="2815167" y="0"/>
                    <a:pt x="2766483" y="16933"/>
                    <a:pt x="2717800" y="33867"/>
                  </a:cubicBezTo>
                </a:path>
              </a:pathLst>
            </a:custGeom>
            <a:ln w="28575">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dirty="0"/>
            </a:p>
          </p:txBody>
        </p:sp>
        <p:sp>
          <p:nvSpPr>
            <p:cNvPr id="32" name="Freeform 31"/>
            <p:cNvSpPr/>
            <p:nvPr/>
          </p:nvSpPr>
          <p:spPr>
            <a:xfrm>
              <a:off x="4953000" y="1600200"/>
              <a:ext cx="3429000" cy="1066800"/>
            </a:xfrm>
            <a:custGeom>
              <a:avLst/>
              <a:gdLst>
                <a:gd name="connsiteX0" fmla="*/ 0 w 2815167"/>
                <a:gd name="connsiteY0" fmla="*/ 1595967 h 1608667"/>
                <a:gd name="connsiteX1" fmla="*/ 1066800 w 2815167"/>
                <a:gd name="connsiteY1" fmla="*/ 1380067 h 1608667"/>
                <a:gd name="connsiteX2" fmla="*/ 2540000 w 2815167"/>
                <a:gd name="connsiteY2" fmla="*/ 224367 h 1608667"/>
                <a:gd name="connsiteX3" fmla="*/ 2717800 w 2815167"/>
                <a:gd name="connsiteY3" fmla="*/ 33867 h 1608667"/>
              </a:gdLst>
              <a:ahLst/>
              <a:cxnLst>
                <a:cxn ang="0">
                  <a:pos x="connsiteX0" y="connsiteY0"/>
                </a:cxn>
                <a:cxn ang="0">
                  <a:pos x="connsiteX1" y="connsiteY1"/>
                </a:cxn>
                <a:cxn ang="0">
                  <a:pos x="connsiteX2" y="connsiteY2"/>
                </a:cxn>
                <a:cxn ang="0">
                  <a:pos x="connsiteX3" y="connsiteY3"/>
                </a:cxn>
              </a:cxnLst>
              <a:rect l="l" t="t" r="r" b="b"/>
              <a:pathLst>
                <a:path w="2815167" h="1608667">
                  <a:moveTo>
                    <a:pt x="0" y="1595967"/>
                  </a:moveTo>
                  <a:cubicBezTo>
                    <a:pt x="321733" y="1602317"/>
                    <a:pt x="643467" y="1608667"/>
                    <a:pt x="1066800" y="1380067"/>
                  </a:cubicBezTo>
                  <a:cubicBezTo>
                    <a:pt x="1490133" y="1151467"/>
                    <a:pt x="2264833" y="448734"/>
                    <a:pt x="2540000" y="224367"/>
                  </a:cubicBezTo>
                  <a:cubicBezTo>
                    <a:pt x="2815167" y="0"/>
                    <a:pt x="2766483" y="16933"/>
                    <a:pt x="2717800" y="33867"/>
                  </a:cubicBezTo>
                </a:path>
              </a:pathLst>
            </a:cu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dirty="0"/>
            </a:p>
          </p:txBody>
        </p:sp>
        <p:sp>
          <p:nvSpPr>
            <p:cNvPr id="33" name="Oval 32"/>
            <p:cNvSpPr/>
            <p:nvPr/>
          </p:nvSpPr>
          <p:spPr>
            <a:xfrm>
              <a:off x="5638800" y="2667000"/>
              <a:ext cx="152400" cy="152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p:cNvSpPr/>
            <p:nvPr/>
          </p:nvSpPr>
          <p:spPr>
            <a:xfrm>
              <a:off x="6172200" y="2438400"/>
              <a:ext cx="152400" cy="152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962400" y="1676400"/>
              <a:ext cx="762000" cy="338554"/>
            </a:xfrm>
            <a:prstGeom prst="rect">
              <a:avLst/>
            </a:prstGeom>
            <a:noFill/>
          </p:spPr>
          <p:txBody>
            <a:bodyPr wrap="square" rtlCol="0">
              <a:spAutoFit/>
            </a:bodyPr>
            <a:lstStyle/>
            <a:p>
              <a:r>
                <a:rPr lang="en-US" sz="1600" b="1" dirty="0" smtClean="0">
                  <a:solidFill>
                    <a:schemeClr val="bg1"/>
                  </a:solidFill>
                </a:rPr>
                <a:t>time</a:t>
              </a:r>
              <a:endParaRPr lang="en-US" sz="1600" b="1" dirty="0">
                <a:solidFill>
                  <a:schemeClr val="bg1"/>
                </a:solidFill>
              </a:endParaRPr>
            </a:p>
          </p:txBody>
        </p:sp>
        <p:sp>
          <p:nvSpPr>
            <p:cNvPr id="36" name="TextBox 35"/>
            <p:cNvSpPr txBox="1"/>
            <p:nvPr/>
          </p:nvSpPr>
          <p:spPr>
            <a:xfrm>
              <a:off x="8305800" y="3166646"/>
              <a:ext cx="381000" cy="338554"/>
            </a:xfrm>
            <a:prstGeom prst="rect">
              <a:avLst/>
            </a:prstGeom>
            <a:noFill/>
          </p:spPr>
          <p:txBody>
            <a:bodyPr wrap="square" rtlCol="0">
              <a:spAutoFit/>
            </a:bodyPr>
            <a:lstStyle/>
            <a:p>
              <a:r>
                <a:rPr lang="en-US" sz="1600" b="1" dirty="0" smtClean="0">
                  <a:solidFill>
                    <a:schemeClr val="bg1"/>
                  </a:solidFill>
                </a:rPr>
                <a:t>n</a:t>
              </a:r>
              <a:endParaRPr lang="en-US" sz="1600" b="1" dirty="0">
                <a:solidFill>
                  <a:schemeClr val="bg1"/>
                </a:solidFill>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21</a:t>
            </a:fld>
            <a:endParaRPr kumimoji="0" lang="en-US" dirty="0"/>
          </a:p>
        </p:txBody>
      </p:sp>
      <p:sp>
        <p:nvSpPr>
          <p:cNvPr id="6" name="TextBox 5"/>
          <p:cNvSpPr txBox="1"/>
          <p:nvPr/>
        </p:nvSpPr>
        <p:spPr>
          <a:xfrm>
            <a:off x="457200" y="838200"/>
            <a:ext cx="83058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Notations: Big O, Big Omega , Big Theta </a:t>
            </a:r>
            <a:endParaRPr lang="en-US" sz="2600" b="1" dirty="0">
              <a:solidFill>
                <a:srgbClr val="FFC000"/>
              </a:solidFill>
              <a:latin typeface="Times New Roman" pitchFamily="18" charset="0"/>
              <a:cs typeface="Times New Roman" pitchFamily="18" charset="0"/>
            </a:endParaRPr>
          </a:p>
        </p:txBody>
      </p:sp>
      <p:graphicFrame>
        <p:nvGraphicFramePr>
          <p:cNvPr id="8" name="Content Placeholder 7"/>
          <p:cNvGraphicFramePr>
            <a:graphicFrameLocks noGrp="1"/>
          </p:cNvGraphicFramePr>
          <p:nvPr>
            <p:ph idx="1"/>
          </p:nvPr>
        </p:nvGraphicFramePr>
        <p:xfrm>
          <a:off x="228600" y="3505200"/>
          <a:ext cx="8686800" cy="2254250"/>
        </p:xfrm>
        <a:graphic>
          <a:graphicData uri="http://schemas.openxmlformats.org/drawingml/2006/table">
            <a:tbl>
              <a:tblPr firstRow="1" bandRow="1">
                <a:tableStyleId>{5C22544A-7EE6-4342-B048-85BDC9FD1C3A}</a:tableStyleId>
              </a:tblPr>
              <a:tblGrid>
                <a:gridCol w="2053244"/>
                <a:gridCol w="2685011"/>
                <a:gridCol w="2763982"/>
                <a:gridCol w="1184563"/>
              </a:tblGrid>
              <a:tr h="362268">
                <a:tc>
                  <a:txBody>
                    <a:bodyPr/>
                    <a:lstStyle/>
                    <a:p>
                      <a:r>
                        <a:rPr lang="en-US" baseline="0" dirty="0" smtClean="0">
                          <a:latin typeface="Times New Roman" pitchFamily="18" charset="0"/>
                          <a:cs typeface="Times New Roman" pitchFamily="18" charset="0"/>
                        </a:rPr>
                        <a:t>T(n)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Upper</a:t>
                      </a:r>
                      <a:r>
                        <a:rPr lang="en-US" baseline="0" dirty="0" smtClean="0">
                          <a:latin typeface="Times New Roman" pitchFamily="18" charset="0"/>
                          <a:cs typeface="Times New Roman" pitchFamily="18" charset="0"/>
                        </a:rPr>
                        <a:t> bounds and O</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Lower</a:t>
                      </a:r>
                      <a:r>
                        <a:rPr lang="en-US" baseline="0" dirty="0" smtClean="0">
                          <a:latin typeface="Times New Roman" pitchFamily="18" charset="0"/>
                          <a:cs typeface="Times New Roman" pitchFamily="18" charset="0"/>
                        </a:rPr>
                        <a:t> bounds and </a:t>
                      </a:r>
                      <a:r>
                        <a:rPr lang="el-GR" dirty="0" smtClean="0">
                          <a:latin typeface="Times New Roman" pitchFamily="18" charset="0"/>
                          <a:cs typeface="Times New Roman" pitchFamily="18" charset="0"/>
                        </a:rPr>
                        <a:t>Ω</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Ɵ</a:t>
                      </a:r>
                      <a:endParaRPr lang="en-US" dirty="0">
                        <a:latin typeface="Times New Roman" pitchFamily="18" charset="0"/>
                        <a:cs typeface="Times New Roman" pitchFamily="18" charset="0"/>
                      </a:endParaRPr>
                    </a:p>
                  </a:txBody>
                  <a:tcPr/>
                </a:tc>
              </a:tr>
              <a:tr h="362268">
                <a:tc>
                  <a:txBody>
                    <a:bodyPr/>
                    <a:lstStyle/>
                    <a:p>
                      <a:r>
                        <a:rPr lang="en-US" dirty="0" smtClean="0">
                          <a:latin typeface="Times New Roman" pitchFamily="18" charset="0"/>
                          <a:cs typeface="Times New Roman" pitchFamily="18" charset="0"/>
                        </a:rPr>
                        <a:t>T(n)= 2n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3n,  4n, 15n,… </a:t>
                      </a:r>
                      <a:r>
                        <a:rPr lang="en-US" dirty="0" smtClean="0">
                          <a:latin typeface="Times New Roman" pitchFamily="18" charset="0"/>
                          <a:cs typeface="Times New Roman" pitchFamily="18" charset="0"/>
                          <a:sym typeface="Wingdings" pitchFamily="2" charset="2"/>
                        </a:rPr>
                        <a:t> O(n)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2n,</a:t>
                      </a:r>
                      <a:r>
                        <a:rPr lang="en-US" baseline="0" dirty="0" smtClean="0">
                          <a:latin typeface="Times New Roman" pitchFamily="18" charset="0"/>
                          <a:cs typeface="Times New Roman" pitchFamily="18" charset="0"/>
                        </a:rPr>
                        <a:t> n, 0.5n,… </a:t>
                      </a:r>
                      <a:r>
                        <a:rPr lang="en-US" baseline="0" dirty="0" smtClean="0">
                          <a:latin typeface="Times New Roman" pitchFamily="18" charset="0"/>
                          <a:cs typeface="Times New Roman" pitchFamily="18" charset="0"/>
                          <a:sym typeface="Wingdings" pitchFamily="2" charset="2"/>
                        </a:rPr>
                        <a:t> </a:t>
                      </a:r>
                      <a:r>
                        <a:rPr lang="el-GR" dirty="0" smtClean="0">
                          <a:latin typeface="Times New Roman" pitchFamily="18" charset="0"/>
                          <a:cs typeface="Times New Roman" pitchFamily="18" charset="0"/>
                        </a:rPr>
                        <a:t>Ω</a:t>
                      </a:r>
                      <a:r>
                        <a:rPr lang="en-US" dirty="0" smtClean="0">
                          <a:latin typeface="Times New Roman" pitchFamily="18" charset="0"/>
                          <a:cs typeface="Times New Roman" pitchFamily="18" charset="0"/>
                        </a:rPr>
                        <a:t>(n)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Ɵ(n)</a:t>
                      </a:r>
                      <a:endParaRPr lang="en-US" dirty="0">
                        <a:latin typeface="Times New Roman" pitchFamily="18" charset="0"/>
                        <a:cs typeface="Times New Roman" pitchFamily="18" charset="0"/>
                      </a:endParaRPr>
                    </a:p>
                  </a:txBody>
                  <a:tcPr/>
                </a:tc>
              </a:tr>
              <a:tr h="362268">
                <a:tc>
                  <a:txBody>
                    <a:bodyPr/>
                    <a:lstStyle/>
                    <a:p>
                      <a:r>
                        <a:rPr lang="en-US" dirty="0" smtClean="0">
                          <a:latin typeface="Times New Roman" pitchFamily="18" charset="0"/>
                          <a:cs typeface="Times New Roman" pitchFamily="18" charset="0"/>
                        </a:rPr>
                        <a:t>T(n) = 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n + 5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2n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r>
                        <a:rPr lang="en-US" baseline="0" dirty="0" smtClean="0">
                          <a:latin typeface="Times New Roman" pitchFamily="18" charset="0"/>
                          <a:cs typeface="Times New Roman" pitchFamily="18" charset="0"/>
                        </a:rPr>
                        <a:t> 2.5</a:t>
                      </a:r>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3n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r>
                        <a:rPr lang="en-US" dirty="0" smtClean="0">
                          <a:latin typeface="Times New Roman" pitchFamily="18" charset="0"/>
                          <a:cs typeface="Times New Roman" pitchFamily="18" charset="0"/>
                          <a:sym typeface="Wingdings" pitchFamily="2" charset="2"/>
                        </a:rPr>
                        <a:t> O(n</a:t>
                      </a:r>
                      <a:r>
                        <a:rPr lang="en-US" baseline="30000" dirty="0" smtClean="0">
                          <a:latin typeface="Times New Roman" pitchFamily="18" charset="0"/>
                          <a:cs typeface="Times New Roman" pitchFamily="18" charset="0"/>
                          <a:sym typeface="Wingdings" pitchFamily="2" charset="2"/>
                        </a:rPr>
                        <a:t>2</a:t>
                      </a:r>
                      <a:r>
                        <a:rPr lang="en-US" dirty="0" smtClean="0">
                          <a:latin typeface="Times New Roman" pitchFamily="18" charset="0"/>
                          <a:cs typeface="Times New Roman" pitchFamily="18" charset="0"/>
                          <a:sym typeface="Wingdings" pitchFamily="2" charset="2"/>
                        </a:rPr>
                        <a:t>)</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r>
                        <a:rPr lang="en-US" baseline="0" dirty="0" smtClean="0">
                          <a:latin typeface="Times New Roman" pitchFamily="18" charset="0"/>
                          <a:cs typeface="Times New Roman" pitchFamily="18" charset="0"/>
                        </a:rPr>
                        <a:t> 0.5</a:t>
                      </a:r>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0.2n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r>
                        <a:rPr lang="en-US" dirty="0" smtClean="0">
                          <a:latin typeface="Times New Roman" pitchFamily="18" charset="0"/>
                          <a:cs typeface="Times New Roman" pitchFamily="18" charset="0"/>
                          <a:sym typeface="Wingdings" pitchFamily="2" charset="2"/>
                        </a:rPr>
                        <a:t></a:t>
                      </a:r>
                      <a:r>
                        <a:rPr lang="el-GR" dirty="0" smtClean="0">
                          <a:latin typeface="Times New Roman" pitchFamily="18" charset="0"/>
                          <a:cs typeface="Times New Roman" pitchFamily="18" charset="0"/>
                        </a:rPr>
                        <a:t>Ω</a:t>
                      </a:r>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Ɵ(n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tc>
              </a:tr>
              <a:tr h="410210">
                <a:tc>
                  <a:txBody>
                    <a:bodyPr/>
                    <a:lstStyle/>
                    <a:p>
                      <a:r>
                        <a:rPr lang="en-US" dirty="0" smtClean="0">
                          <a:latin typeface="Times New Roman" pitchFamily="18" charset="0"/>
                          <a:cs typeface="Times New Roman" pitchFamily="18" charset="0"/>
                        </a:rPr>
                        <a:t>T(n)= 2nlog</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O(nlogn)</a:t>
                      </a:r>
                      <a:endParaRPr lang="en-US" dirty="0">
                        <a:latin typeface="Times New Roman" pitchFamily="18" charset="0"/>
                        <a:cs typeface="Times New Roman" pitchFamily="18" charset="0"/>
                      </a:endParaRPr>
                    </a:p>
                  </a:txBody>
                  <a:tcPr/>
                </a:tc>
                <a:tc>
                  <a:txBody>
                    <a:bodyPr/>
                    <a:lstStyle/>
                    <a:p>
                      <a:r>
                        <a:rPr lang="el-GR" dirty="0" smtClean="0">
                          <a:latin typeface="Times New Roman" pitchFamily="18" charset="0"/>
                          <a:cs typeface="Times New Roman" pitchFamily="18" charset="0"/>
                        </a:rPr>
                        <a:t>Ω</a:t>
                      </a:r>
                      <a:r>
                        <a:rPr lang="en-US" dirty="0" smtClean="0">
                          <a:latin typeface="Times New Roman" pitchFamily="18" charset="0"/>
                          <a:cs typeface="Times New Roman" pitchFamily="18" charset="0"/>
                        </a:rPr>
                        <a:t>(nlogn)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Ɵ(nlogn)</a:t>
                      </a:r>
                      <a:endParaRPr lang="en-US" dirty="0">
                        <a:latin typeface="Times New Roman" pitchFamily="18" charset="0"/>
                        <a:cs typeface="Times New Roman" pitchFamily="18" charset="0"/>
                      </a:endParaRPr>
                    </a:p>
                  </a:txBody>
                  <a:tcPr/>
                </a:tc>
              </a:tr>
              <a:tr h="381000">
                <a:tc>
                  <a:txBody>
                    <a:bodyPr/>
                    <a:lstStyle/>
                    <a:p>
                      <a:r>
                        <a:rPr lang="en-US" dirty="0" smtClean="0">
                          <a:latin typeface="Times New Roman" pitchFamily="18" charset="0"/>
                          <a:cs typeface="Times New Roman" pitchFamily="18" charset="0"/>
                        </a:rPr>
                        <a:t>T(n)= 2n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a:t>
                      </a:r>
                      <a:r>
                        <a:rPr lang="en-US" baseline="0" dirty="0" smtClean="0">
                          <a:latin typeface="Times New Roman" pitchFamily="18" charset="0"/>
                          <a:cs typeface="Times New Roman" pitchFamily="18" charset="0"/>
                        </a:rPr>
                        <a:t> +10</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  n&gt;10</a:t>
                      </a:r>
                      <a:endParaRPr lang="en-US" dirty="0">
                        <a:latin typeface="Times New Roman" pitchFamily="18" charset="0"/>
                        <a:cs typeface="Times New Roman" pitchFamily="18" charset="0"/>
                      </a:endParaRPr>
                    </a:p>
                  </a:txBody>
                  <a:tcPr/>
                </a:tc>
                <a:tc>
                  <a:txBody>
                    <a:bodyPr/>
                    <a:lstStyle/>
                    <a:p>
                      <a:r>
                        <a:rPr lang="el-GR" dirty="0" smtClean="0">
                          <a:latin typeface="Times New Roman" pitchFamily="18" charset="0"/>
                          <a:cs typeface="Times New Roman" pitchFamily="18" charset="0"/>
                        </a:rPr>
                        <a:t>Ω</a:t>
                      </a:r>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Ɵ(n</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logn)</a:t>
                      </a:r>
                    </a:p>
                  </a:txBody>
                  <a:tcPr/>
                </a:tc>
              </a:tr>
              <a:tr h="362268">
                <a:tc>
                  <a:txBody>
                    <a:bodyPr/>
                    <a:lstStyle/>
                    <a:p>
                      <a:r>
                        <a:rPr lang="en-US" dirty="0" smtClean="0">
                          <a:latin typeface="Times New Roman" pitchFamily="18" charset="0"/>
                          <a:cs typeface="Times New Roman" pitchFamily="18" charset="0"/>
                        </a:rPr>
                        <a:t>T(n) = 2n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-3n+5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tc>
                <a:tc>
                  <a:txBody>
                    <a:bodyPr/>
                    <a:lstStyle/>
                    <a:p>
                      <a:r>
                        <a:rPr lang="el-GR" dirty="0" smtClean="0">
                          <a:latin typeface="Times New Roman" pitchFamily="18" charset="0"/>
                          <a:cs typeface="Times New Roman" pitchFamily="18" charset="0"/>
                        </a:rPr>
                        <a:t>Ω</a:t>
                      </a:r>
                      <a:r>
                        <a:rPr lang="en-US" dirty="0" smtClean="0">
                          <a:latin typeface="Times New Roman" pitchFamily="18" charset="0"/>
                          <a:cs typeface="Times New Roman" pitchFamily="18" charset="0"/>
                        </a:rPr>
                        <a:t>(n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Ɵ(n</a:t>
                      </a:r>
                      <a:r>
                        <a:rPr lang="en-US" baseline="30000" dirty="0" smtClean="0">
                          <a:latin typeface="Times New Roman" pitchFamily="18" charset="0"/>
                          <a:cs typeface="Times New Roman" pitchFamily="18" charset="0"/>
                        </a:rPr>
                        <a:t>4</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tc>
              </a:tr>
            </a:tbl>
          </a:graphicData>
        </a:graphic>
      </p:graphicFrame>
      <p:sp>
        <p:nvSpPr>
          <p:cNvPr id="30" name="TextBox 29"/>
          <p:cNvSpPr txBox="1"/>
          <p:nvPr/>
        </p:nvSpPr>
        <p:spPr>
          <a:xfrm>
            <a:off x="533400" y="1447800"/>
            <a:ext cx="8382000" cy="2185214"/>
          </a:xfrm>
          <a:prstGeom prst="rect">
            <a:avLst/>
          </a:prstGeom>
          <a:noFill/>
        </p:spPr>
        <p:txBody>
          <a:bodyPr wrap="square" rtlCol="0">
            <a:spAutoFit/>
          </a:bodyPr>
          <a:lstStyle/>
          <a:p>
            <a:pPr>
              <a:buFontTx/>
              <a:buChar char="-"/>
            </a:pPr>
            <a:r>
              <a:rPr lang="en-US" sz="2400" dirty="0" smtClean="0">
                <a:solidFill>
                  <a:srgbClr val="FFFF00"/>
                </a:solidFill>
              </a:rPr>
              <a:t>Upper bound: T(n) is O(g</a:t>
            </a:r>
            <a:r>
              <a:rPr lang="en-US" sz="2400" baseline="-25000" dirty="0" smtClean="0">
                <a:solidFill>
                  <a:srgbClr val="FFFF00"/>
                </a:solidFill>
              </a:rPr>
              <a:t>1</a:t>
            </a:r>
            <a:r>
              <a:rPr lang="en-US" sz="2400" dirty="0" smtClean="0">
                <a:solidFill>
                  <a:srgbClr val="FFFF00"/>
                </a:solidFill>
              </a:rPr>
              <a:t>(n)) if there are the constant C and n</a:t>
            </a:r>
            <a:r>
              <a:rPr lang="en-US" sz="2400" baseline="-25000" dirty="0" smtClean="0">
                <a:solidFill>
                  <a:srgbClr val="FFFF00"/>
                </a:solidFill>
              </a:rPr>
              <a:t>o</a:t>
            </a:r>
            <a:r>
              <a:rPr lang="en-US" sz="2400" dirty="0" smtClean="0">
                <a:solidFill>
                  <a:srgbClr val="FFFF00"/>
                </a:solidFill>
              </a:rPr>
              <a:t> such that 	|T(n)| &lt;= Cg(n) whenever  n&gt;= n</a:t>
            </a:r>
            <a:r>
              <a:rPr lang="en-US" sz="2400" baseline="-25000" dirty="0" smtClean="0">
                <a:solidFill>
                  <a:srgbClr val="FFFF00"/>
                </a:solidFill>
              </a:rPr>
              <a:t>0</a:t>
            </a:r>
          </a:p>
          <a:p>
            <a:pPr>
              <a:buFontTx/>
              <a:buChar char="-"/>
            </a:pPr>
            <a:r>
              <a:rPr lang="en-US" sz="2400" dirty="0" smtClean="0">
                <a:solidFill>
                  <a:srgbClr val="FFFF00"/>
                </a:solidFill>
              </a:rPr>
              <a:t> Lower bound: T(n) is </a:t>
            </a:r>
            <a:r>
              <a:rPr lang="el-GR" sz="2400" dirty="0" smtClean="0">
                <a:solidFill>
                  <a:srgbClr val="FFFF00"/>
                </a:solidFill>
              </a:rPr>
              <a:t>Ω</a:t>
            </a:r>
            <a:r>
              <a:rPr lang="en-US" sz="2400" dirty="0" smtClean="0">
                <a:solidFill>
                  <a:srgbClr val="FFFF00"/>
                </a:solidFill>
              </a:rPr>
              <a:t>(g</a:t>
            </a:r>
            <a:r>
              <a:rPr lang="en-US" sz="2400" baseline="-25000" dirty="0" smtClean="0">
                <a:solidFill>
                  <a:srgbClr val="FFFF00"/>
                </a:solidFill>
              </a:rPr>
              <a:t>2</a:t>
            </a:r>
            <a:r>
              <a:rPr lang="en-US" sz="2400" dirty="0" smtClean="0">
                <a:solidFill>
                  <a:srgbClr val="FFFF00"/>
                </a:solidFill>
              </a:rPr>
              <a:t>(n)) if there are the constant C and n</a:t>
            </a:r>
            <a:r>
              <a:rPr lang="en-US" sz="2400" baseline="-25000" dirty="0" smtClean="0">
                <a:solidFill>
                  <a:srgbClr val="FFFF00"/>
                </a:solidFill>
              </a:rPr>
              <a:t>o</a:t>
            </a:r>
            <a:r>
              <a:rPr lang="en-US" sz="2400" dirty="0" smtClean="0">
                <a:solidFill>
                  <a:srgbClr val="FFFF00"/>
                </a:solidFill>
              </a:rPr>
              <a:t> such that 	|T(n)| &gt;= Cg(n) whenever  n&gt;= n</a:t>
            </a:r>
            <a:r>
              <a:rPr lang="en-US" sz="2400" baseline="-25000" dirty="0" smtClean="0">
                <a:solidFill>
                  <a:srgbClr val="FFFF00"/>
                </a:solidFill>
              </a:rPr>
              <a:t>0</a:t>
            </a:r>
          </a:p>
          <a:p>
            <a:pPr>
              <a:buFontTx/>
              <a:buChar char="-"/>
            </a:pPr>
            <a:r>
              <a:rPr lang="en-US" sz="2400" dirty="0" smtClean="0">
                <a:solidFill>
                  <a:srgbClr val="FFFF00"/>
                </a:solidFill>
              </a:rPr>
              <a:t> If g</a:t>
            </a:r>
            <a:r>
              <a:rPr lang="en-US" sz="2400" baseline="-25000" dirty="0" smtClean="0">
                <a:solidFill>
                  <a:srgbClr val="FFFF00"/>
                </a:solidFill>
              </a:rPr>
              <a:t>1</a:t>
            </a:r>
            <a:r>
              <a:rPr lang="en-US" sz="2400" dirty="0" smtClean="0">
                <a:solidFill>
                  <a:srgbClr val="FFFF00"/>
                </a:solidFill>
              </a:rPr>
              <a:t>(n) and g</a:t>
            </a:r>
            <a:r>
              <a:rPr lang="en-US" sz="2400" baseline="-25000" dirty="0" smtClean="0">
                <a:solidFill>
                  <a:srgbClr val="FFFF00"/>
                </a:solidFill>
              </a:rPr>
              <a:t>2</a:t>
            </a:r>
            <a:r>
              <a:rPr lang="en-US" sz="2400" dirty="0" smtClean="0">
                <a:solidFill>
                  <a:srgbClr val="FFFF00"/>
                </a:solidFill>
              </a:rPr>
              <a:t>(n)s are the same function, T(n) is  </a:t>
            </a:r>
            <a:r>
              <a:rPr lang="en-US" sz="2400" dirty="0" smtClean="0">
                <a:solidFill>
                  <a:srgbClr val="FFFF00"/>
                </a:solidFill>
                <a:latin typeface="Times New Roman" pitchFamily="18" charset="0"/>
                <a:cs typeface="Times New Roman" pitchFamily="18" charset="0"/>
              </a:rPr>
              <a:t>Ɵ</a:t>
            </a:r>
            <a:r>
              <a:rPr lang="en-US" sz="2400" dirty="0" smtClean="0">
                <a:solidFill>
                  <a:srgbClr val="FFFF00"/>
                </a:solidFill>
              </a:rPr>
              <a:t>(n)</a:t>
            </a:r>
            <a:r>
              <a:rPr lang="en-US" sz="2400" dirty="0" smtClean="0">
                <a:solidFill>
                  <a:srgbClr val="FFFF00"/>
                </a:solidFill>
                <a:latin typeface="Times New Roman" pitchFamily="18" charset="0"/>
                <a:cs typeface="Times New Roman" pitchFamily="18" charset="0"/>
              </a:rPr>
              <a:t>.</a:t>
            </a:r>
            <a:endParaRPr lang="en-US" sz="2400" baseline="-25000" dirty="0" smtClean="0">
              <a:solidFill>
                <a:srgbClr val="FFFF00"/>
              </a:solidFill>
            </a:endParaRPr>
          </a:p>
          <a:p>
            <a:endParaRPr lang="en-US" sz="2400" baseline="-25000" dirty="0">
              <a:solidFill>
                <a:srgbClr val="FFFF00"/>
              </a:solidFill>
            </a:endParaRPr>
          </a:p>
        </p:txBody>
      </p:sp>
      <p:sp>
        <p:nvSpPr>
          <p:cNvPr id="9" name="Rectangle 8"/>
          <p:cNvSpPr/>
          <p:nvPr/>
        </p:nvSpPr>
        <p:spPr>
          <a:xfrm>
            <a:off x="1295400" y="5867400"/>
            <a:ext cx="7010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rgbClr val="FFFF00"/>
                </a:solidFill>
              </a:rPr>
              <a:t>C</a:t>
            </a:r>
            <a:r>
              <a:rPr lang="en-US" sz="2800" dirty="0" smtClean="0"/>
              <a:t>g(n) </a:t>
            </a:r>
            <a:r>
              <a:rPr lang="en-US" sz="2800" dirty="0" smtClean="0">
                <a:sym typeface="Wingdings" pitchFamily="2" charset="2"/>
              </a:rPr>
              <a:t> O(g(n))  Constant is omitted.</a:t>
            </a:r>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22</a:t>
            </a:fld>
            <a:endParaRPr kumimoji="0" lang="en-US" dirty="0"/>
          </a:p>
        </p:txBody>
      </p:sp>
      <p:sp>
        <p:nvSpPr>
          <p:cNvPr id="6" name="TextBox 5"/>
          <p:cNvSpPr txBox="1"/>
          <p:nvPr/>
        </p:nvSpPr>
        <p:spPr>
          <a:xfrm>
            <a:off x="457200" y="838200"/>
            <a:ext cx="83058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Choosing one in some algorithms: </a:t>
            </a:r>
            <a:endParaRPr lang="en-US" sz="2600" b="1" dirty="0">
              <a:solidFill>
                <a:srgbClr val="FFC000"/>
              </a:solidFill>
              <a:latin typeface="Times New Roman" pitchFamily="18" charset="0"/>
              <a:cs typeface="Times New Roman" pitchFamily="18" charset="0"/>
            </a:endParaRPr>
          </a:p>
        </p:txBody>
      </p:sp>
      <p:pic>
        <p:nvPicPr>
          <p:cNvPr id="7" name="Picture 5"/>
          <p:cNvPicPr>
            <a:picLocks noChangeAspect="1" noChangeArrowheads="1"/>
          </p:cNvPicPr>
          <p:nvPr/>
        </p:nvPicPr>
        <p:blipFill>
          <a:blip r:embed="rId2" cstate="print"/>
          <a:srcRect/>
          <a:stretch>
            <a:fillRect/>
          </a:stretch>
        </p:blipFill>
        <p:spPr bwMode="auto">
          <a:xfrm>
            <a:off x="4495800" y="1447800"/>
            <a:ext cx="4457700" cy="4927730"/>
          </a:xfrm>
          <a:prstGeom prst="rect">
            <a:avLst/>
          </a:prstGeom>
          <a:noFill/>
          <a:ln w="9525">
            <a:noFill/>
            <a:miter lim="800000"/>
            <a:headEnd/>
            <a:tailEnd/>
          </a:ln>
        </p:spPr>
      </p:pic>
      <p:sp>
        <p:nvSpPr>
          <p:cNvPr id="9" name="Rectangle 8"/>
          <p:cNvSpPr/>
          <p:nvPr/>
        </p:nvSpPr>
        <p:spPr>
          <a:xfrm>
            <a:off x="304800" y="3657600"/>
            <a:ext cx="3810000" cy="27432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smtClean="0">
                <a:solidFill>
                  <a:srgbClr val="FFFF00"/>
                </a:solidFill>
              </a:rPr>
              <a:t>Situation</a:t>
            </a:r>
            <a:r>
              <a:rPr lang="en-US" sz="2400" dirty="0" smtClean="0">
                <a:solidFill>
                  <a:srgbClr val="FFFF00"/>
                </a:solidFill>
              </a:rPr>
              <a:t>: </a:t>
            </a:r>
          </a:p>
          <a:p>
            <a:r>
              <a:rPr lang="en-US" sz="2400" dirty="0" smtClean="0">
                <a:solidFill>
                  <a:srgbClr val="FFFF00"/>
                </a:solidFill>
              </a:rPr>
              <a:t>Two algorithms, named as A1 and A2, can be used to solve a problem, which of them will be chosen?</a:t>
            </a:r>
          </a:p>
          <a:p>
            <a:pPr>
              <a:buFontTx/>
              <a:buChar char="-"/>
            </a:pPr>
            <a:r>
              <a:rPr lang="en-US" sz="2400" dirty="0" smtClean="0">
                <a:solidFill>
                  <a:srgbClr val="FFFF00"/>
                </a:solidFill>
              </a:rPr>
              <a:t> A1 should be chosen if O(t1(n)) &lt; O(t2(n)) </a:t>
            </a:r>
            <a:endParaRPr lang="en-US" sz="2400" dirty="0">
              <a:solidFill>
                <a:srgbClr val="FFFF00"/>
              </a:solidFill>
            </a:endParaRPr>
          </a:p>
        </p:txBody>
      </p:sp>
      <p:sp>
        <p:nvSpPr>
          <p:cNvPr id="8" name="Rectangle 7"/>
          <p:cNvSpPr/>
          <p:nvPr/>
        </p:nvSpPr>
        <p:spPr>
          <a:xfrm>
            <a:off x="304800" y="1676400"/>
            <a:ext cx="3810000" cy="19050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FFFF00"/>
                </a:solidFill>
              </a:rPr>
              <a:t>Functions which are used in O, </a:t>
            </a:r>
            <a:r>
              <a:rPr lang="el-GR" sz="2400" dirty="0" smtClean="0">
                <a:solidFill>
                  <a:srgbClr val="FFFF00"/>
                </a:solidFill>
              </a:rPr>
              <a:t>Ω</a:t>
            </a:r>
            <a:r>
              <a:rPr lang="en-US" sz="2400" dirty="0" smtClean="0">
                <a:solidFill>
                  <a:srgbClr val="FFFF00"/>
                </a:solidFill>
              </a:rPr>
              <a:t>, and </a:t>
            </a:r>
            <a:r>
              <a:rPr lang="en-US" sz="2400" dirty="0" smtClean="0">
                <a:solidFill>
                  <a:srgbClr val="FFFF00"/>
                </a:solidFill>
                <a:latin typeface="Times New Roman" pitchFamily="18" charset="0"/>
                <a:cs typeface="Times New Roman" pitchFamily="18" charset="0"/>
              </a:rPr>
              <a:t>Ɵ</a:t>
            </a:r>
            <a:r>
              <a:rPr lang="en-US" sz="2400" dirty="0" smtClean="0">
                <a:solidFill>
                  <a:srgbClr val="FFFF00"/>
                </a:solidFill>
              </a:rPr>
              <a:t>, are common functions. They are already known their growth. </a:t>
            </a:r>
            <a:endParaRPr lang="en-US" sz="2400" dirty="0">
              <a:solidFill>
                <a:srgbClr val="FFFF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on Algorithm’s Complexity</a:t>
            </a:r>
            <a:endParaRPr lang="en-US" dirty="0"/>
          </a:p>
        </p:txBody>
      </p:sp>
      <p:sp>
        <p:nvSpPr>
          <p:cNvPr id="4" name="Footer Placeholder 3"/>
          <p:cNvSpPr>
            <a:spLocks noGrp="1"/>
          </p:cNvSpPr>
          <p:nvPr>
            <p:ph type="ftr" sz="quarter" idx="11"/>
          </p:nvPr>
        </p:nvSpPr>
        <p:spPr/>
        <p:txBody>
          <a:bodyPr/>
          <a:lstStyle/>
          <a:p>
            <a:r>
              <a:rPr lang="en-US" dirty="0" smtClean="0"/>
              <a:t>CSD201 Intro.</a:t>
            </a:r>
            <a:endParaRPr lang="en-US" dirty="0"/>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23</a:t>
            </a:fld>
            <a:endParaRPr kumimoji="0" lang="en-US" dirty="0"/>
          </a:p>
        </p:txBody>
      </p:sp>
      <p:sp>
        <p:nvSpPr>
          <p:cNvPr id="6" name="TextBox 5"/>
          <p:cNvSpPr txBox="1"/>
          <p:nvPr/>
        </p:nvSpPr>
        <p:spPr>
          <a:xfrm>
            <a:off x="457200" y="838200"/>
            <a:ext cx="8305800" cy="523220"/>
          </a:xfrm>
          <a:prstGeom prst="rect">
            <a:avLst/>
          </a:prstGeom>
          <a:noFill/>
        </p:spPr>
        <p:txBody>
          <a:bodyPr wrap="square" rtlCol="0">
            <a:spAutoFit/>
          </a:bodyPr>
          <a:lstStyle/>
          <a:p>
            <a:r>
              <a:rPr lang="en-US" sz="2800" b="1" dirty="0" smtClean="0">
                <a:solidFill>
                  <a:srgbClr val="FFC000"/>
                </a:solidFill>
                <a:latin typeface="Times New Roman" pitchFamily="18" charset="0"/>
                <a:cs typeface="Times New Roman" pitchFamily="18" charset="0"/>
              </a:rPr>
              <a:t>How to measure time needed to run an algorithm?</a:t>
            </a:r>
            <a:endParaRPr lang="en-US" sz="2600" b="1" dirty="0">
              <a:solidFill>
                <a:srgbClr val="FFC000"/>
              </a:solidFill>
              <a:latin typeface="Times New Roman" pitchFamily="18" charset="0"/>
              <a:cs typeface="Times New Roman" pitchFamily="18" charset="0"/>
            </a:endParaRPr>
          </a:p>
        </p:txBody>
      </p:sp>
      <p:grpSp>
        <p:nvGrpSpPr>
          <p:cNvPr id="11" name="Group 10"/>
          <p:cNvGrpSpPr/>
          <p:nvPr/>
        </p:nvGrpSpPr>
        <p:grpSpPr>
          <a:xfrm>
            <a:off x="152400" y="1524000"/>
            <a:ext cx="8915400" cy="4837113"/>
            <a:chOff x="152400" y="1206500"/>
            <a:chExt cx="8915400" cy="4837113"/>
          </a:xfrm>
        </p:grpSpPr>
        <p:pic>
          <p:nvPicPr>
            <p:cNvPr id="12" name="Picture 4"/>
            <p:cNvPicPr>
              <a:picLocks noChangeAspect="1" noChangeArrowheads="1"/>
            </p:cNvPicPr>
            <p:nvPr/>
          </p:nvPicPr>
          <p:blipFill>
            <a:blip r:embed="rId2" cstate="print"/>
            <a:srcRect/>
            <a:stretch>
              <a:fillRect/>
            </a:stretch>
          </p:blipFill>
          <p:spPr bwMode="auto">
            <a:xfrm>
              <a:off x="152400" y="1206500"/>
              <a:ext cx="8915400" cy="4837113"/>
            </a:xfrm>
            <a:prstGeom prst="rect">
              <a:avLst/>
            </a:prstGeom>
            <a:noFill/>
            <a:ln w="9525">
              <a:noFill/>
              <a:miter lim="800000"/>
              <a:headEnd/>
              <a:tailEnd/>
            </a:ln>
          </p:spPr>
        </p:pic>
        <p:sp>
          <p:nvSpPr>
            <p:cNvPr id="13" name="Rectangle 12"/>
            <p:cNvSpPr/>
            <p:nvPr/>
          </p:nvSpPr>
          <p:spPr>
            <a:xfrm>
              <a:off x="990600" y="3886200"/>
              <a:ext cx="45720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533400" y="1828800"/>
              <a:ext cx="5486400" cy="1828800"/>
            </a:xfrm>
            <a:prstGeom prst="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990600" y="4495800"/>
              <a:ext cx="45720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p:nvSpPr>
          <p:spPr>
            <a:xfrm>
              <a:off x="990600" y="4191000"/>
              <a:ext cx="4572000" cy="304800"/>
            </a:xfrm>
            <a:prstGeom prst="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TextBox 16"/>
          <p:cNvSpPr txBox="1"/>
          <p:nvPr/>
        </p:nvSpPr>
        <p:spPr>
          <a:xfrm>
            <a:off x="6248400" y="2590800"/>
            <a:ext cx="2438400" cy="646331"/>
          </a:xfrm>
          <a:prstGeom prst="rect">
            <a:avLst/>
          </a:prstGeom>
          <a:noFill/>
          <a:ln>
            <a:solidFill>
              <a:srgbClr val="0000CC"/>
            </a:solidFill>
          </a:ln>
        </p:spPr>
        <p:txBody>
          <a:bodyPr wrap="square" rtlCol="0">
            <a:spAutoFit/>
          </a:bodyPr>
          <a:lstStyle/>
          <a:p>
            <a:r>
              <a:rPr lang="en-US" dirty="0" smtClean="0">
                <a:solidFill>
                  <a:srgbClr val="0000CC"/>
                </a:solidFill>
              </a:rPr>
              <a:t>Put the algorithm into a method.</a:t>
            </a:r>
            <a:endParaRPr lang="en-US" dirty="0">
              <a:solidFill>
                <a:srgbClr val="0000CC"/>
              </a:solidFill>
            </a:endParaRPr>
          </a:p>
        </p:txBody>
      </p:sp>
      <p:sp>
        <p:nvSpPr>
          <p:cNvPr id="18" name="TextBox 17"/>
          <p:cNvSpPr txBox="1"/>
          <p:nvPr/>
        </p:nvSpPr>
        <p:spPr>
          <a:xfrm>
            <a:off x="6248400" y="3276600"/>
            <a:ext cx="2438400" cy="1754326"/>
          </a:xfrm>
          <a:prstGeom prst="rect">
            <a:avLst/>
          </a:prstGeom>
          <a:noFill/>
          <a:ln>
            <a:solidFill>
              <a:srgbClr val="0000CC"/>
            </a:solidFill>
          </a:ln>
        </p:spPr>
        <p:txBody>
          <a:bodyPr wrap="square" rtlCol="0">
            <a:spAutoFit/>
          </a:bodyPr>
          <a:lstStyle/>
          <a:p>
            <a:r>
              <a:rPr lang="en-US" dirty="0" smtClean="0">
                <a:solidFill>
                  <a:srgbClr val="0000CC"/>
                </a:solidFill>
              </a:rPr>
              <a:t>Put the algorithm call between 2 calls to system for accessing system time. You can use:</a:t>
            </a:r>
          </a:p>
          <a:p>
            <a:r>
              <a:rPr lang="en-US" dirty="0" err="1" smtClean="0">
                <a:solidFill>
                  <a:srgbClr val="0000CC"/>
                </a:solidFill>
              </a:rPr>
              <a:t>System.nanoTime</a:t>
            </a:r>
            <a:r>
              <a:rPr lang="en-US" dirty="0" smtClean="0">
                <a:solidFill>
                  <a:srgbClr val="0000CC"/>
                </a:solidFill>
              </a:rPr>
              <a:t>();</a:t>
            </a:r>
            <a:endParaRPr lang="en-US" dirty="0">
              <a:solidFill>
                <a:srgbClr val="0000CC"/>
              </a:solidFill>
            </a:endParaRPr>
          </a:p>
        </p:txBody>
      </p:sp>
      <p:cxnSp>
        <p:nvCxnSpPr>
          <p:cNvPr id="20" name="Straight Arrow Connector 19"/>
          <p:cNvCxnSpPr>
            <a:stCxn id="17" idx="1"/>
          </p:cNvCxnSpPr>
          <p:nvPr/>
        </p:nvCxnSpPr>
        <p:spPr>
          <a:xfrm flipH="1">
            <a:off x="5791200" y="2913966"/>
            <a:ext cx="457200" cy="57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8" idx="1"/>
            <a:endCxn id="13" idx="3"/>
          </p:cNvCxnSpPr>
          <p:nvPr/>
        </p:nvCxnSpPr>
        <p:spPr>
          <a:xfrm flipH="1">
            <a:off x="5562600" y="4153763"/>
            <a:ext cx="685800" cy="202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1"/>
            <a:endCxn id="15" idx="3"/>
          </p:cNvCxnSpPr>
          <p:nvPr/>
        </p:nvCxnSpPr>
        <p:spPr>
          <a:xfrm flipH="1">
            <a:off x="5562600" y="4153763"/>
            <a:ext cx="685800" cy="811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3" name="Content Placeholder 2"/>
          <p:cNvSpPr>
            <a:spLocks noGrp="1"/>
          </p:cNvSpPr>
          <p:nvPr>
            <p:ph idx="1"/>
          </p:nvPr>
        </p:nvSpPr>
        <p:spPr/>
        <p:txBody>
          <a:bodyPr>
            <a:normAutofit fontScale="92500" lnSpcReduction="10000"/>
          </a:bodyPr>
          <a:lstStyle/>
          <a:p>
            <a:pPr marL="609600" indent="-609600">
              <a:lnSpc>
                <a:spcPct val="90000"/>
              </a:lnSpc>
            </a:pPr>
            <a:r>
              <a:rPr lang="en-US" dirty="0" smtClean="0"/>
              <a:t>Given n is a large positive integer and following time functions, what is it’s big O using the neatest  function?</a:t>
            </a:r>
          </a:p>
          <a:p>
            <a:pPr marL="609600" indent="-609600">
              <a:lnSpc>
                <a:spcPct val="90000"/>
              </a:lnSpc>
            </a:pPr>
            <a:r>
              <a:rPr lang="en-US" dirty="0" smtClean="0"/>
              <a:t>T(n) = n</a:t>
            </a:r>
            <a:r>
              <a:rPr lang="en-US" baseline="30000" dirty="0" smtClean="0"/>
              <a:t>3</a:t>
            </a:r>
            <a:r>
              <a:rPr lang="en-US" dirty="0" smtClean="0"/>
              <a:t> + 6n</a:t>
            </a:r>
            <a:r>
              <a:rPr lang="en-US" baseline="30000" dirty="0" smtClean="0"/>
              <a:t>2</a:t>
            </a:r>
            <a:r>
              <a:rPr lang="en-US" dirty="0" smtClean="0"/>
              <a:t> +7 &lt; n</a:t>
            </a:r>
            <a:r>
              <a:rPr lang="en-US" baseline="30000" dirty="0" smtClean="0"/>
              <a:t>3</a:t>
            </a:r>
            <a:r>
              <a:rPr lang="en-US" dirty="0" smtClean="0"/>
              <a:t> + 6n</a:t>
            </a:r>
            <a:r>
              <a:rPr lang="en-US" baseline="30000" dirty="0" smtClean="0"/>
              <a:t>3</a:t>
            </a:r>
            <a:r>
              <a:rPr lang="en-US" dirty="0" smtClean="0"/>
              <a:t> + 7n</a:t>
            </a:r>
            <a:r>
              <a:rPr lang="en-US" baseline="30000" dirty="0" smtClean="0"/>
              <a:t>3</a:t>
            </a:r>
            <a:r>
              <a:rPr lang="en-US" dirty="0" smtClean="0"/>
              <a:t> &lt;= 14n</a:t>
            </a:r>
            <a:r>
              <a:rPr lang="en-US" baseline="30000" dirty="0" smtClean="0"/>
              <a:t>3</a:t>
            </a:r>
            <a:r>
              <a:rPr lang="en-US" dirty="0" smtClean="0"/>
              <a:t> </a:t>
            </a:r>
            <a:r>
              <a:rPr lang="en-US" dirty="0" smtClean="0">
                <a:sym typeface="Wingdings" pitchFamily="2" charset="2"/>
              </a:rPr>
              <a:t> O(n</a:t>
            </a:r>
            <a:r>
              <a:rPr lang="en-US" baseline="30000" dirty="0" smtClean="0">
                <a:sym typeface="Wingdings" pitchFamily="2" charset="2"/>
              </a:rPr>
              <a:t>3</a:t>
            </a:r>
            <a:r>
              <a:rPr lang="en-US" dirty="0" smtClean="0">
                <a:sym typeface="Wingdings" pitchFamily="2" charset="2"/>
              </a:rPr>
              <a:t>)</a:t>
            </a:r>
          </a:p>
          <a:p>
            <a:pPr marL="609600" indent="-609600">
              <a:lnSpc>
                <a:spcPct val="90000"/>
              </a:lnSpc>
            </a:pPr>
            <a:r>
              <a:rPr lang="en-US" dirty="0" smtClean="0"/>
              <a:t>T(n) = n</a:t>
            </a:r>
            <a:r>
              <a:rPr lang="en-US" baseline="30000" dirty="0" smtClean="0"/>
              <a:t>3</a:t>
            </a:r>
            <a:r>
              <a:rPr lang="en-US" dirty="0" smtClean="0"/>
              <a:t>/8 + 6n</a:t>
            </a:r>
            <a:r>
              <a:rPr lang="en-US" baseline="30000" dirty="0" smtClean="0"/>
              <a:t>2</a:t>
            </a:r>
            <a:r>
              <a:rPr lang="en-US" dirty="0" smtClean="0"/>
              <a:t> +7</a:t>
            </a:r>
            <a:endParaRPr lang="en-US" dirty="0" smtClean="0">
              <a:sym typeface="Wingdings" pitchFamily="2" charset="2"/>
            </a:endParaRPr>
          </a:p>
          <a:p>
            <a:pPr marL="609600" indent="-609600">
              <a:lnSpc>
                <a:spcPct val="90000"/>
              </a:lnSpc>
            </a:pPr>
            <a:r>
              <a:rPr lang="en-US" dirty="0" smtClean="0"/>
              <a:t>T(n) = n + log(n)</a:t>
            </a:r>
            <a:endParaRPr lang="en-US" dirty="0" smtClean="0">
              <a:sym typeface="Wingdings" pitchFamily="2" charset="2"/>
            </a:endParaRPr>
          </a:p>
          <a:p>
            <a:pPr marL="609600" indent="-609600">
              <a:lnSpc>
                <a:spcPct val="90000"/>
              </a:lnSpc>
            </a:pPr>
            <a:r>
              <a:rPr lang="en-US" dirty="0" smtClean="0">
                <a:sym typeface="Wingdings" pitchFamily="2" charset="2"/>
              </a:rPr>
              <a:t>T(n) = log(n) + 100</a:t>
            </a:r>
          </a:p>
          <a:p>
            <a:pPr marL="609600" indent="-609600">
              <a:lnSpc>
                <a:spcPct val="90000"/>
              </a:lnSpc>
            </a:pPr>
            <a:r>
              <a:rPr lang="en-US" dirty="0" smtClean="0">
                <a:sym typeface="Wingdings" pitchFamily="2" charset="2"/>
              </a:rPr>
              <a:t>T(n) = 2n + log(n) + 10000  O(?)</a:t>
            </a:r>
          </a:p>
          <a:p>
            <a:pPr marL="609600" indent="-609600">
              <a:lnSpc>
                <a:spcPct val="90000"/>
              </a:lnSpc>
              <a:buNone/>
            </a:pPr>
            <a:endParaRPr lang="en-US" dirty="0" smtClean="0">
              <a:sym typeface="Wingdings" pitchFamily="2" charset="2"/>
            </a:endParaRPr>
          </a:p>
          <a:p>
            <a:pPr marL="609600" indent="-609600">
              <a:lnSpc>
                <a:spcPct val="90000"/>
              </a:lnSpc>
            </a:pPr>
            <a:r>
              <a:rPr lang="en-US" dirty="0" smtClean="0">
                <a:sym typeface="Wingdings" pitchFamily="2" charset="2"/>
              </a:rPr>
              <a:t>You know two algorithms which can solve a problem:</a:t>
            </a:r>
          </a:p>
          <a:p>
            <a:pPr marL="609600" indent="-609600">
              <a:lnSpc>
                <a:spcPct val="90000"/>
              </a:lnSpc>
              <a:buFont typeface="Arial" charset="0"/>
              <a:buNone/>
            </a:pPr>
            <a:r>
              <a:rPr lang="en-US" dirty="0" smtClean="0">
                <a:sym typeface="Wingdings" pitchFamily="2" charset="2"/>
              </a:rPr>
              <a:t>          A1: T1(n) = 8n</a:t>
            </a:r>
            <a:r>
              <a:rPr lang="en-US" baseline="30000" dirty="0" smtClean="0">
                <a:sym typeface="Wingdings" pitchFamily="2" charset="2"/>
              </a:rPr>
              <a:t>2</a:t>
            </a:r>
            <a:r>
              <a:rPr lang="en-US" dirty="0" smtClean="0">
                <a:sym typeface="Wingdings" pitchFamily="2" charset="2"/>
              </a:rPr>
              <a:t> – 2n -7 &lt;= 8n</a:t>
            </a:r>
            <a:r>
              <a:rPr lang="en-US" baseline="30000" dirty="0" smtClean="0">
                <a:sym typeface="Wingdings" pitchFamily="2" charset="2"/>
              </a:rPr>
              <a:t>2</a:t>
            </a:r>
            <a:r>
              <a:rPr lang="en-US" dirty="0" smtClean="0">
                <a:sym typeface="Wingdings" pitchFamily="2" charset="2"/>
              </a:rPr>
              <a:t> + 2n</a:t>
            </a:r>
            <a:r>
              <a:rPr lang="en-US" baseline="30000" dirty="0" smtClean="0">
                <a:sym typeface="Wingdings" pitchFamily="2" charset="2"/>
              </a:rPr>
              <a:t>2</a:t>
            </a:r>
            <a:r>
              <a:rPr lang="en-US" dirty="0" smtClean="0">
                <a:sym typeface="Wingdings" pitchFamily="2" charset="2"/>
              </a:rPr>
              <a:t> + 7n</a:t>
            </a:r>
            <a:r>
              <a:rPr lang="en-US" baseline="30000" dirty="0" smtClean="0">
                <a:sym typeface="Wingdings" pitchFamily="2" charset="2"/>
              </a:rPr>
              <a:t>2</a:t>
            </a:r>
            <a:r>
              <a:rPr lang="en-US" dirty="0" smtClean="0">
                <a:sym typeface="Wingdings" pitchFamily="2" charset="2"/>
              </a:rPr>
              <a:t> &lt;= 17n</a:t>
            </a:r>
            <a:r>
              <a:rPr lang="en-US" baseline="30000" dirty="0" smtClean="0">
                <a:sym typeface="Wingdings" pitchFamily="2" charset="2"/>
              </a:rPr>
              <a:t>2</a:t>
            </a:r>
            <a:r>
              <a:rPr lang="en-US" dirty="0" smtClean="0">
                <a:sym typeface="Wingdings" pitchFamily="2" charset="2"/>
              </a:rPr>
              <a:t> -&gt; O(n</a:t>
            </a:r>
            <a:r>
              <a:rPr lang="en-US" baseline="30000" dirty="0" smtClean="0">
                <a:sym typeface="Wingdings" pitchFamily="2" charset="2"/>
              </a:rPr>
              <a:t>2</a:t>
            </a:r>
            <a:r>
              <a:rPr lang="en-US" dirty="0" smtClean="0">
                <a:sym typeface="Wingdings" pitchFamily="2" charset="2"/>
              </a:rPr>
              <a:t>)</a:t>
            </a:r>
          </a:p>
          <a:p>
            <a:pPr marL="609600" indent="-609600">
              <a:lnSpc>
                <a:spcPct val="90000"/>
              </a:lnSpc>
              <a:buFont typeface="Arial" charset="0"/>
              <a:buNone/>
            </a:pPr>
            <a:r>
              <a:rPr lang="en-US" dirty="0" smtClean="0">
                <a:sym typeface="Wingdings" pitchFamily="2" charset="2"/>
              </a:rPr>
              <a:t>          A2: T2(n) = 8nlog(n) + 8 &lt;= 8nlogn + 8nlogn &lt;= 16nlogn -&gt; O(</a:t>
            </a:r>
            <a:r>
              <a:rPr lang="en-US" dirty="0" err="1" smtClean="0">
                <a:sym typeface="Wingdings" pitchFamily="2" charset="2"/>
              </a:rPr>
              <a:t>nlogn</a:t>
            </a:r>
            <a:r>
              <a:rPr lang="en-US" dirty="0" smtClean="0">
                <a:sym typeface="Wingdings" pitchFamily="2" charset="2"/>
              </a:rPr>
              <a:t>)</a:t>
            </a:r>
          </a:p>
          <a:p>
            <a:pPr marL="609600" indent="-609600">
              <a:lnSpc>
                <a:spcPct val="90000"/>
              </a:lnSpc>
              <a:buFont typeface="Arial" charset="0"/>
              <a:buNone/>
            </a:pPr>
            <a:r>
              <a:rPr lang="en-US" dirty="0" smtClean="0">
                <a:sym typeface="Wingdings" pitchFamily="2" charset="2"/>
              </a:rPr>
              <a:t>          Which of them should be chosen, use the neatest function?</a:t>
            </a:r>
          </a:p>
        </p:txBody>
      </p:sp>
      <p:sp>
        <p:nvSpPr>
          <p:cNvPr id="4" name="Footer Placeholder 3"/>
          <p:cNvSpPr>
            <a:spLocks noGrp="1"/>
          </p:cNvSpPr>
          <p:nvPr>
            <p:ph type="ftr" sz="quarter" idx="11"/>
          </p:nvPr>
        </p:nvSpPr>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24</a:t>
            </a:fld>
            <a:endParaRPr kumimoji="0"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 Evaluating complexity of a given algorithm</a:t>
            </a:r>
            <a:endParaRPr lang="en-US" dirty="0"/>
          </a:p>
        </p:txBody>
      </p:sp>
      <p:sp>
        <p:nvSpPr>
          <p:cNvPr id="3" name="Content Placeholder 2"/>
          <p:cNvSpPr>
            <a:spLocks noGrp="1"/>
          </p:cNvSpPr>
          <p:nvPr>
            <p:ph idx="1"/>
          </p:nvPr>
        </p:nvSpPr>
        <p:spPr>
          <a:xfrm>
            <a:off x="457200" y="1676400"/>
            <a:ext cx="8229600" cy="2362200"/>
          </a:xfrm>
        </p:spPr>
        <p:txBody>
          <a:bodyPr>
            <a:normAutofit/>
          </a:bodyPr>
          <a:lstStyle/>
          <a:p>
            <a:pPr marL="609600" indent="-609600">
              <a:lnSpc>
                <a:spcPct val="90000"/>
              </a:lnSpc>
            </a:pPr>
            <a:r>
              <a:rPr lang="en-US" dirty="0" smtClean="0">
                <a:sym typeface="Wingdings" pitchFamily="2" charset="2"/>
              </a:rPr>
              <a:t>Pseudo code or real code of an algorithm includes:</a:t>
            </a:r>
          </a:p>
          <a:p>
            <a:pPr marL="975360" lvl="1" indent="-609600">
              <a:lnSpc>
                <a:spcPct val="90000"/>
              </a:lnSpc>
            </a:pPr>
            <a:r>
              <a:rPr lang="en-US" dirty="0" smtClean="0">
                <a:sym typeface="Wingdings" pitchFamily="2" charset="2"/>
              </a:rPr>
              <a:t>Basic instructions – Simple statements  O(1)</a:t>
            </a:r>
          </a:p>
          <a:p>
            <a:pPr marL="975360" lvl="1" indent="-609600">
              <a:lnSpc>
                <a:spcPct val="90000"/>
              </a:lnSpc>
            </a:pPr>
            <a:r>
              <a:rPr lang="en-US" dirty="0" smtClean="0">
                <a:sym typeface="Wingdings" pitchFamily="2" charset="2"/>
              </a:rPr>
              <a:t>Loop statements   Many simple statements are performed  Loop/count variables are considered. </a:t>
            </a:r>
          </a:p>
          <a:p>
            <a:pPr marL="609600" indent="-609600">
              <a:lnSpc>
                <a:spcPct val="90000"/>
              </a:lnSpc>
            </a:pPr>
            <a:r>
              <a:rPr lang="en-US" dirty="0" smtClean="0">
                <a:sym typeface="Wingdings" pitchFamily="2" charset="2"/>
              </a:rPr>
              <a:t>Loop statements are usually main factors which affect on algorithm’s complexity. </a:t>
            </a:r>
          </a:p>
        </p:txBody>
      </p:sp>
      <p:sp>
        <p:nvSpPr>
          <p:cNvPr id="4" name="Footer Placeholder 3"/>
          <p:cNvSpPr>
            <a:spLocks noGrp="1"/>
          </p:cNvSpPr>
          <p:nvPr>
            <p:ph type="ftr" sz="quarter" idx="11"/>
          </p:nvPr>
        </p:nvSpPr>
        <p:spPr>
          <a:xfrm>
            <a:off x="2743200" y="6613525"/>
            <a:ext cx="4495800" cy="244475"/>
          </a:xfrm>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25</a:t>
            </a:fld>
            <a:endParaRPr kumimoji="0" lang="en-US"/>
          </a:p>
        </p:txBody>
      </p:sp>
      <p:graphicFrame>
        <p:nvGraphicFramePr>
          <p:cNvPr id="6" name="Table 5"/>
          <p:cNvGraphicFramePr>
            <a:graphicFrameLocks noGrp="1"/>
          </p:cNvGraphicFramePr>
          <p:nvPr/>
        </p:nvGraphicFramePr>
        <p:xfrm>
          <a:off x="609600" y="4297680"/>
          <a:ext cx="8001000" cy="2103120"/>
        </p:xfrm>
        <a:graphic>
          <a:graphicData uri="http://schemas.openxmlformats.org/drawingml/2006/table">
            <a:tbl>
              <a:tblPr firstRow="1" bandRow="1">
                <a:tableStyleId>{5C22544A-7EE6-4342-B048-85BDC9FD1C3A}</a:tableStyleId>
              </a:tblPr>
              <a:tblGrid>
                <a:gridCol w="5029200"/>
                <a:gridCol w="2971800"/>
              </a:tblGrid>
              <a:tr h="304800">
                <a:tc>
                  <a:txBody>
                    <a:bodyPr/>
                    <a:lstStyle/>
                    <a:p>
                      <a:r>
                        <a:rPr lang="en-US" dirty="0" smtClean="0"/>
                        <a:t>Code</a:t>
                      </a:r>
                      <a:endParaRPr lang="en-US" dirty="0"/>
                    </a:p>
                  </a:txBody>
                  <a:tcPr/>
                </a:tc>
                <a:tc>
                  <a:txBody>
                    <a:bodyPr/>
                    <a:lstStyle/>
                    <a:p>
                      <a:r>
                        <a:rPr lang="en-US" dirty="0" smtClean="0"/>
                        <a:t>O</a:t>
                      </a:r>
                      <a:endParaRPr lang="en-US" dirty="0"/>
                    </a:p>
                  </a:txBody>
                  <a:tcPr/>
                </a:tc>
              </a:tr>
              <a:tr h="167640">
                <a:tc>
                  <a:txBody>
                    <a:bodyPr/>
                    <a:lstStyle/>
                    <a:p>
                      <a:r>
                        <a:rPr lang="en-US" dirty="0" smtClean="0">
                          <a:latin typeface="Arial Unicode MS" pitchFamily="34" charset="-128"/>
                          <a:ea typeface="Arial Unicode MS" pitchFamily="34" charset="-128"/>
                          <a:cs typeface="Arial Unicode MS" pitchFamily="34" charset="-128"/>
                        </a:rPr>
                        <a:t>S=0;</a:t>
                      </a:r>
                    </a:p>
                    <a:p>
                      <a:r>
                        <a:rPr lang="en-US" dirty="0" smtClean="0">
                          <a:latin typeface="Arial Unicode MS" pitchFamily="34" charset="-128"/>
                          <a:ea typeface="Arial Unicode MS" pitchFamily="34" charset="-128"/>
                          <a:cs typeface="Arial Unicode MS" pitchFamily="34" charset="-128"/>
                        </a:rPr>
                        <a:t>for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=0;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&lt;n;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 S+=</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a:t>
                      </a:r>
                    </a:p>
                    <a:p>
                      <a:r>
                        <a:rPr lang="en-US" dirty="0" smtClean="0">
                          <a:latin typeface="Arial Unicode MS" pitchFamily="34" charset="-128"/>
                          <a:ea typeface="Arial Unicode MS" pitchFamily="34" charset="-128"/>
                          <a:cs typeface="Arial Unicode MS" pitchFamily="34" charset="-128"/>
                        </a:rPr>
                        <a:t>for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=0;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&lt;n;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 if (a[</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]%2==0) a[</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a:t>
                      </a:r>
                    </a:p>
                    <a:p>
                      <a:r>
                        <a:rPr lang="en-US" dirty="0" smtClean="0">
                          <a:latin typeface="Arial Unicode MS" pitchFamily="34" charset="-128"/>
                          <a:ea typeface="Arial Unicode MS" pitchFamily="34" charset="-128"/>
                          <a:cs typeface="Arial Unicode MS" pitchFamily="34" charset="-128"/>
                        </a:rPr>
                        <a:t>for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=1;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&lt;n;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*=2) </a:t>
                      </a:r>
                      <a:r>
                        <a:rPr lang="en-US" baseline="0" dirty="0" smtClean="0">
                          <a:latin typeface="Arial Unicode MS" pitchFamily="34" charset="-128"/>
                          <a:ea typeface="Arial Unicode MS" pitchFamily="34" charset="-128"/>
                          <a:cs typeface="Arial Unicode MS" pitchFamily="34" charset="-128"/>
                        </a:rPr>
                        <a:t> </a:t>
                      </a:r>
                      <a:r>
                        <a:rPr lang="en-US" dirty="0" smtClean="0">
                          <a:latin typeface="Arial Unicode MS" pitchFamily="34" charset="-128"/>
                          <a:ea typeface="Arial Unicode MS" pitchFamily="34" charset="-128"/>
                          <a:cs typeface="Arial Unicode MS" pitchFamily="34" charset="-128"/>
                        </a:rPr>
                        <a:t>a[</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 += a[i-1];</a:t>
                      </a:r>
                    </a:p>
                    <a:p>
                      <a:r>
                        <a:rPr lang="en-US" dirty="0" smtClean="0">
                          <a:latin typeface="Arial Unicode MS" pitchFamily="34" charset="-128"/>
                          <a:ea typeface="Arial Unicode MS" pitchFamily="34" charset="-128"/>
                          <a:cs typeface="Arial Unicode MS" pitchFamily="34" charset="-128"/>
                        </a:rPr>
                        <a:t>for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=0;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&lt;n;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+=3) </a:t>
                      </a:r>
                      <a:r>
                        <a:rPr lang="en-US" baseline="0" dirty="0" smtClean="0">
                          <a:latin typeface="Arial Unicode MS" pitchFamily="34" charset="-128"/>
                          <a:ea typeface="Arial Unicode MS" pitchFamily="34" charset="-128"/>
                          <a:cs typeface="Arial Unicode MS" pitchFamily="34" charset="-128"/>
                        </a:rPr>
                        <a:t> </a:t>
                      </a:r>
                      <a:r>
                        <a:rPr lang="en-US" dirty="0" smtClean="0">
                          <a:latin typeface="Arial Unicode MS" pitchFamily="34" charset="-128"/>
                          <a:ea typeface="Arial Unicode MS" pitchFamily="34" charset="-128"/>
                          <a:cs typeface="Arial Unicode MS" pitchFamily="34" charset="-128"/>
                        </a:rPr>
                        <a:t>a[</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 += a[i-1];</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Unicode MS" pitchFamily="34" charset="-128"/>
                          <a:ea typeface="Arial Unicode MS" pitchFamily="34" charset="-128"/>
                          <a:cs typeface="Arial Unicode MS" pitchFamily="34" charset="-128"/>
                        </a:rPr>
                        <a:t>for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=0;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&lt;n; </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+=5) </a:t>
                      </a:r>
                      <a:r>
                        <a:rPr lang="en-US" baseline="0" dirty="0" smtClean="0">
                          <a:latin typeface="Arial Unicode MS" pitchFamily="34" charset="-128"/>
                          <a:ea typeface="Arial Unicode MS" pitchFamily="34" charset="-128"/>
                          <a:cs typeface="Arial Unicode MS" pitchFamily="34" charset="-128"/>
                        </a:rPr>
                        <a:t> </a:t>
                      </a:r>
                      <a:r>
                        <a:rPr lang="en-US" dirty="0" smtClean="0">
                          <a:latin typeface="Arial Unicode MS" pitchFamily="34" charset="-128"/>
                          <a:ea typeface="Arial Unicode MS" pitchFamily="34" charset="-128"/>
                          <a:cs typeface="Arial Unicode MS" pitchFamily="34" charset="-128"/>
                        </a:rPr>
                        <a:t>a[</a:t>
                      </a:r>
                      <a:r>
                        <a:rPr lang="en-US" dirty="0" err="1" smtClean="0">
                          <a:latin typeface="Arial Unicode MS" pitchFamily="34" charset="-128"/>
                          <a:ea typeface="Arial Unicode MS" pitchFamily="34" charset="-128"/>
                          <a:cs typeface="Arial Unicode MS" pitchFamily="34" charset="-128"/>
                        </a:rPr>
                        <a:t>i</a:t>
                      </a:r>
                      <a:r>
                        <a:rPr lang="en-US" dirty="0" smtClean="0">
                          <a:latin typeface="Arial Unicode MS" pitchFamily="34" charset="-128"/>
                          <a:ea typeface="Arial Unicode MS" pitchFamily="34" charset="-128"/>
                          <a:cs typeface="Arial Unicode MS" pitchFamily="34" charset="-128"/>
                        </a:rPr>
                        <a:t>] *= a[i-1];</a:t>
                      </a:r>
                    </a:p>
                  </a:txBody>
                  <a:tcPr/>
                </a:tc>
                <a:tc>
                  <a:txBody>
                    <a:bodyPr/>
                    <a:lstStyle/>
                    <a:p>
                      <a:r>
                        <a:rPr lang="en-US" dirty="0" smtClean="0"/>
                        <a:t>O(1)</a:t>
                      </a:r>
                    </a:p>
                    <a:p>
                      <a:r>
                        <a:rPr lang="en-US" dirty="0" smtClean="0"/>
                        <a:t>O(n)</a:t>
                      </a:r>
                    </a:p>
                    <a:p>
                      <a:r>
                        <a:rPr lang="en-US" dirty="0" smtClean="0"/>
                        <a:t>O(n)</a:t>
                      </a:r>
                    </a:p>
                    <a:p>
                      <a:r>
                        <a:rPr lang="en-US" dirty="0" smtClean="0"/>
                        <a:t>O(</a:t>
                      </a:r>
                      <a:r>
                        <a:rPr lang="en-US" dirty="0" err="1" smtClean="0"/>
                        <a:t>logn</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O(n/3) </a:t>
                      </a:r>
                      <a:r>
                        <a:rPr lang="en-US" smtClean="0">
                          <a:sym typeface="Wingdings" pitchFamily="2" charset="2"/>
                        </a:rPr>
                        <a:t> O(n)</a:t>
                      </a:r>
                      <a:endParaRPr lang="en-US" dirty="0" smtClean="0"/>
                    </a:p>
                    <a:p>
                      <a:r>
                        <a:rPr lang="en-US" dirty="0" smtClean="0"/>
                        <a:t>O(n)</a:t>
                      </a:r>
                      <a:endParaRPr lang="en-US" dirty="0"/>
                    </a:p>
                  </a:txBody>
                  <a:tcPr/>
                </a:tc>
              </a:tr>
            </a:tbl>
          </a:graphicData>
        </a:graphic>
      </p:graphicFrame>
      <p:sp>
        <p:nvSpPr>
          <p:cNvPr id="7" name="TextBox 6"/>
          <p:cNvSpPr txBox="1"/>
          <p:nvPr/>
        </p:nvSpPr>
        <p:spPr>
          <a:xfrm>
            <a:off x="304800" y="1076980"/>
            <a:ext cx="4267200" cy="461665"/>
          </a:xfrm>
          <a:prstGeom prst="rect">
            <a:avLst/>
          </a:prstGeom>
          <a:noFill/>
        </p:spPr>
        <p:txBody>
          <a:bodyPr wrap="square" rtlCol="0">
            <a:spAutoFit/>
          </a:bodyPr>
          <a:lstStyle/>
          <a:p>
            <a:r>
              <a:rPr lang="en-US" sz="2400" b="1" dirty="0" smtClean="0">
                <a:solidFill>
                  <a:srgbClr val="FFC000"/>
                </a:solidFill>
              </a:rPr>
              <a:t>Considering statements</a:t>
            </a:r>
            <a:endParaRPr lang="en-US" sz="2400" b="1" dirty="0">
              <a:solidFill>
                <a:srgbClr val="FFC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 Evaluating complexity of a given algorithm</a:t>
            </a:r>
            <a:endParaRPr lang="en-US" dirty="0"/>
          </a:p>
        </p:txBody>
      </p:sp>
      <p:sp>
        <p:nvSpPr>
          <p:cNvPr id="3" name="Content Placeholder 2"/>
          <p:cNvSpPr>
            <a:spLocks noGrp="1"/>
          </p:cNvSpPr>
          <p:nvPr>
            <p:ph idx="1"/>
          </p:nvPr>
        </p:nvSpPr>
        <p:spPr>
          <a:xfrm>
            <a:off x="457200" y="1676400"/>
            <a:ext cx="8229600" cy="1219200"/>
          </a:xfrm>
        </p:spPr>
        <p:txBody>
          <a:bodyPr>
            <a:normAutofit/>
          </a:bodyPr>
          <a:lstStyle/>
          <a:p>
            <a:pPr marL="609600" indent="-609600">
              <a:lnSpc>
                <a:spcPct val="90000"/>
              </a:lnSpc>
            </a:pPr>
            <a:r>
              <a:rPr lang="en-US" b="1" dirty="0" err="1" smtClean="0"/>
              <a:t>Nếu</a:t>
            </a:r>
            <a:r>
              <a:rPr lang="en-US" b="1" dirty="0" smtClean="0"/>
              <a:t> </a:t>
            </a:r>
            <a:r>
              <a:rPr lang="en-US" b="1" dirty="0" err="1" smtClean="0"/>
              <a:t>một</a:t>
            </a:r>
            <a:r>
              <a:rPr lang="en-US" b="1" dirty="0" smtClean="0"/>
              <a:t> </a:t>
            </a:r>
            <a:r>
              <a:rPr lang="en-US" b="1" dirty="0" err="1" smtClean="0"/>
              <a:t>giải</a:t>
            </a:r>
            <a:r>
              <a:rPr lang="en-US" b="1" dirty="0" smtClean="0"/>
              <a:t> </a:t>
            </a:r>
            <a:r>
              <a:rPr lang="en-US" b="1" dirty="0" err="1" smtClean="0"/>
              <a:t>thuật</a:t>
            </a:r>
            <a:r>
              <a:rPr lang="en-US" b="1" dirty="0" smtClean="0"/>
              <a:t> </a:t>
            </a:r>
            <a:r>
              <a:rPr lang="en-US" b="1" dirty="0" err="1" smtClean="0"/>
              <a:t>bao</a:t>
            </a:r>
            <a:r>
              <a:rPr lang="en-US" b="1" dirty="0" smtClean="0"/>
              <a:t> </a:t>
            </a:r>
            <a:r>
              <a:rPr lang="en-US" b="1" dirty="0" err="1" smtClean="0"/>
              <a:t>gồm</a:t>
            </a:r>
            <a:r>
              <a:rPr lang="en-US" b="1" dirty="0" smtClean="0"/>
              <a:t> 2 </a:t>
            </a:r>
            <a:r>
              <a:rPr lang="en-US" b="1" dirty="0" err="1" smtClean="0"/>
              <a:t>bước</a:t>
            </a:r>
            <a:r>
              <a:rPr lang="en-US" b="1" dirty="0" smtClean="0"/>
              <a:t> </a:t>
            </a:r>
            <a:r>
              <a:rPr lang="en-US" b="1" dirty="0" err="1" smtClean="0"/>
              <a:t>rời</a:t>
            </a:r>
            <a:r>
              <a:rPr lang="en-US" b="1" dirty="0" smtClean="0"/>
              <a:t> </a:t>
            </a:r>
            <a:r>
              <a:rPr lang="en-US" b="1" dirty="0" err="1" smtClean="0"/>
              <a:t>nhau</a:t>
            </a:r>
            <a:r>
              <a:rPr lang="en-US" b="1" dirty="0" smtClean="0"/>
              <a:t> </a:t>
            </a:r>
            <a:r>
              <a:rPr lang="en-US" b="1" dirty="0" err="1" smtClean="0"/>
              <a:t>tuần</a:t>
            </a:r>
            <a:r>
              <a:rPr lang="en-US" b="1" dirty="0" smtClean="0"/>
              <a:t> </a:t>
            </a:r>
            <a:r>
              <a:rPr lang="en-US" b="1" dirty="0" err="1" smtClean="0"/>
              <a:t>tự</a:t>
            </a:r>
            <a:r>
              <a:rPr lang="en-US" b="1" dirty="0" smtClean="0"/>
              <a:t>, </a:t>
            </a:r>
            <a:r>
              <a:rPr lang="en-US" b="1" dirty="0" err="1" smtClean="0"/>
              <a:t>bước</a:t>
            </a:r>
            <a:r>
              <a:rPr lang="en-US" b="1" dirty="0" smtClean="0"/>
              <a:t> 1 </a:t>
            </a:r>
            <a:r>
              <a:rPr lang="en-US" b="1" dirty="0" err="1" smtClean="0"/>
              <a:t>có</a:t>
            </a:r>
            <a:r>
              <a:rPr lang="en-US" b="1" dirty="0" smtClean="0"/>
              <a:t> O(f(n), </a:t>
            </a:r>
            <a:r>
              <a:rPr lang="en-US" b="1" dirty="0" err="1" smtClean="0"/>
              <a:t>bước</a:t>
            </a:r>
            <a:r>
              <a:rPr lang="en-US" b="1" dirty="0" smtClean="0"/>
              <a:t> 2 </a:t>
            </a:r>
            <a:r>
              <a:rPr lang="en-US" b="1" dirty="0" err="1" smtClean="0"/>
              <a:t>có</a:t>
            </a:r>
            <a:r>
              <a:rPr lang="en-US" b="1" dirty="0" smtClean="0"/>
              <a:t> O(g(n)) </a:t>
            </a:r>
            <a:r>
              <a:rPr lang="en-US" b="1" dirty="0" err="1" smtClean="0"/>
              <a:t>thì</a:t>
            </a:r>
            <a:r>
              <a:rPr lang="en-US" b="1" dirty="0" smtClean="0"/>
              <a:t> </a:t>
            </a:r>
            <a:r>
              <a:rPr lang="en-US" b="1" dirty="0" err="1" smtClean="0"/>
              <a:t>giải</a:t>
            </a:r>
            <a:r>
              <a:rPr lang="en-US" b="1" dirty="0" smtClean="0"/>
              <a:t> </a:t>
            </a:r>
            <a:r>
              <a:rPr lang="en-US" b="1" dirty="0" err="1" smtClean="0"/>
              <a:t>thuật</a:t>
            </a:r>
            <a:r>
              <a:rPr lang="en-US" b="1" dirty="0" smtClean="0"/>
              <a:t> </a:t>
            </a:r>
            <a:r>
              <a:rPr lang="en-US" b="1" dirty="0" err="1" smtClean="0"/>
              <a:t>có</a:t>
            </a:r>
            <a:r>
              <a:rPr lang="en-US" b="1" dirty="0" smtClean="0"/>
              <a:t> O(max(f(n),g(n))</a:t>
            </a:r>
          </a:p>
        </p:txBody>
      </p:sp>
      <p:sp>
        <p:nvSpPr>
          <p:cNvPr id="4" name="Footer Placeholder 3"/>
          <p:cNvSpPr>
            <a:spLocks noGrp="1"/>
          </p:cNvSpPr>
          <p:nvPr>
            <p:ph type="ftr" sz="quarter" idx="11"/>
          </p:nvPr>
        </p:nvSpPr>
        <p:spPr>
          <a:xfrm>
            <a:off x="2743200" y="6613525"/>
            <a:ext cx="4495800" cy="244475"/>
          </a:xfrm>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26</a:t>
            </a:fld>
            <a:endParaRPr kumimoji="0" lang="en-US"/>
          </a:p>
        </p:txBody>
      </p:sp>
      <p:graphicFrame>
        <p:nvGraphicFramePr>
          <p:cNvPr id="6" name="Table 5"/>
          <p:cNvGraphicFramePr>
            <a:graphicFrameLocks noGrp="1"/>
          </p:cNvGraphicFramePr>
          <p:nvPr/>
        </p:nvGraphicFramePr>
        <p:xfrm>
          <a:off x="609600" y="3124200"/>
          <a:ext cx="8001000" cy="2194560"/>
        </p:xfrm>
        <a:graphic>
          <a:graphicData uri="http://schemas.openxmlformats.org/drawingml/2006/table">
            <a:tbl>
              <a:tblPr firstRow="1" bandRow="1">
                <a:tableStyleId>{5C22544A-7EE6-4342-B048-85BDC9FD1C3A}</a:tableStyleId>
              </a:tblPr>
              <a:tblGrid>
                <a:gridCol w="6324600"/>
                <a:gridCol w="1676400"/>
              </a:tblGrid>
              <a:tr h="304800">
                <a:tc>
                  <a:txBody>
                    <a:bodyPr/>
                    <a:lstStyle/>
                    <a:p>
                      <a:r>
                        <a:rPr lang="en-US" dirty="0" smtClean="0"/>
                        <a:t>Code</a:t>
                      </a:r>
                      <a:endParaRPr lang="en-US" dirty="0"/>
                    </a:p>
                  </a:txBody>
                  <a:tcPr/>
                </a:tc>
                <a:tc>
                  <a:txBody>
                    <a:bodyPr/>
                    <a:lstStyle/>
                    <a:p>
                      <a:r>
                        <a:rPr lang="en-US" dirty="0" smtClean="0"/>
                        <a:t>O</a:t>
                      </a:r>
                      <a:endParaRPr lang="en-US" dirty="0"/>
                    </a:p>
                  </a:txBody>
                  <a:tcPr/>
                </a:tc>
              </a:tr>
              <a:tr h="167640">
                <a:tc>
                  <a:txBody>
                    <a:bodyPr/>
                    <a:lstStyle/>
                    <a:p>
                      <a:r>
                        <a:rPr lang="en-US" dirty="0" smtClean="0">
                          <a:latin typeface="Courier New" pitchFamily="49" charset="0"/>
                          <a:cs typeface="Courier New" pitchFamily="49" charset="0"/>
                        </a:rPr>
                        <a:t>for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=0;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&lt;n;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accept a[</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S=0;</a:t>
                      </a:r>
                    </a:p>
                    <a:p>
                      <a:r>
                        <a:rPr lang="en-US" dirty="0" smtClean="0">
                          <a:latin typeface="Courier New" pitchFamily="49" charset="0"/>
                          <a:cs typeface="Courier New" pitchFamily="49" charset="0"/>
                        </a:rPr>
                        <a:t>for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=0;i&lt;</a:t>
                      </a:r>
                      <a:r>
                        <a:rPr lang="en-US" dirty="0" err="1" smtClean="0">
                          <a:latin typeface="Courier New" pitchFamily="49" charset="0"/>
                          <a:cs typeface="Courier New" pitchFamily="49" charset="0"/>
                        </a:rPr>
                        <a:t>n;i</a:t>
                      </a:r>
                      <a:r>
                        <a:rPr lang="en-US" dirty="0" smtClean="0">
                          <a:latin typeface="Courier New" pitchFamily="49" charset="0"/>
                          <a:cs typeface="Courier New" pitchFamily="49" charset="0"/>
                        </a:rPr>
                        <a:t>++) S += a[</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for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=0;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&lt;n;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++)output a[</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Output S;</a:t>
                      </a:r>
                      <a:endParaRPr lang="en-US" dirty="0">
                        <a:latin typeface="Courier New" pitchFamily="49" charset="0"/>
                        <a:cs typeface="Courier New" pitchFamily="49" charset="0"/>
                      </a:endParaRPr>
                    </a:p>
                  </a:txBody>
                  <a:tcPr/>
                </a:tc>
                <a:tc>
                  <a:txBody>
                    <a:bodyPr/>
                    <a:lstStyle/>
                    <a:p>
                      <a:r>
                        <a:rPr lang="en-US" dirty="0" smtClean="0">
                          <a:latin typeface="Courier New" pitchFamily="49" charset="0"/>
                          <a:cs typeface="Courier New" pitchFamily="49" charset="0"/>
                        </a:rPr>
                        <a:t>O(n)</a:t>
                      </a:r>
                    </a:p>
                    <a:p>
                      <a:r>
                        <a:rPr lang="en-US" dirty="0" smtClean="0">
                          <a:latin typeface="Courier New" pitchFamily="49" charset="0"/>
                          <a:cs typeface="Courier New" pitchFamily="49" charset="0"/>
                        </a:rPr>
                        <a:t>O(1)</a:t>
                      </a:r>
                    </a:p>
                    <a:p>
                      <a:r>
                        <a:rPr lang="en-US" dirty="0" smtClean="0">
                          <a:latin typeface="Courier New" pitchFamily="49" charset="0"/>
                          <a:cs typeface="Courier New" pitchFamily="49" charset="0"/>
                        </a:rPr>
                        <a:t>O(n)</a:t>
                      </a:r>
                    </a:p>
                    <a:p>
                      <a:r>
                        <a:rPr lang="en-US" dirty="0" smtClean="0">
                          <a:latin typeface="Courier New" pitchFamily="49" charset="0"/>
                          <a:cs typeface="Courier New" pitchFamily="49" charset="0"/>
                        </a:rPr>
                        <a:t>O(n)</a:t>
                      </a:r>
                    </a:p>
                    <a:p>
                      <a:r>
                        <a:rPr lang="en-US" dirty="0" smtClean="0">
                          <a:latin typeface="Courier New" pitchFamily="49" charset="0"/>
                          <a:cs typeface="Courier New" pitchFamily="49" charset="0"/>
                        </a:rPr>
                        <a:t>O(1)</a:t>
                      </a:r>
                    </a:p>
                  </a:txBody>
                  <a:tcPr/>
                </a:tc>
              </a:tr>
              <a:tr h="1676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latin typeface="Arial Unicode MS" pitchFamily="34" charset="-128"/>
                          <a:ea typeface="Arial Unicode MS" pitchFamily="34" charset="-128"/>
                          <a:cs typeface="Arial Unicode MS" pitchFamily="34" charset="-128"/>
                        </a:rPr>
                        <a:t>Final</a:t>
                      </a:r>
                      <a:r>
                        <a:rPr lang="en-US" b="1" baseline="0" dirty="0" smtClean="0">
                          <a:latin typeface="Arial Unicode MS" pitchFamily="34" charset="-128"/>
                          <a:ea typeface="Arial Unicode MS" pitchFamily="34" charset="-128"/>
                          <a:cs typeface="Arial Unicode MS" pitchFamily="34" charset="-128"/>
                        </a:rPr>
                        <a:t> complexity: O (max( n,1, n, n, 1 ) = O(n)</a:t>
                      </a:r>
                      <a:endParaRPr lang="en-US" b="1" dirty="0" smtClean="0">
                        <a:latin typeface="Arial Unicode MS" pitchFamily="34" charset="-128"/>
                        <a:ea typeface="Arial Unicode MS" pitchFamily="34" charset="-128"/>
                        <a:cs typeface="Arial Unicode MS" pitchFamily="34" charset="-128"/>
                      </a:endParaRPr>
                    </a:p>
                  </a:txBody>
                  <a:tcPr/>
                </a:tc>
                <a:tc>
                  <a:txBody>
                    <a:bodyPr/>
                    <a:lstStyle/>
                    <a:p>
                      <a:r>
                        <a:rPr lang="en-US" b="1" dirty="0" smtClean="0"/>
                        <a:t>O(n)</a:t>
                      </a:r>
                      <a:endParaRPr lang="en-US" b="1" dirty="0"/>
                    </a:p>
                  </a:txBody>
                  <a:tcPr/>
                </a:tc>
              </a:tr>
            </a:tbl>
          </a:graphicData>
        </a:graphic>
      </p:graphicFrame>
      <p:sp>
        <p:nvSpPr>
          <p:cNvPr id="7" name="TextBox 6"/>
          <p:cNvSpPr txBox="1"/>
          <p:nvPr/>
        </p:nvSpPr>
        <p:spPr>
          <a:xfrm>
            <a:off x="304800" y="1076980"/>
            <a:ext cx="7086600" cy="461665"/>
          </a:xfrm>
          <a:prstGeom prst="rect">
            <a:avLst/>
          </a:prstGeom>
          <a:noFill/>
        </p:spPr>
        <p:txBody>
          <a:bodyPr wrap="square" rtlCol="0">
            <a:spAutoFit/>
          </a:bodyPr>
          <a:lstStyle/>
          <a:p>
            <a:r>
              <a:rPr lang="en-US" sz="2400" b="1" dirty="0" smtClean="0">
                <a:solidFill>
                  <a:srgbClr val="FFC000"/>
                </a:solidFill>
              </a:rPr>
              <a:t>Considering code blocks: Adding Principle </a:t>
            </a:r>
            <a:endParaRPr lang="en-US" sz="2400" b="1" dirty="0">
              <a:solidFill>
                <a:srgbClr val="FFC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 Evaluating complexity of a given algorithm</a:t>
            </a:r>
            <a:endParaRPr lang="en-US" dirty="0"/>
          </a:p>
        </p:txBody>
      </p:sp>
      <p:sp>
        <p:nvSpPr>
          <p:cNvPr id="3" name="Content Placeholder 2"/>
          <p:cNvSpPr>
            <a:spLocks noGrp="1"/>
          </p:cNvSpPr>
          <p:nvPr>
            <p:ph idx="1"/>
          </p:nvPr>
        </p:nvSpPr>
        <p:spPr>
          <a:xfrm>
            <a:off x="457200" y="1676400"/>
            <a:ext cx="8229600" cy="1219200"/>
          </a:xfrm>
        </p:spPr>
        <p:txBody>
          <a:bodyPr>
            <a:normAutofit/>
          </a:bodyPr>
          <a:lstStyle/>
          <a:p>
            <a:pPr marL="609600" indent="-609600">
              <a:lnSpc>
                <a:spcPct val="90000"/>
              </a:lnSpc>
            </a:pPr>
            <a:r>
              <a:rPr lang="en-US" b="1" dirty="0" err="1" smtClean="0"/>
              <a:t>Nếu</a:t>
            </a:r>
            <a:r>
              <a:rPr lang="en-US" b="1" dirty="0" smtClean="0"/>
              <a:t> </a:t>
            </a:r>
            <a:r>
              <a:rPr lang="en-US" b="1" dirty="0" err="1" smtClean="0"/>
              <a:t>một</a:t>
            </a:r>
            <a:r>
              <a:rPr lang="en-US" b="1" dirty="0" smtClean="0"/>
              <a:t> </a:t>
            </a:r>
            <a:r>
              <a:rPr lang="en-US" b="1" dirty="0" err="1" smtClean="0"/>
              <a:t>giải</a:t>
            </a:r>
            <a:r>
              <a:rPr lang="en-US" b="1" dirty="0" smtClean="0"/>
              <a:t> </a:t>
            </a:r>
            <a:r>
              <a:rPr lang="en-US" b="1" dirty="0" err="1" smtClean="0"/>
              <a:t>thuật</a:t>
            </a:r>
            <a:r>
              <a:rPr lang="en-US" b="1" dirty="0" smtClean="0"/>
              <a:t> </a:t>
            </a:r>
            <a:r>
              <a:rPr lang="en-US" b="1" dirty="0" err="1" smtClean="0"/>
              <a:t>cần</a:t>
            </a:r>
            <a:r>
              <a:rPr lang="en-US" b="1" dirty="0" smtClean="0"/>
              <a:t> </a:t>
            </a:r>
            <a:r>
              <a:rPr lang="en-US" b="1" dirty="0" err="1" smtClean="0"/>
              <a:t>lặp</a:t>
            </a:r>
            <a:r>
              <a:rPr lang="en-US" b="1" dirty="0" smtClean="0"/>
              <a:t> </a:t>
            </a:r>
            <a:r>
              <a:rPr lang="en-US" b="1" dirty="0" err="1" smtClean="0"/>
              <a:t>nhiều</a:t>
            </a:r>
            <a:r>
              <a:rPr lang="en-US" b="1" dirty="0" smtClean="0"/>
              <a:t> </a:t>
            </a:r>
            <a:r>
              <a:rPr lang="en-US" b="1" dirty="0" err="1" smtClean="0"/>
              <a:t>lần</a:t>
            </a:r>
            <a:r>
              <a:rPr lang="en-US" b="1" dirty="0" smtClean="0"/>
              <a:t> </a:t>
            </a:r>
            <a:r>
              <a:rPr lang="en-US" b="1" dirty="0" err="1" smtClean="0"/>
              <a:t>với</a:t>
            </a:r>
            <a:r>
              <a:rPr lang="en-US" b="1" dirty="0" smtClean="0"/>
              <a:t> </a:t>
            </a:r>
            <a:r>
              <a:rPr lang="en-US" b="1" dirty="0" err="1" smtClean="0"/>
              <a:t>độ</a:t>
            </a:r>
            <a:r>
              <a:rPr lang="en-US" b="1" dirty="0" smtClean="0"/>
              <a:t> </a:t>
            </a:r>
            <a:r>
              <a:rPr lang="en-US" b="1" dirty="0" err="1" smtClean="0"/>
              <a:t>phức</a:t>
            </a:r>
            <a:r>
              <a:rPr lang="en-US" b="1" dirty="0" smtClean="0"/>
              <a:t> </a:t>
            </a:r>
            <a:r>
              <a:rPr lang="en-US" b="1" dirty="0" err="1" smtClean="0"/>
              <a:t>tạp</a:t>
            </a:r>
            <a:r>
              <a:rPr lang="en-US" b="1" dirty="0" smtClean="0"/>
              <a:t> O(f(n)), </a:t>
            </a:r>
            <a:r>
              <a:rPr lang="en-US" b="1" dirty="0" err="1" smtClean="0"/>
              <a:t>mỗi</a:t>
            </a:r>
            <a:r>
              <a:rPr lang="en-US" b="1" dirty="0" smtClean="0"/>
              <a:t> </a:t>
            </a:r>
            <a:r>
              <a:rPr lang="en-US" b="1" dirty="0" err="1" smtClean="0"/>
              <a:t>bước</a:t>
            </a:r>
            <a:r>
              <a:rPr lang="en-US" b="1" dirty="0" smtClean="0"/>
              <a:t> </a:t>
            </a:r>
            <a:r>
              <a:rPr lang="en-US" b="1" dirty="0" err="1" smtClean="0"/>
              <a:t>lặp</a:t>
            </a:r>
            <a:r>
              <a:rPr lang="en-US" b="1" dirty="0" smtClean="0"/>
              <a:t> </a:t>
            </a:r>
            <a:r>
              <a:rPr lang="en-US" b="1" dirty="0" err="1" smtClean="0"/>
              <a:t>lại</a:t>
            </a:r>
            <a:r>
              <a:rPr lang="en-US" b="1" dirty="0" smtClean="0"/>
              <a:t> </a:t>
            </a:r>
            <a:r>
              <a:rPr lang="en-US" b="1" dirty="0" err="1" smtClean="0"/>
              <a:t>có</a:t>
            </a:r>
            <a:r>
              <a:rPr lang="en-US" b="1" dirty="0" smtClean="0"/>
              <a:t> </a:t>
            </a:r>
            <a:r>
              <a:rPr lang="en-US" b="1" dirty="0" err="1" smtClean="0"/>
              <a:t>độ</a:t>
            </a:r>
            <a:r>
              <a:rPr lang="en-US" b="1" dirty="0" smtClean="0"/>
              <a:t> </a:t>
            </a:r>
            <a:r>
              <a:rPr lang="en-US" b="1" dirty="0" err="1" smtClean="0"/>
              <a:t>phức</a:t>
            </a:r>
            <a:r>
              <a:rPr lang="en-US" b="1" dirty="0" smtClean="0"/>
              <a:t> </a:t>
            </a:r>
            <a:r>
              <a:rPr lang="en-US" b="1" dirty="0" err="1" smtClean="0"/>
              <a:t>tạp</a:t>
            </a:r>
            <a:r>
              <a:rPr lang="en-US" b="1" dirty="0" smtClean="0"/>
              <a:t> O(g(n)) </a:t>
            </a:r>
            <a:r>
              <a:rPr lang="en-US" b="1" dirty="0" err="1" smtClean="0"/>
              <a:t>thì</a:t>
            </a:r>
            <a:r>
              <a:rPr lang="en-US" b="1" dirty="0" smtClean="0"/>
              <a:t> </a:t>
            </a:r>
            <a:r>
              <a:rPr lang="en-US" b="1" dirty="0" err="1" smtClean="0"/>
              <a:t>giải</a:t>
            </a:r>
            <a:r>
              <a:rPr lang="en-US" b="1" dirty="0" smtClean="0"/>
              <a:t> </a:t>
            </a:r>
            <a:r>
              <a:rPr lang="en-US" b="1" dirty="0" err="1" smtClean="0"/>
              <a:t>thuật</a:t>
            </a:r>
            <a:r>
              <a:rPr lang="en-US" b="1" dirty="0" smtClean="0"/>
              <a:t> </a:t>
            </a:r>
            <a:r>
              <a:rPr lang="en-US" b="1" dirty="0" err="1" smtClean="0"/>
              <a:t>có</a:t>
            </a:r>
            <a:r>
              <a:rPr lang="en-US" b="1" dirty="0" smtClean="0"/>
              <a:t> O(f(n).g(n))</a:t>
            </a:r>
          </a:p>
        </p:txBody>
      </p:sp>
      <p:sp>
        <p:nvSpPr>
          <p:cNvPr id="4" name="Footer Placeholder 3"/>
          <p:cNvSpPr>
            <a:spLocks noGrp="1"/>
          </p:cNvSpPr>
          <p:nvPr>
            <p:ph type="ftr" sz="quarter" idx="11"/>
          </p:nvPr>
        </p:nvSpPr>
        <p:spPr>
          <a:xfrm>
            <a:off x="2743200" y="6613525"/>
            <a:ext cx="4495800" cy="244475"/>
          </a:xfrm>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27</a:t>
            </a:fld>
            <a:endParaRPr kumimoji="0" lang="en-US"/>
          </a:p>
        </p:txBody>
      </p:sp>
      <p:graphicFrame>
        <p:nvGraphicFramePr>
          <p:cNvPr id="6" name="Table 5"/>
          <p:cNvGraphicFramePr>
            <a:graphicFrameLocks noGrp="1"/>
          </p:cNvGraphicFramePr>
          <p:nvPr/>
        </p:nvGraphicFramePr>
        <p:xfrm>
          <a:off x="609600" y="3124200"/>
          <a:ext cx="8001000" cy="2468880"/>
        </p:xfrm>
        <a:graphic>
          <a:graphicData uri="http://schemas.openxmlformats.org/drawingml/2006/table">
            <a:tbl>
              <a:tblPr firstRow="1" bandRow="1">
                <a:tableStyleId>{5C22544A-7EE6-4342-B048-85BDC9FD1C3A}</a:tableStyleId>
              </a:tblPr>
              <a:tblGrid>
                <a:gridCol w="5029200"/>
                <a:gridCol w="2971800"/>
              </a:tblGrid>
              <a:tr h="304800">
                <a:tc>
                  <a:txBody>
                    <a:bodyPr/>
                    <a:lstStyle/>
                    <a:p>
                      <a:r>
                        <a:rPr lang="en-US" dirty="0" smtClean="0"/>
                        <a:t>Code</a:t>
                      </a:r>
                      <a:endParaRPr lang="en-US" dirty="0"/>
                    </a:p>
                  </a:txBody>
                  <a:tcPr/>
                </a:tc>
                <a:tc>
                  <a:txBody>
                    <a:bodyPr/>
                    <a:lstStyle/>
                    <a:p>
                      <a:r>
                        <a:rPr lang="en-US" dirty="0" smtClean="0"/>
                        <a:t>O</a:t>
                      </a:r>
                      <a:endParaRPr lang="en-US" dirty="0"/>
                    </a:p>
                  </a:txBody>
                  <a:tcPr/>
                </a:tc>
              </a:tr>
              <a:tr h="167640">
                <a:tc>
                  <a:txBody>
                    <a:bodyPr/>
                    <a:lstStyle/>
                    <a:p>
                      <a:r>
                        <a:rPr lang="en-US" dirty="0" smtClean="0">
                          <a:latin typeface="Courier New" pitchFamily="49" charset="0"/>
                          <a:cs typeface="Courier New" pitchFamily="49" charset="0"/>
                        </a:rPr>
                        <a:t>K=0</a:t>
                      </a:r>
                    </a:p>
                    <a:p>
                      <a:r>
                        <a:rPr lang="en-US" b="1" dirty="0" smtClean="0">
                          <a:solidFill>
                            <a:schemeClr val="tx1"/>
                          </a:solidFill>
                          <a:latin typeface="Courier New" pitchFamily="49" charset="0"/>
                          <a:cs typeface="Courier New" pitchFamily="49" charset="0"/>
                        </a:rPr>
                        <a:t>for (</a:t>
                      </a:r>
                      <a:r>
                        <a:rPr lang="en-US" b="1" dirty="0" err="1" smtClean="0">
                          <a:solidFill>
                            <a:schemeClr val="tx1"/>
                          </a:solidFill>
                          <a:latin typeface="Courier New" pitchFamily="49" charset="0"/>
                          <a:cs typeface="Courier New" pitchFamily="49" charset="0"/>
                        </a:rPr>
                        <a:t>i</a:t>
                      </a:r>
                      <a:r>
                        <a:rPr lang="en-US" b="1" dirty="0" smtClean="0">
                          <a:solidFill>
                            <a:schemeClr val="tx1"/>
                          </a:solidFill>
                          <a:latin typeface="Courier New" pitchFamily="49" charset="0"/>
                          <a:cs typeface="Courier New" pitchFamily="49" charset="0"/>
                        </a:rPr>
                        <a:t>=0; </a:t>
                      </a:r>
                      <a:r>
                        <a:rPr lang="en-US" b="1" dirty="0" err="1" smtClean="0">
                          <a:solidFill>
                            <a:schemeClr val="tx1"/>
                          </a:solidFill>
                          <a:latin typeface="Courier New" pitchFamily="49" charset="0"/>
                          <a:cs typeface="Courier New" pitchFamily="49" charset="0"/>
                        </a:rPr>
                        <a:t>i</a:t>
                      </a:r>
                      <a:r>
                        <a:rPr lang="en-US" b="1" dirty="0" smtClean="0">
                          <a:solidFill>
                            <a:schemeClr val="tx1"/>
                          </a:solidFill>
                          <a:latin typeface="Courier New" pitchFamily="49" charset="0"/>
                          <a:cs typeface="Courier New" pitchFamily="49" charset="0"/>
                        </a:rPr>
                        <a:t>&lt;n; </a:t>
                      </a:r>
                      <a:r>
                        <a:rPr lang="en-US" b="1" dirty="0" err="1" smtClean="0">
                          <a:solidFill>
                            <a:schemeClr val="tx1"/>
                          </a:solidFill>
                          <a:latin typeface="Courier New" pitchFamily="49" charset="0"/>
                          <a:cs typeface="Courier New" pitchFamily="49" charset="0"/>
                        </a:rPr>
                        <a:t>i</a:t>
                      </a:r>
                      <a:r>
                        <a:rPr lang="en-US" b="1" dirty="0" smtClean="0">
                          <a:solidFill>
                            <a:schemeClr val="tx1"/>
                          </a:solidFill>
                          <a:latin typeface="Courier New" pitchFamily="49" charset="0"/>
                          <a:cs typeface="Courier New" pitchFamily="49" charset="0"/>
                        </a:rPr>
                        <a:t>++) {</a:t>
                      </a:r>
                    </a:p>
                    <a:p>
                      <a:r>
                        <a:rPr lang="en-US" b="1" dirty="0" smtClean="0">
                          <a:solidFill>
                            <a:schemeClr val="tx1"/>
                          </a:solidFill>
                          <a:latin typeface="Courier New" pitchFamily="49" charset="0"/>
                          <a:cs typeface="Courier New" pitchFamily="49" charset="0"/>
                        </a:rPr>
                        <a:t>   for (j=1;</a:t>
                      </a:r>
                      <a:r>
                        <a:rPr lang="en-US" b="1" baseline="0" dirty="0" smtClean="0">
                          <a:solidFill>
                            <a:schemeClr val="tx1"/>
                          </a:solidFill>
                          <a:latin typeface="Courier New" pitchFamily="49" charset="0"/>
                          <a:cs typeface="Courier New" pitchFamily="49" charset="0"/>
                        </a:rPr>
                        <a:t> j&lt;=n; j*=2)  K+= </a:t>
                      </a:r>
                      <a:r>
                        <a:rPr lang="en-US" b="1" baseline="0" dirty="0" err="1" smtClean="0">
                          <a:solidFill>
                            <a:schemeClr val="tx1"/>
                          </a:solidFill>
                          <a:latin typeface="Courier New" pitchFamily="49" charset="0"/>
                          <a:cs typeface="Courier New" pitchFamily="49" charset="0"/>
                        </a:rPr>
                        <a:t>i+j</a:t>
                      </a:r>
                      <a:r>
                        <a:rPr lang="en-US" b="1" baseline="0" dirty="0" smtClean="0">
                          <a:solidFill>
                            <a:schemeClr val="tx1"/>
                          </a:solidFill>
                          <a:latin typeface="Courier New" pitchFamily="49" charset="0"/>
                          <a:cs typeface="Courier New" pitchFamily="49" charset="0"/>
                        </a:rPr>
                        <a:t>;</a:t>
                      </a:r>
                    </a:p>
                    <a:p>
                      <a:r>
                        <a:rPr lang="en-US" b="1" baseline="0" dirty="0" smtClean="0">
                          <a:solidFill>
                            <a:schemeClr val="tx1"/>
                          </a:solidFill>
                          <a:latin typeface="Courier New" pitchFamily="49" charset="0"/>
                          <a:cs typeface="Courier New" pitchFamily="49" charset="0"/>
                        </a:rPr>
                        <a:t>}</a:t>
                      </a:r>
                    </a:p>
                    <a:p>
                      <a:r>
                        <a:rPr lang="en-US" baseline="0" dirty="0" smtClean="0">
                          <a:latin typeface="Courier New" pitchFamily="49" charset="0"/>
                          <a:cs typeface="Courier New" pitchFamily="49" charset="0"/>
                        </a:rPr>
                        <a:t>Output K;</a:t>
                      </a:r>
                    </a:p>
                    <a:p>
                      <a:r>
                        <a:rPr lang="en-US" dirty="0" smtClean="0">
                          <a:latin typeface="Courier New" pitchFamily="49" charset="0"/>
                          <a:cs typeface="Courier New" pitchFamily="49" charset="0"/>
                        </a:rPr>
                        <a:t>for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=0;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&lt;n; </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 Output a[</a:t>
                      </a:r>
                      <a:r>
                        <a:rPr lang="en-US" dirty="0" err="1" smtClean="0">
                          <a:latin typeface="Courier New" pitchFamily="49" charset="0"/>
                          <a:cs typeface="Courier New" pitchFamily="49" charset="0"/>
                        </a:rPr>
                        <a:t>i</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a:txBody>
                  <a:tcPr/>
                </a:tc>
                <a:tc>
                  <a:txBody>
                    <a:bodyPr/>
                    <a:lstStyle/>
                    <a:p>
                      <a:r>
                        <a:rPr lang="en-US" dirty="0" smtClean="0">
                          <a:latin typeface="Courier New" pitchFamily="49" charset="0"/>
                          <a:cs typeface="Courier New" pitchFamily="49" charset="0"/>
                        </a:rPr>
                        <a:t>O(1)</a:t>
                      </a:r>
                    </a:p>
                    <a:p>
                      <a:r>
                        <a:rPr lang="en-US" b="1" dirty="0" smtClean="0">
                          <a:latin typeface="Courier New" pitchFamily="49" charset="0"/>
                          <a:cs typeface="Courier New" pitchFamily="49" charset="0"/>
                        </a:rPr>
                        <a:t>O(n) {</a:t>
                      </a:r>
                    </a:p>
                    <a:p>
                      <a:r>
                        <a:rPr lang="en-US" b="1" dirty="0" smtClean="0">
                          <a:latin typeface="Courier New" pitchFamily="49" charset="0"/>
                          <a:cs typeface="Courier New" pitchFamily="49" charset="0"/>
                        </a:rPr>
                        <a:t>   O(</a:t>
                      </a:r>
                      <a:r>
                        <a:rPr lang="en-US" b="1" dirty="0" err="1" smtClean="0">
                          <a:latin typeface="Courier New" pitchFamily="49" charset="0"/>
                          <a:cs typeface="Courier New" pitchFamily="49" charset="0"/>
                        </a:rPr>
                        <a:t>logn</a:t>
                      </a:r>
                      <a:r>
                        <a:rPr lang="en-US" b="1" dirty="0" smtClean="0">
                          <a:latin typeface="Courier New" pitchFamily="49" charset="0"/>
                          <a:cs typeface="Courier New" pitchFamily="49" charset="0"/>
                        </a:rPr>
                        <a:t>)</a:t>
                      </a:r>
                    </a:p>
                    <a:p>
                      <a:r>
                        <a:rPr lang="en-US" b="1" dirty="0" smtClean="0">
                          <a:latin typeface="Courier New" pitchFamily="49" charset="0"/>
                          <a:cs typeface="Courier New" pitchFamily="49" charset="0"/>
                        </a:rPr>
                        <a:t>}</a:t>
                      </a:r>
                    </a:p>
                    <a:p>
                      <a:r>
                        <a:rPr lang="en-US" dirty="0" smtClean="0">
                          <a:latin typeface="Courier New" pitchFamily="49" charset="0"/>
                          <a:cs typeface="Courier New" pitchFamily="49" charset="0"/>
                        </a:rPr>
                        <a:t>O(1)</a:t>
                      </a:r>
                    </a:p>
                    <a:p>
                      <a:r>
                        <a:rPr lang="en-US" dirty="0" smtClean="0">
                          <a:latin typeface="Courier New" pitchFamily="49" charset="0"/>
                          <a:cs typeface="Courier New" pitchFamily="49" charset="0"/>
                        </a:rPr>
                        <a:t>O(n)</a:t>
                      </a:r>
                    </a:p>
                  </a:txBody>
                  <a:tcPr/>
                </a:tc>
              </a:tr>
              <a:tr h="1676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latin typeface="Arial Unicode MS" pitchFamily="34" charset="-128"/>
                          <a:ea typeface="Arial Unicode MS" pitchFamily="34" charset="-128"/>
                          <a:cs typeface="Arial Unicode MS" pitchFamily="34" charset="-128"/>
                        </a:rPr>
                        <a:t>Final</a:t>
                      </a:r>
                      <a:r>
                        <a:rPr lang="en-US" b="1" baseline="0" dirty="0" smtClean="0">
                          <a:latin typeface="Arial Unicode MS" pitchFamily="34" charset="-128"/>
                          <a:ea typeface="Arial Unicode MS" pitchFamily="34" charset="-128"/>
                          <a:cs typeface="Arial Unicode MS" pitchFamily="34" charset="-128"/>
                        </a:rPr>
                        <a:t> complexity: O (max( 1, </a:t>
                      </a:r>
                      <a:r>
                        <a:rPr lang="en-US" b="1" baseline="0" dirty="0" err="1" smtClean="0">
                          <a:latin typeface="Arial Unicode MS" pitchFamily="34" charset="-128"/>
                          <a:ea typeface="Arial Unicode MS" pitchFamily="34" charset="-128"/>
                          <a:cs typeface="Arial Unicode MS" pitchFamily="34" charset="-128"/>
                        </a:rPr>
                        <a:t>nlogn</a:t>
                      </a:r>
                      <a:r>
                        <a:rPr lang="en-US" b="1" baseline="0" dirty="0" smtClean="0">
                          <a:latin typeface="Arial Unicode MS" pitchFamily="34" charset="-128"/>
                          <a:ea typeface="Arial Unicode MS" pitchFamily="34" charset="-128"/>
                          <a:cs typeface="Arial Unicode MS" pitchFamily="34" charset="-128"/>
                        </a:rPr>
                        <a:t>, 1, n) </a:t>
                      </a:r>
                      <a:endParaRPr lang="en-US" b="1" dirty="0" smtClean="0">
                        <a:latin typeface="Arial Unicode MS" pitchFamily="34" charset="-128"/>
                        <a:ea typeface="Arial Unicode MS" pitchFamily="34" charset="-128"/>
                        <a:cs typeface="Arial Unicode MS" pitchFamily="34" charset="-128"/>
                      </a:endParaRPr>
                    </a:p>
                  </a:txBody>
                  <a:tcPr/>
                </a:tc>
                <a:tc>
                  <a:txBody>
                    <a:bodyPr/>
                    <a:lstStyle/>
                    <a:p>
                      <a:r>
                        <a:rPr lang="en-US" b="1" dirty="0" smtClean="0"/>
                        <a:t>O(</a:t>
                      </a:r>
                      <a:r>
                        <a:rPr lang="en-US" b="1" dirty="0" err="1" smtClean="0"/>
                        <a:t>nlogn</a:t>
                      </a:r>
                      <a:r>
                        <a:rPr lang="en-US" b="1" dirty="0" smtClean="0"/>
                        <a:t>)</a:t>
                      </a:r>
                      <a:endParaRPr lang="en-US" b="1" dirty="0"/>
                    </a:p>
                  </a:txBody>
                  <a:tcPr/>
                </a:tc>
              </a:tr>
            </a:tbl>
          </a:graphicData>
        </a:graphic>
      </p:graphicFrame>
      <p:sp>
        <p:nvSpPr>
          <p:cNvPr id="7" name="TextBox 6"/>
          <p:cNvSpPr txBox="1"/>
          <p:nvPr/>
        </p:nvSpPr>
        <p:spPr>
          <a:xfrm>
            <a:off x="304800" y="1076980"/>
            <a:ext cx="7086600" cy="461665"/>
          </a:xfrm>
          <a:prstGeom prst="rect">
            <a:avLst/>
          </a:prstGeom>
          <a:noFill/>
        </p:spPr>
        <p:txBody>
          <a:bodyPr wrap="square" rtlCol="0">
            <a:spAutoFit/>
          </a:bodyPr>
          <a:lstStyle/>
          <a:p>
            <a:r>
              <a:rPr lang="en-US" sz="2400" b="1" dirty="0" smtClean="0">
                <a:solidFill>
                  <a:srgbClr val="FFC000"/>
                </a:solidFill>
              </a:rPr>
              <a:t>Considering code blocks: Multiply Principle </a:t>
            </a:r>
            <a:endParaRPr lang="en-US" sz="2400" b="1" dirty="0">
              <a:solidFill>
                <a:srgbClr val="FFC000"/>
              </a:solidFill>
            </a:endParaRPr>
          </a:p>
        </p:txBody>
      </p:sp>
      <p:cxnSp>
        <p:nvCxnSpPr>
          <p:cNvPr id="9" name="Straight Arrow Connector 8"/>
          <p:cNvCxnSpPr/>
          <p:nvPr/>
        </p:nvCxnSpPr>
        <p:spPr>
          <a:xfrm flipH="1">
            <a:off x="3733800" y="2438400"/>
            <a:ext cx="1752600" cy="144780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819400"/>
            <a:ext cx="8534400" cy="667512"/>
          </a:xfrm>
        </p:spPr>
        <p:txBody>
          <a:bodyPr/>
          <a:lstStyle/>
          <a:p>
            <a:r>
              <a:rPr lang="en-US" dirty="0" smtClean="0"/>
              <a:t>Questions and Answers</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CSD201 Intro.</a:t>
            </a:r>
            <a:endParaRPr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28</a:t>
            </a:fld>
            <a:endParaRPr kumimoji="0"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550</TotalTime>
  <Words>2728</Words>
  <Application>Microsoft Office PowerPoint</Application>
  <PresentationFormat>On-screen Show (4:3)</PresentationFormat>
  <Paragraphs>485</Paragraphs>
  <Slides>28</Slides>
  <Notes>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Flow</vt:lpstr>
      <vt:lpstr>CSD201 Data Structures and Algorithms using Java</vt:lpstr>
      <vt:lpstr>Agenda</vt:lpstr>
      <vt:lpstr>1- Course Introduction</vt:lpstr>
      <vt:lpstr>Course Introduction</vt:lpstr>
      <vt:lpstr>Course Introduction</vt:lpstr>
      <vt:lpstr>Course Introduction</vt:lpstr>
      <vt:lpstr>Course Introduction</vt:lpstr>
      <vt:lpstr>Course Introduction</vt:lpstr>
      <vt:lpstr>2- Course Contents and Learning Outcomes</vt:lpstr>
      <vt:lpstr>3- Course Requirements</vt:lpstr>
      <vt:lpstr>Course Requirements</vt:lpstr>
      <vt:lpstr>Course Requirements</vt:lpstr>
      <vt:lpstr>4- Read yourself: Sharing</vt:lpstr>
      <vt:lpstr>Read yourself</vt:lpstr>
      <vt:lpstr>5- Review on Algorithm’s Complexity</vt:lpstr>
      <vt:lpstr>Review on Algorithm’s Complexity</vt:lpstr>
      <vt:lpstr>Review on Algorithm’s Complexity</vt:lpstr>
      <vt:lpstr>Review on Algorithm’s Complexity</vt:lpstr>
      <vt:lpstr>Review on Algorithm’s Complexity</vt:lpstr>
      <vt:lpstr>Review on Algorithm’s Complexity</vt:lpstr>
      <vt:lpstr>Review on Algorithm’s Complexity</vt:lpstr>
      <vt:lpstr>Review on Algorithm’s Complexity</vt:lpstr>
      <vt:lpstr>Review on Algorithm’s Complexity</vt:lpstr>
      <vt:lpstr>Exercises</vt:lpstr>
      <vt:lpstr>6- Evaluating complexity of a given algorithm</vt:lpstr>
      <vt:lpstr>6- Evaluating complexity of a given algorithm</vt:lpstr>
      <vt:lpstr>6- Evaluating complexity of a given algorithm</vt:lpstr>
      <vt:lpstr>Questions and Answers</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Azure</dc:creator>
  <cp:lastModifiedBy>Azure</cp:lastModifiedBy>
  <cp:revision>56</cp:revision>
  <dcterms:created xsi:type="dcterms:W3CDTF">2021-11-26T02:00:25Z</dcterms:created>
  <dcterms:modified xsi:type="dcterms:W3CDTF">2023-09-04T09:45:27Z</dcterms:modified>
</cp:coreProperties>
</file>